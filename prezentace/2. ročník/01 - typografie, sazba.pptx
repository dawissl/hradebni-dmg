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C111D-4D70-D79E-0637-02842A7D365F}" v="273" dt="2026-09-02T15:27:56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dawissl/portfolio-simple/blob/main/zakladni_sytax_markdown.m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Typografie, sazba 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1D60-1435-BCF6-6F5D-1A31507B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Proč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sazbě</a:t>
            </a:r>
            <a:r>
              <a:rPr lang="en-US" dirty="0"/>
              <a:t> </a:t>
            </a:r>
            <a:r>
              <a:rPr lang="en-US" dirty="0" err="1"/>
              <a:t>záleží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DFD70-7467-F003-755E-645B76F56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Odborný </a:t>
            </a:r>
            <a:r>
              <a:rPr lang="en-US" sz="1800" dirty="0" err="1">
                <a:ea typeface="+mn-lt"/>
                <a:cs typeface="+mn-lt"/>
              </a:rPr>
              <a:t>článek</a:t>
            </a:r>
            <a:r>
              <a:rPr lang="en-US" sz="1800" dirty="0">
                <a:ea typeface="+mn-lt"/>
                <a:cs typeface="+mn-lt"/>
              </a:rPr>
              <a:t> je </a:t>
            </a:r>
            <a:r>
              <a:rPr lang="en-US" sz="1800" dirty="0" err="1">
                <a:ea typeface="+mn-lt"/>
                <a:cs typeface="+mn-lt"/>
              </a:rPr>
              <a:t>hodnocen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podle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typografie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Špatná </a:t>
            </a:r>
            <a:r>
              <a:rPr lang="en-US" sz="1800" err="1">
                <a:ea typeface="+mn-lt"/>
                <a:cs typeface="+mn-lt"/>
              </a:rPr>
              <a:t>sazba</a:t>
            </a:r>
            <a:r>
              <a:rPr lang="en-US" sz="1800" dirty="0">
                <a:ea typeface="+mn-lt"/>
                <a:cs typeface="+mn-lt"/>
              </a:rPr>
              <a:t> = </a:t>
            </a:r>
            <a:r>
              <a:rPr lang="en-US" sz="1800" err="1">
                <a:ea typeface="+mn-lt"/>
                <a:cs typeface="+mn-lt"/>
              </a:rPr>
              <a:t>špatně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čitelný</a:t>
            </a:r>
            <a:r>
              <a:rPr lang="en-US" sz="1800" dirty="0">
                <a:ea typeface="+mn-lt"/>
                <a:cs typeface="+mn-lt"/>
              </a:rPr>
              <a:t> text = </a:t>
            </a:r>
            <a:r>
              <a:rPr lang="en-US" sz="1800" err="1">
                <a:ea typeface="+mn-lt"/>
                <a:cs typeface="+mn-lt"/>
              </a:rPr>
              <a:t>hůř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pochopitelné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sdělení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Stejná </a:t>
            </a:r>
            <a:r>
              <a:rPr lang="en-US" sz="1800" err="1">
                <a:ea typeface="+mn-lt"/>
                <a:cs typeface="+mn-lt"/>
              </a:rPr>
              <a:t>pravidla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platí</a:t>
            </a:r>
            <a:r>
              <a:rPr lang="en-US" sz="1800" dirty="0">
                <a:ea typeface="+mn-lt"/>
                <a:cs typeface="+mn-lt"/>
              </a:rPr>
              <a:t> v </a:t>
            </a:r>
            <a:r>
              <a:rPr lang="en-US" sz="1800" err="1">
                <a:ea typeface="+mn-lt"/>
                <a:cs typeface="+mn-lt"/>
              </a:rPr>
              <a:t>práci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na</a:t>
            </a:r>
            <a:r>
              <a:rPr lang="en-US" sz="1800" dirty="0">
                <a:ea typeface="+mn-lt"/>
                <a:cs typeface="+mn-lt"/>
              </a:rPr>
              <a:t> VŠ, </a:t>
            </a:r>
            <a:r>
              <a:rPr lang="en-US" sz="180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v </a:t>
            </a:r>
            <a:r>
              <a:rPr lang="en-US" sz="1800" err="1">
                <a:ea typeface="+mn-lt"/>
                <a:cs typeface="+mn-lt"/>
              </a:rPr>
              <a:t>technické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dokumentaci</a:t>
            </a:r>
            <a:endParaRPr lang="en-US" sz="180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018DF-D9B0-BABC-2668-F672E462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21BCF-D772-61A1-EF8D-D540F6A2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7AE8-6DCA-47FD-8E00-F1B4A26D0D3F}" type="datetime1">
              <a:t>9/2/2026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64953-67EF-6158-DA8A-076EF523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2</a:t>
            </a:fld>
            <a:endParaRPr lang="cs-C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BE0EE-C67A-FECE-3D57-521B00E7C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15" r="2751" b="-169"/>
          <a:stretch>
            <a:fillRect/>
          </a:stretch>
        </p:blipFill>
        <p:spPr>
          <a:xfrm>
            <a:off x="606909" y="3282078"/>
            <a:ext cx="4578930" cy="2886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816613-299C-C331-73BE-12F26C102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453" y="1042458"/>
            <a:ext cx="4842971" cy="368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7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578B-3B56-14CE-B9CA-2254E671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</p:spPr>
        <p:txBody>
          <a:bodyPr anchor="b">
            <a:normAutofit/>
          </a:bodyPr>
          <a:lstStyle/>
          <a:p>
            <a:r>
              <a:rPr lang="en-US" dirty="0" err="1"/>
              <a:t>Styly</a:t>
            </a:r>
            <a:r>
              <a:rPr lang="en-US" dirty="0"/>
              <a:t> vs. </a:t>
            </a:r>
            <a:r>
              <a:rPr lang="en-US" dirty="0" err="1"/>
              <a:t>Ruční</a:t>
            </a:r>
            <a:r>
              <a:rPr lang="en-US" dirty="0"/>
              <a:t> </a:t>
            </a:r>
            <a:r>
              <a:rPr lang="en-US" dirty="0" err="1"/>
              <a:t>formátování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0656-B54D-56BD-AA19-AD1ECDE5C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/>
              <a:t>Nadpis</a:t>
            </a:r>
            <a:r>
              <a:rPr lang="en-US" sz="1800" dirty="0"/>
              <a:t> </a:t>
            </a:r>
            <a:r>
              <a:rPr lang="en-US" sz="1800" dirty="0" err="1"/>
              <a:t>nikdy</a:t>
            </a:r>
            <a:r>
              <a:rPr lang="en-US" sz="1800" dirty="0"/>
              <a:t> </a:t>
            </a:r>
            <a:r>
              <a:rPr lang="en-US" sz="1800" dirty="0" err="1"/>
              <a:t>neděláme</a:t>
            </a:r>
            <a:r>
              <a:rPr lang="en-US" sz="1800" dirty="0"/>
              <a:t> </a:t>
            </a:r>
            <a:r>
              <a:rPr lang="en-US" sz="1800" dirty="0" err="1"/>
              <a:t>zvětšením</a:t>
            </a:r>
            <a:r>
              <a:rPr lang="en-US" sz="1800" dirty="0"/>
              <a:t> a </a:t>
            </a:r>
            <a:r>
              <a:rPr lang="en-US" sz="1800" dirty="0" err="1"/>
              <a:t>ztučněním</a:t>
            </a:r>
            <a:r>
              <a:rPr lang="en-US" sz="1800" dirty="0"/>
              <a:t> </a:t>
            </a:r>
            <a:r>
              <a:rPr lang="en-US" sz="1800" dirty="0" err="1"/>
              <a:t>textu</a:t>
            </a:r>
            <a:r>
              <a:rPr lang="en-US" sz="1800" dirty="0"/>
              <a:t> </a:t>
            </a:r>
            <a:r>
              <a:rPr lang="en-US" sz="1800" dirty="0" err="1"/>
              <a:t>ručně</a:t>
            </a:r>
            <a:endParaRPr lang="en-US" sz="1800" dirty="0"/>
          </a:p>
          <a:p>
            <a:r>
              <a:rPr lang="en-US" sz="1800" dirty="0" err="1"/>
              <a:t>Používáme</a:t>
            </a:r>
            <a:r>
              <a:rPr lang="en-US" sz="1800" dirty="0"/>
              <a:t> </a:t>
            </a:r>
            <a:r>
              <a:rPr lang="en-US" sz="1800" dirty="0" err="1"/>
              <a:t>styly</a:t>
            </a:r>
            <a:r>
              <a:rPr lang="en-US" sz="1800" dirty="0"/>
              <a:t>: </a:t>
            </a:r>
            <a:r>
              <a:rPr lang="en-US" sz="1800" dirty="0" err="1"/>
              <a:t>Nadpis</a:t>
            </a:r>
            <a:r>
              <a:rPr lang="en-US" sz="1800" dirty="0"/>
              <a:t> 1, </a:t>
            </a:r>
            <a:r>
              <a:rPr lang="en-US" sz="1800" dirty="0" err="1"/>
              <a:t>Nadpis</a:t>
            </a:r>
            <a:r>
              <a:rPr lang="en-US" sz="1800" dirty="0"/>
              <a:t> 2, </a:t>
            </a:r>
            <a:r>
              <a:rPr lang="en-US" sz="1800" dirty="0" err="1"/>
              <a:t>Normální</a:t>
            </a:r>
            <a:endParaRPr lang="en-US" sz="1800" dirty="0"/>
          </a:p>
          <a:p>
            <a:r>
              <a:rPr lang="en-US" sz="1800" b="1" dirty="0" err="1"/>
              <a:t>Výhoda</a:t>
            </a:r>
            <a:r>
              <a:rPr lang="en-US" sz="1800" b="1" dirty="0"/>
              <a:t>: </a:t>
            </a:r>
            <a:r>
              <a:rPr lang="en-US" sz="1800" dirty="0" err="1"/>
              <a:t>automatický</a:t>
            </a:r>
            <a:r>
              <a:rPr lang="en-US" sz="1800" dirty="0"/>
              <a:t> </a:t>
            </a:r>
            <a:r>
              <a:rPr lang="en-US" sz="1800" dirty="0" err="1"/>
              <a:t>obsah</a:t>
            </a:r>
            <a:r>
              <a:rPr lang="en-US" sz="1800" dirty="0"/>
              <a:t>, </a:t>
            </a:r>
            <a:r>
              <a:rPr lang="en-US" sz="1800" dirty="0" err="1"/>
              <a:t>konzistence</a:t>
            </a:r>
            <a:r>
              <a:rPr lang="en-US" sz="1800" dirty="0"/>
              <a:t>, </a:t>
            </a:r>
            <a:r>
              <a:rPr lang="en-US" sz="1800" dirty="0" err="1"/>
              <a:t>snadná</a:t>
            </a:r>
            <a:r>
              <a:rPr lang="en-US" sz="1800" dirty="0"/>
              <a:t> </a:t>
            </a:r>
            <a:r>
              <a:rPr lang="en-US" sz="1800" dirty="0" err="1"/>
              <a:t>změna</a:t>
            </a:r>
            <a:r>
              <a:rPr lang="en-US" sz="1800" dirty="0"/>
              <a:t> </a:t>
            </a:r>
            <a:r>
              <a:rPr lang="en-US" sz="1800" dirty="0" err="1"/>
              <a:t>vzhledu</a:t>
            </a:r>
            <a:endParaRPr lang="en-US" sz="18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93F1A-5B3B-9807-1545-B99B6099B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70263"/>
            <a:ext cx="5181600" cy="3406902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AA698-1C29-8012-D98E-04BFA2A2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E7299-8E23-6A90-7045-9EECA081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826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ACB067-3750-4314-9484-E067A6389BE5}" type="datetime1"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E4798-4B51-1DE9-56ED-63833E89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8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1FC3-1C58-7253-D327-E2FAA253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0047"/>
            <a:ext cx="4939005" cy="1166270"/>
          </a:xfrm>
        </p:spPr>
        <p:txBody>
          <a:bodyPr anchor="b">
            <a:normAutofit/>
          </a:bodyPr>
          <a:lstStyle/>
          <a:p>
            <a:r>
              <a:rPr lang="en-US" dirty="0" err="1"/>
              <a:t>Typografická</a:t>
            </a:r>
            <a:r>
              <a:rPr lang="en-US" dirty="0"/>
              <a:t> </a:t>
            </a:r>
            <a:r>
              <a:rPr lang="en-US" dirty="0" err="1"/>
              <a:t>pravidla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B5EC-F529-7FF6-8385-353CF4E35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/>
              <a:t>Základní</a:t>
            </a:r>
            <a:r>
              <a:rPr lang="en-US" sz="1800" dirty="0"/>
              <a:t> </a:t>
            </a:r>
            <a:r>
              <a:rPr lang="en-US" sz="1800" dirty="0" err="1"/>
              <a:t>typografická</a:t>
            </a:r>
            <a:r>
              <a:rPr lang="en-US" sz="1800" dirty="0"/>
              <a:t> </a:t>
            </a:r>
            <a:r>
              <a:rPr lang="en-US" sz="1800" dirty="0" err="1"/>
              <a:t>pravidla</a:t>
            </a:r>
            <a:endParaRPr lang="en-US" sz="1800" dirty="0"/>
          </a:p>
          <a:p>
            <a:r>
              <a:rPr lang="en-US" sz="1800" dirty="0"/>
              <a:t>České </a:t>
            </a:r>
            <a:r>
              <a:rPr lang="en-US" sz="1800" err="1"/>
              <a:t>uvozovky</a:t>
            </a:r>
            <a:r>
              <a:rPr lang="en-US" sz="1800" dirty="0"/>
              <a:t> „</a:t>
            </a:r>
            <a:r>
              <a:rPr lang="en-US" sz="1800" err="1"/>
              <a:t>takto</a:t>
            </a:r>
            <a:r>
              <a:rPr lang="en-US" sz="1800" dirty="0"/>
              <a:t>" — ne </a:t>
            </a:r>
            <a:r>
              <a:rPr lang="en-US" sz="1800" err="1"/>
              <a:t>anglické</a:t>
            </a:r>
            <a:r>
              <a:rPr lang="en-US" sz="1800" dirty="0"/>
              <a:t> "</a:t>
            </a:r>
            <a:r>
              <a:rPr lang="en-US" sz="1800" err="1"/>
              <a:t>takto</a:t>
            </a:r>
            <a:r>
              <a:rPr lang="en-US" sz="1800" dirty="0"/>
              <a:t>"</a:t>
            </a:r>
          </a:p>
          <a:p>
            <a:r>
              <a:rPr lang="en-US" sz="1800" dirty="0" err="1"/>
              <a:t>Pomlčka</a:t>
            </a:r>
            <a:r>
              <a:rPr lang="en-US" sz="1800" dirty="0"/>
              <a:t> (–) vs. </a:t>
            </a:r>
            <a:r>
              <a:rPr lang="en-US" sz="1800" dirty="0" err="1"/>
              <a:t>spojovník</a:t>
            </a:r>
            <a:r>
              <a:rPr lang="en-US" sz="1800" dirty="0"/>
              <a:t> (-) — </a:t>
            </a:r>
            <a:r>
              <a:rPr lang="en-US" sz="1800" dirty="0" err="1"/>
              <a:t>rozdílný</a:t>
            </a:r>
            <a:r>
              <a:rPr lang="en-US" sz="1800" dirty="0"/>
              <a:t> </a:t>
            </a:r>
            <a:r>
              <a:rPr lang="en-US" sz="1800" dirty="0" err="1"/>
              <a:t>význam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délka</a:t>
            </a:r>
            <a:endParaRPr lang="en-US" sz="1800" dirty="0"/>
          </a:p>
          <a:p>
            <a:r>
              <a:rPr lang="en-US" sz="1800" err="1"/>
              <a:t>Nezlomitelná</a:t>
            </a:r>
            <a:r>
              <a:rPr lang="en-US" sz="1800" dirty="0"/>
              <a:t> </a:t>
            </a:r>
            <a:r>
              <a:rPr lang="en-US" sz="1800" err="1"/>
              <a:t>mezera</a:t>
            </a:r>
            <a:r>
              <a:rPr lang="en-US" sz="1800" dirty="0"/>
              <a:t> za </a:t>
            </a:r>
            <a:r>
              <a:rPr lang="en-US" sz="1800" err="1"/>
              <a:t>jednopísmennými</a:t>
            </a:r>
            <a:r>
              <a:rPr lang="en-US" sz="1800" dirty="0"/>
              <a:t> </a:t>
            </a:r>
            <a:r>
              <a:rPr lang="en-US" sz="1800" err="1"/>
              <a:t>předložkami</a:t>
            </a:r>
            <a:r>
              <a:rPr lang="en-US" sz="1800" dirty="0"/>
              <a:t> (k, s, v, z, a, </a:t>
            </a:r>
            <a:r>
              <a:rPr lang="en-US" sz="1800" err="1"/>
              <a:t>i</a:t>
            </a:r>
            <a:r>
              <a:rPr lang="en-US" sz="1800" dirty="0"/>
              <a:t>, o, u)</a:t>
            </a:r>
          </a:p>
          <a:p>
            <a:r>
              <a:rPr lang="en-US" sz="1800" dirty="0" err="1"/>
              <a:t>Zarovnání</a:t>
            </a:r>
            <a:r>
              <a:rPr lang="en-US" sz="1800" dirty="0"/>
              <a:t> do </a:t>
            </a:r>
            <a:r>
              <a:rPr lang="en-US" sz="1800" dirty="0" err="1"/>
              <a:t>bloku</a:t>
            </a:r>
            <a:r>
              <a:rPr lang="en-US" sz="1800" dirty="0"/>
              <a:t> </a:t>
            </a:r>
            <a:r>
              <a:rPr lang="en-US" sz="1800" dirty="0" err="1"/>
              <a:t>nebo</a:t>
            </a:r>
            <a:r>
              <a:rPr lang="en-US" sz="1800" dirty="0"/>
              <a:t> </a:t>
            </a:r>
            <a:r>
              <a:rPr lang="en-US" sz="1800" dirty="0" err="1"/>
              <a:t>vlevo</a:t>
            </a:r>
            <a:r>
              <a:rPr lang="en-US" sz="1800" dirty="0"/>
              <a:t> — </a:t>
            </a:r>
            <a:r>
              <a:rPr lang="en-US" sz="1800" dirty="0" err="1"/>
              <a:t>nikdy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střed</a:t>
            </a:r>
            <a:endParaRPr lang="en-US" sz="1800" dirty="0"/>
          </a:p>
          <a:p>
            <a:endParaRPr lang="en-US" sz="1800" dirty="0"/>
          </a:p>
          <a:p>
            <a:r>
              <a:rPr lang="en-US" sz="1800" i="1" err="1"/>
              <a:t>Jaká</a:t>
            </a:r>
            <a:r>
              <a:rPr lang="en-US" sz="1800" i="1" dirty="0"/>
              <a:t> </a:t>
            </a:r>
            <a:r>
              <a:rPr lang="en-US" sz="1800" i="1" err="1"/>
              <a:t>další</a:t>
            </a:r>
            <a:r>
              <a:rPr lang="en-US" sz="1800" i="1" dirty="0"/>
              <a:t> </a:t>
            </a:r>
            <a:r>
              <a:rPr lang="en-US" sz="1800" i="1" err="1"/>
              <a:t>typografická</a:t>
            </a:r>
            <a:r>
              <a:rPr lang="en-US" sz="1800" i="1" dirty="0"/>
              <a:t> </a:t>
            </a:r>
            <a:r>
              <a:rPr lang="en-US" sz="1800" i="1" err="1"/>
              <a:t>pravidla</a:t>
            </a:r>
            <a:r>
              <a:rPr lang="en-US" sz="1800" i="1" dirty="0"/>
              <a:t> </a:t>
            </a:r>
            <a:r>
              <a:rPr lang="en-US" sz="1800" i="1" err="1"/>
              <a:t>znáte</a:t>
            </a:r>
            <a:r>
              <a:rPr lang="en-US" sz="1800" i="1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E87CFA-3D55-D196-3312-96CC4181B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983" y="1540680"/>
            <a:ext cx="5557308" cy="377769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8CAA7-640E-7D4C-88C9-B3BA7D6E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6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20E7-94DA-FAF5-F041-9752F125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Markdown: </a:t>
            </a:r>
            <a:r>
              <a:rPr lang="en-US" dirty="0" err="1">
                <a:ea typeface="+mj-lt"/>
                <a:cs typeface="+mj-lt"/>
              </a:rPr>
              <a:t>jiná</a:t>
            </a:r>
            <a:r>
              <a:rPr lang="en-US" dirty="0">
                <a:ea typeface="+mj-lt"/>
                <a:cs typeface="+mj-lt"/>
              </a:rPr>
              <a:t> cesta, </a:t>
            </a:r>
            <a:r>
              <a:rPr lang="en-US" dirty="0" err="1">
                <a:ea typeface="+mj-lt"/>
                <a:cs typeface="+mj-lt"/>
              </a:rPr>
              <a:t>stejný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cíl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D57B8-3A6B-29F0-82BF-4D513B29A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ea typeface="+mn-lt"/>
                <a:cs typeface="+mn-lt"/>
              </a:rPr>
              <a:t>Strukturu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neřešíš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vizuálně</a:t>
            </a:r>
            <a:r>
              <a:rPr lang="en-US" sz="1800" dirty="0">
                <a:ea typeface="+mn-lt"/>
                <a:cs typeface="+mn-lt"/>
              </a:rPr>
              <a:t>, ale </a:t>
            </a:r>
            <a:r>
              <a:rPr lang="en-US" sz="1800" dirty="0" err="1">
                <a:ea typeface="+mn-lt"/>
                <a:cs typeface="+mn-lt"/>
              </a:rPr>
              <a:t>zápisem</a:t>
            </a:r>
            <a:r>
              <a:rPr lang="en-US" sz="1800" dirty="0">
                <a:ea typeface="+mn-lt"/>
                <a:cs typeface="+mn-lt"/>
              </a:rPr>
              <a:t> (#, **, &gt;, </a:t>
            </a:r>
            <a:r>
              <a:rPr lang="en-US" sz="1800" dirty="0">
                <a:latin typeface="Univers Condensed Light"/>
              </a:rPr>
              <a:t>- 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Nadpisy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seznamy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tabulky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kód</a:t>
            </a:r>
            <a:r>
              <a:rPr lang="en-US" sz="1800" dirty="0">
                <a:ea typeface="+mn-lt"/>
                <a:cs typeface="+mn-lt"/>
              </a:rPr>
              <a:t> — </a:t>
            </a:r>
            <a:r>
              <a:rPr lang="en-US" sz="1800" dirty="0" err="1">
                <a:ea typeface="+mn-lt"/>
                <a:cs typeface="+mn-lt"/>
              </a:rPr>
              <a:t>stejná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pravidla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platí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tady</a:t>
            </a:r>
            <a:endParaRPr lang="en-US" sz="1800"/>
          </a:p>
          <a:p>
            <a:r>
              <a:rPr lang="en-US" sz="1800" b="1" dirty="0" err="1">
                <a:ea typeface="+mn-lt"/>
                <a:cs typeface="+mn-lt"/>
              </a:rPr>
              <a:t>Připomínka</a:t>
            </a:r>
            <a:r>
              <a:rPr lang="en-US" sz="1800" b="1" dirty="0">
                <a:ea typeface="+mn-lt"/>
                <a:cs typeface="+mn-lt"/>
              </a:rPr>
              <a:t>: </a:t>
            </a:r>
            <a:r>
              <a:rPr lang="en-US" sz="1800" dirty="0" err="1">
                <a:ea typeface="+mn-lt"/>
                <a:cs typeface="+mn-lt"/>
              </a:rPr>
              <a:t>přehled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syntaxe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vzorovém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repozitáři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>
                <a:ea typeface="+mn-lt"/>
                <a:cs typeface="+mn-lt"/>
                <a:hlinkClick r:id="rId2"/>
              </a:rPr>
              <a:t>Markdown syntaxe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en-US" sz="18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EDA25-A2FE-E9B2-12AA-C2C91A1C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24CE5-F09D-6948-0D6C-0A103E24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E058-5E2F-44CE-A776-EDA0BC91AA99}" type="datetime1"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76FF2-94BA-F7A8-35A8-C7402A98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C3328-F63A-0D53-0701-2B0D9E84E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417" y="3175000"/>
            <a:ext cx="7381875" cy="303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1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8C9D-94E4-4483-7146-C4D0E010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 </a:t>
            </a:r>
            <a:r>
              <a:rPr lang="en-US" dirty="0" err="1">
                <a:ea typeface="+mj-lt"/>
                <a:cs typeface="+mj-lt"/>
              </a:rPr>
              <a:t>si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navíc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pohlídat</a:t>
            </a:r>
            <a:r>
              <a:rPr lang="en-US" dirty="0">
                <a:ea typeface="+mj-lt"/>
                <a:cs typeface="+mj-lt"/>
              </a:rPr>
              <a:t> v </a:t>
            </a:r>
            <a:r>
              <a:rPr lang="en-US" dirty="0" err="1">
                <a:ea typeface="+mj-lt"/>
                <a:cs typeface="+mj-lt"/>
              </a:rPr>
              <a:t>Markdownu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2A140-2A8F-E671-A925-272F29CA6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18176"/>
            <a:ext cx="5299137" cy="4216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ea typeface="+mn-lt"/>
                <a:cs typeface="+mn-lt"/>
              </a:rPr>
              <a:t>Popisek</a:t>
            </a:r>
            <a:r>
              <a:rPr lang="en-US" sz="1800" dirty="0">
                <a:ea typeface="+mn-lt"/>
                <a:cs typeface="+mn-lt"/>
              </a:rPr>
              <a:t> pod </a:t>
            </a:r>
            <a:r>
              <a:rPr lang="en-US" sz="1800" dirty="0" err="1">
                <a:ea typeface="+mn-lt"/>
                <a:cs typeface="+mn-lt"/>
              </a:rPr>
              <a:t>obrázkem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dirty="0" err="1">
                <a:ea typeface="+mn-lt"/>
                <a:cs typeface="+mn-lt"/>
              </a:rPr>
              <a:t>nevykreslí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sám</a:t>
            </a:r>
            <a:r>
              <a:rPr lang="en-US" sz="1800" dirty="0">
                <a:ea typeface="+mn-lt"/>
                <a:cs typeface="+mn-lt"/>
              </a:rPr>
              <a:t> — </a:t>
            </a:r>
            <a:r>
              <a:rPr lang="en-US" sz="1800" dirty="0" err="1">
                <a:ea typeface="+mn-lt"/>
                <a:cs typeface="+mn-lt"/>
              </a:rPr>
              <a:t>přidejte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řádek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kurzívou</a:t>
            </a:r>
            <a:r>
              <a:rPr lang="en-US" sz="1800" dirty="0">
                <a:ea typeface="+mn-lt"/>
                <a:cs typeface="+mn-lt"/>
              </a:rPr>
              <a:t> pod </a:t>
            </a:r>
            <a:r>
              <a:rPr lang="en-US" sz="1800" dirty="0">
                <a:latin typeface="Univers Condensed Light"/>
              </a:rPr>
              <a:t>![]()</a:t>
            </a:r>
          </a:p>
          <a:p>
            <a:r>
              <a:rPr lang="en-US" sz="1800" err="1">
                <a:ea typeface="+mn-lt"/>
                <a:cs typeface="+mn-lt"/>
              </a:rPr>
              <a:t>Odkaz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zdroj</a:t>
            </a:r>
            <a:r>
              <a:rPr lang="en-US" sz="1800" dirty="0">
                <a:ea typeface="+mn-lt"/>
                <a:cs typeface="+mn-lt"/>
              </a:rPr>
              <a:t> v </a:t>
            </a:r>
            <a:r>
              <a:rPr lang="en-US" sz="1800" err="1">
                <a:ea typeface="+mn-lt"/>
                <a:cs typeface="+mn-lt"/>
              </a:rPr>
              <a:t>textu</a:t>
            </a:r>
            <a:r>
              <a:rPr lang="en-US" sz="1800" dirty="0">
                <a:ea typeface="+mn-lt"/>
                <a:cs typeface="+mn-lt"/>
              </a:rPr>
              <a:t>: </a:t>
            </a:r>
            <a:r>
              <a:rPr lang="en-US" sz="1800" err="1">
                <a:ea typeface="+mn-lt"/>
                <a:cs typeface="+mn-lt"/>
              </a:rPr>
              <a:t>poznámka</a:t>
            </a:r>
            <a:r>
              <a:rPr lang="en-US" sz="1800" dirty="0">
                <a:ea typeface="+mn-lt"/>
                <a:cs typeface="+mn-lt"/>
              </a:rPr>
              <a:t> pod </a:t>
            </a:r>
            <a:r>
              <a:rPr lang="en-US" sz="1800" err="1">
                <a:ea typeface="+mn-lt"/>
                <a:cs typeface="+mn-lt"/>
              </a:rPr>
              <a:t>čarou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latin typeface="Univers Condensed Light"/>
              </a:rPr>
              <a:t>[^1]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nebo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přímo</a:t>
            </a:r>
            <a:r>
              <a:rPr lang="en-US" sz="1800" dirty="0">
                <a:ea typeface="+mn-lt"/>
                <a:cs typeface="+mn-lt"/>
              </a:rPr>
              <a:t> „</a:t>
            </a:r>
            <a:r>
              <a:rPr lang="en-US" sz="1800" err="1">
                <a:ea typeface="+mn-lt"/>
                <a:cs typeface="+mn-lt"/>
              </a:rPr>
              <a:t>Podle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dokumentace</a:t>
            </a:r>
            <a:r>
              <a:rPr lang="en-US" sz="1800" dirty="0">
                <a:ea typeface="+mn-lt"/>
                <a:cs typeface="+mn-lt"/>
              </a:rPr>
              <a:t>…"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České </a:t>
            </a:r>
            <a:r>
              <a:rPr lang="en-US" sz="1800" err="1">
                <a:ea typeface="+mn-lt"/>
                <a:cs typeface="+mn-lt"/>
              </a:rPr>
              <a:t>uvozovky</a:t>
            </a:r>
            <a:r>
              <a:rPr lang="en-US" sz="1800" dirty="0">
                <a:ea typeface="+mn-lt"/>
                <a:cs typeface="+mn-lt"/>
              </a:rPr>
              <a:t> a </a:t>
            </a:r>
            <a:r>
              <a:rPr lang="en-US" sz="1800" err="1">
                <a:ea typeface="+mn-lt"/>
                <a:cs typeface="+mn-lt"/>
              </a:rPr>
              <a:t>pomlčky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err="1">
                <a:ea typeface="+mn-lt"/>
                <a:cs typeface="+mn-lt"/>
              </a:rPr>
              <a:t>nedělají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automaticky</a:t>
            </a:r>
            <a:r>
              <a:rPr lang="en-US" sz="1800" dirty="0">
                <a:ea typeface="+mn-lt"/>
                <a:cs typeface="+mn-lt"/>
              </a:rPr>
              <a:t> — </a:t>
            </a:r>
            <a:r>
              <a:rPr lang="en-US" sz="1800" err="1">
                <a:ea typeface="+mn-lt"/>
                <a:cs typeface="+mn-lt"/>
              </a:rPr>
              <a:t>pište</a:t>
            </a:r>
            <a:r>
              <a:rPr lang="en-US" sz="1800" dirty="0">
                <a:ea typeface="+mn-lt"/>
                <a:cs typeface="+mn-lt"/>
              </a:rPr>
              <a:t> je </a:t>
            </a:r>
            <a:r>
              <a:rPr lang="en-US" sz="1800" err="1">
                <a:ea typeface="+mn-lt"/>
                <a:cs typeface="+mn-lt"/>
              </a:rPr>
              <a:t>ručně</a:t>
            </a:r>
            <a:endParaRPr lang="en-US" sz="1800"/>
          </a:p>
          <a:p>
            <a:r>
              <a:rPr lang="en-US" sz="1800" b="1" dirty="0">
                <a:ea typeface="+mn-lt"/>
                <a:cs typeface="+mn-lt"/>
              </a:rPr>
              <a:t>Export do PDF: </a:t>
            </a:r>
            <a:r>
              <a:rPr lang="en-US" sz="1800" err="1">
                <a:ea typeface="+mn-lt"/>
                <a:cs typeface="+mn-lt"/>
              </a:rPr>
              <a:t>přes</a:t>
            </a:r>
            <a:r>
              <a:rPr lang="en-US" sz="1800" dirty="0">
                <a:ea typeface="+mn-lt"/>
                <a:cs typeface="+mn-lt"/>
              </a:rPr>
              <a:t> GitHub </a:t>
            </a:r>
            <a:r>
              <a:rPr lang="en-US" sz="1800" err="1">
                <a:ea typeface="+mn-lt"/>
                <a:cs typeface="+mn-lt"/>
              </a:rPr>
              <a:t>náhled</a:t>
            </a:r>
            <a:r>
              <a:rPr lang="en-US" sz="1800" dirty="0">
                <a:ea typeface="+mn-lt"/>
                <a:cs typeface="+mn-lt"/>
              </a:rPr>
              <a:t> / </a:t>
            </a:r>
            <a:r>
              <a:rPr lang="en-US" sz="1800" err="1">
                <a:ea typeface="+mn-lt"/>
                <a:cs typeface="+mn-lt"/>
              </a:rPr>
              <a:t>tisk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nebo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nástroj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pandoc</a:t>
            </a:r>
            <a:endParaRPr lang="en-US" sz="18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608F9-3BF1-BF0F-F962-6C1CB37B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6128F-F573-C280-8738-B261834C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A79A4-ED28-4AB8-AC38-EC8B23DF98CB}" type="datetime1"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BEBFD-3B6C-824F-8BEC-050E2DF1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CB1FD4-F7CE-0814-AAAB-192BEC6660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7"/>
          <a:stretch>
            <a:fillRect/>
          </a:stretch>
        </p:blipFill>
        <p:spPr>
          <a:xfrm>
            <a:off x="5904525" y="1920638"/>
            <a:ext cx="5866950" cy="301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2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A047-1C1D-84A3-046D-2A4E0992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 jak to </a:t>
            </a:r>
            <a:r>
              <a:rPr lang="en-US" dirty="0" err="1">
                <a:ea typeface="+mj-lt"/>
                <a:cs typeface="+mj-lt"/>
              </a:rPr>
              <a:t>dělají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profesionálové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2B99F-B838-147A-2E41-BE2F9D0A1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20302"/>
            <a:ext cx="4096679" cy="42147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LaTeX</a:t>
            </a:r>
          </a:p>
          <a:p>
            <a:r>
              <a:rPr lang="en-US" sz="1800" dirty="0" err="1">
                <a:ea typeface="+mn-lt"/>
                <a:cs typeface="+mn-lt"/>
              </a:rPr>
              <a:t>Sazbu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nadpisy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citace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čísla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stránek</a:t>
            </a:r>
            <a:r>
              <a:rPr lang="en-US" sz="1800" dirty="0">
                <a:ea typeface="+mn-lt"/>
                <a:cs typeface="+mn-lt"/>
              </a:rPr>
              <a:t>) </a:t>
            </a:r>
            <a:r>
              <a:rPr lang="en-US" sz="1800" dirty="0" err="1">
                <a:ea typeface="+mn-lt"/>
                <a:cs typeface="+mn-lt"/>
              </a:rPr>
              <a:t>řeší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automaticky</a:t>
            </a:r>
            <a:r>
              <a:rPr lang="en-US" sz="1800" dirty="0">
                <a:ea typeface="+mn-lt"/>
                <a:cs typeface="+mn-lt"/>
              </a:rPr>
              <a:t> za </a:t>
            </a:r>
            <a:r>
              <a:rPr lang="en-US" sz="1800" dirty="0" err="1">
                <a:ea typeface="+mn-lt"/>
                <a:cs typeface="+mn-lt"/>
              </a:rPr>
              <a:t>nás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pouze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svým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nastavením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Standard pro </a:t>
            </a:r>
            <a:r>
              <a:rPr lang="en-US" sz="1800" dirty="0" err="1">
                <a:ea typeface="+mn-lt"/>
                <a:cs typeface="+mn-lt"/>
              </a:rPr>
              <a:t>vědecké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práce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diplomky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odbornou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dokumentaci</a:t>
            </a:r>
            <a:endParaRPr lang="en-US" sz="18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666A4-DDDE-1B1D-B827-87CBB10D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012C4-87A4-9FFE-F3D5-E35298AC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3A1B8-69CC-405D-A5EB-9717D0F250BD}" type="datetime1"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B9746-1D28-B387-EF7C-BF71A369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D1A572-BFF4-0666-AD2A-147403D9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042" y="1598084"/>
            <a:ext cx="6111750" cy="44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14086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customXml/itemProps3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Orange Experience</vt:lpstr>
      <vt:lpstr>Typografie, sazba </vt:lpstr>
      <vt:lpstr>Proč na sazbě záleží?</vt:lpstr>
      <vt:lpstr>Styly vs. Ruční formátování</vt:lpstr>
      <vt:lpstr>Typografická pravidla</vt:lpstr>
      <vt:lpstr>Markdown: jiná cesta, stejný cíl</vt:lpstr>
      <vt:lpstr>Co si navíc pohlídat v Markdownu</vt:lpstr>
      <vt:lpstr>A jak to dělají profesionálové?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77</cp:revision>
  <dcterms:created xsi:type="dcterms:W3CDTF">2026-09-02T06:40:14Z</dcterms:created>
  <dcterms:modified xsi:type="dcterms:W3CDTF">2026-09-02T15:31:05Z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