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7AF137-F5E4-6CD0-2C72-90489443E9F6}" v="2" dt="2026-09-24T09:50:57.5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ládeček David" userId="S::sladecek@hradebni.cz::474d93f0-3a32-49cc-b837-47806091b590" providerId="AD" clId="Web-{3B7AF137-F5E4-6CD0-2C72-90489443E9F6}"/>
    <pc:docChg chg="modSld">
      <pc:chgData name="Sládeček David" userId="S::sladecek@hradebni.cz::474d93f0-3a32-49cc-b837-47806091b590" providerId="AD" clId="Web-{3B7AF137-F5E4-6CD0-2C72-90489443E9F6}" dt="2026-09-24T09:50:57.569" v="1" actId="20577"/>
      <pc:docMkLst>
        <pc:docMk/>
      </pc:docMkLst>
      <pc:sldChg chg="modSp">
        <pc:chgData name="Sládeček David" userId="S::sladecek@hradebni.cz::474d93f0-3a32-49cc-b837-47806091b590" providerId="AD" clId="Web-{3B7AF137-F5E4-6CD0-2C72-90489443E9F6}" dt="2026-09-24T09:50:57.569" v="1" actId="20577"/>
        <pc:sldMkLst>
          <pc:docMk/>
          <pc:sldMk cId="0" sldId="274"/>
        </pc:sldMkLst>
        <pc:spChg chg="mod">
          <ac:chgData name="Sládeček David" userId="S::sladecek@hradebni.cz::474d93f0-3a32-49cc-b837-47806091b590" providerId="AD" clId="Web-{3B7AF137-F5E4-6CD0-2C72-90489443E9F6}" dt="2026-09-24T09:50:57.569" v="1" actId="20577"/>
          <ac:spMkLst>
            <pc:docMk/>
            <pc:sldMk cId="0" sldId="274"/>
            <ac:spMk id="3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Měsíční kapesné 10 kamarádů (Kč)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Kapesné (Kč)</c:v>
                </c:pt>
              </c:strCache>
            </c:strRef>
          </c:tx>
          <c:spPr>
            <a:solidFill>
              <a:srgbClr val="B9BDB2"/>
            </a:solidFill>
          </c:spPr>
          <c:invertIfNegative val="1"/>
          <c:dPt>
            <c:idx val="9"/>
            <c:invertIfNegative val="1"/>
            <c:bubble3D val="0"/>
            <c:spPr>
              <a:solidFill>
                <a:srgbClr val="ED6845"/>
              </a:solidFill>
            </c:spPr>
            <c:extLst>
              <c:ext xmlns:c16="http://schemas.microsoft.com/office/drawing/2014/chart" uri="{C3380CC4-5D6E-409C-BE32-E72D297353CC}">
                <c16:uniqueId val="{00000001-B5EC-461B-BC86-D1A3C539C56C}"/>
              </c:ext>
            </c:extLst>
          </c:dPt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500</c:v>
                </c:pt>
                <c:pt idx="1">
                  <c:v>600</c:v>
                </c:pt>
                <c:pt idx="2">
                  <c:v>600</c:v>
                </c:pt>
                <c:pt idx="3">
                  <c:v>700</c:v>
                </c:pt>
                <c:pt idx="4">
                  <c:v>700</c:v>
                </c:pt>
                <c:pt idx="5">
                  <c:v>800</c:v>
                </c:pt>
                <c:pt idx="6">
                  <c:v>800</c:v>
                </c:pt>
                <c:pt idx="7">
                  <c:v>900</c:v>
                </c:pt>
                <c:pt idx="8">
                  <c:v>1000</c:v>
                </c:pt>
                <c:pt idx="9">
                  <c:v>10000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B5EC-461B-BC86-D1A3C539C5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BBBBB"/>
            </a:solidFill>
          </a:ln>
        </c:spPr>
        <c:txPr>
          <a:bodyPr/>
          <a:lstStyle/>
          <a:p>
            <a:pPr>
              <a:defRPr sz="1000">
                <a:solidFill>
                  <a:srgbClr val="6E7868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E5E5E5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7868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Tržby (mil. Kč)</c:v>
                </c:pt>
              </c:strCache>
            </c:strRef>
          </c:tx>
          <c:spPr>
            <a:solidFill>
              <a:srgbClr val="5B6E7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3333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</c:v>
                </c:pt>
                <c:pt idx="1">
                  <c:v>85</c:v>
                </c:pt>
                <c:pt idx="2">
                  <c:v>87</c:v>
                </c:pt>
                <c:pt idx="3">
                  <c:v>90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9A6-4D76-BB32-0303A2BFC3B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BBBBB"/>
            </a:solidFill>
          </a:ln>
        </c:spPr>
        <c:txPr>
          <a:bodyPr/>
          <a:lstStyle/>
          <a:p>
            <a:pPr>
              <a:defRPr sz="1100">
                <a:solidFill>
                  <a:srgbClr val="6E7868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>
          <c:spPr>
            <a:ln>
              <a:solidFill>
                <a:srgbClr val="E5E5E5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7868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Tržby (mil. Kč)</c:v>
                </c:pt>
              </c:strCache>
            </c:strRef>
          </c:tx>
          <c:spPr>
            <a:solidFill>
              <a:srgbClr val="ED6845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3333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</c:v>
                </c:pt>
                <c:pt idx="1">
                  <c:v>85</c:v>
                </c:pt>
                <c:pt idx="2">
                  <c:v>87</c:v>
                </c:pt>
                <c:pt idx="3">
                  <c:v>90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2593-4D09-9FE7-CC54F104FA0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BBBBB"/>
            </a:solidFill>
          </a:ln>
        </c:spPr>
        <c:txPr>
          <a:bodyPr/>
          <a:lstStyle/>
          <a:p>
            <a:pPr>
              <a:defRPr sz="1100">
                <a:solidFill>
                  <a:srgbClr val="6E7868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92"/>
          <c:min val="78"/>
        </c:scaling>
        <c:delete val="0"/>
        <c:axPos val="l"/>
        <c:majorGridlines>
          <c:spPr>
            <a:ln>
              <a:solidFill>
                <a:srgbClr val="E5E5E5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7868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45D27F-1F31-4BE3-8CDF-23166E820B30}" type="datetimeFigureOut">
              <a:t>24.09.2026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A165A1-8B5C-4998-B327-EB8D7614E26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674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Přehled hodiny. Oddíly 2 (data do tabulky) a 6 (čísla, která klamou) přímo připravují práci v tabulkovém procesoru.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NOVÉ. Ukažte živě: stáhněte CSV z data.gov.cz, otevřete dvojklikem (rozsypaný čaj / vše v jednom sloupci) a pak přes Data → Z textu/CSV.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NOVÉ. Tabulka připravená podle těchto pravidel jde rovnou seřadit, filtrovat, vložit do kontingenční tabulky i do grafu. Nechte žáky najít chyby v levé tabulce dřív, než je ukážete.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NOVÉ. Příklad: 10 kamarádů a jejich měsíční kapesné. Jeden extrém (10 000 Kč) vytáhne průměr na víc než dvojnásobek mediánu. V Excelu si to žáci ověří funkcemi PRŮMĚR a MEDIAN.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NOVÉ. Rozdíl mezi absolutní a relativní změnou a mezi procentem a procentním bodem. V Excelu: relativní změna = (nová − stará) / stará, formát buňky Procenta.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NOVÉ. Klasický příklad se zmrzlinou a utonutím. Nechte žáky vymyslet vlastní dvojici veličin, které spolu souvisejí jen přes třetí proměnnou. V Excelu lze sílu vztahu změřit funkcí CORREL – ta ale příčinu nikdy neukáže.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NOVÉ. Přímá příprava na tvorbu grafů v Excelu. Doporučené grafy v Excelu nejsou vždy nejvhodnější – typ grafu volí autor podle toho, co chce ukázat.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A180A8E-4668-486A-95D0-DBD6BDD7C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BB8E81-5147-5506-5F4B-DBC0E7AF2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6200" y="637890"/>
            <a:ext cx="0" cy="557241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852B95-CFB8-EEBE-3973-7363B3611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6332" y="768924"/>
            <a:ext cx="0" cy="480060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1A205B3-F30A-B2B0-2AFF-593443D327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5503863" y="1354138"/>
            <a:ext cx="5322887" cy="448151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31992"/>
            <a:ext cx="5897880" cy="4258956"/>
          </a:xfrm>
          <a:solidFill>
            <a:schemeClr val="bg2"/>
          </a:solidFill>
        </p:spPr>
        <p:txBody>
          <a:bodyPr lIns="182880" rIns="228600" bIns="91440" anchor="b">
            <a:normAutofit/>
          </a:bodyPr>
          <a:lstStyle>
            <a:lvl1pPr algn="r">
              <a:lnSpc>
                <a:spcPct val="80000"/>
              </a:lnSpc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431" y="5372809"/>
            <a:ext cx="2364946" cy="909119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7529" y="612251"/>
            <a:ext cx="2070397" cy="518965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897326" y="5229935"/>
            <a:ext cx="1223795" cy="365125"/>
          </a:xfrm>
          <a:solidFill>
            <a:schemeClr val="bg2"/>
          </a:solidFill>
        </p:spPr>
        <p:txBody>
          <a:bodyPr rIns="182880"/>
          <a:lstStyle/>
          <a:p>
            <a:fld id="{F695BADC-4FD4-44DC-8CD5-A8F9C57A8D9D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029866"/>
            <a:ext cx="461438" cy="365125"/>
          </a:xfrm>
          <a:solidFill>
            <a:schemeClr val="bg2"/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197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986" y="265728"/>
            <a:ext cx="10981137" cy="1325563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1736176"/>
            <a:ext cx="10981137" cy="419886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E410-BE9E-427B-BCB5-604E33C4348E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717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90397"/>
            <a:ext cx="0" cy="4396003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D120947-D69A-84F3-7617-0239E8E5C7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791" y="1371600"/>
            <a:ext cx="670639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3850" y="685799"/>
            <a:ext cx="6373670" cy="2743201"/>
          </a:xfrm>
          <a:solidFill>
            <a:schemeClr val="bg2"/>
          </a:solidFill>
        </p:spPr>
        <p:txBody>
          <a:bodyPr vert="horz" lIns="182880" tIns="45720" rIns="91440" bIns="91440" rtlCol="0" anchor="b">
            <a:normAutofit/>
          </a:bodyPr>
          <a:lstStyle>
            <a:lvl1pPr>
              <a:lnSpc>
                <a:spcPct val="80000"/>
              </a:lnSpc>
              <a:defRPr lang="en-US" sz="6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00457" y="5570290"/>
            <a:ext cx="4114799" cy="69951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5FE83-3A40-27CC-D68D-E889297B8CA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45716" y="508084"/>
            <a:ext cx="429372" cy="365125"/>
          </a:xfrm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663" y="508084"/>
            <a:ext cx="1203320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D666FC17-48E9-4EB3-BB0E-C81F4FBF1D65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03" y="612063"/>
            <a:ext cx="1487296" cy="478334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</p:spTree>
    <p:extLst>
      <p:ext uri="{BB962C8B-B14F-4D97-AF65-F5344CB8AC3E}">
        <p14:creationId xmlns:p14="http://schemas.microsoft.com/office/powerpoint/2010/main" val="4015553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33580"/>
            <a:ext cx="0" cy="480029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" y="338328"/>
            <a:ext cx="8168640" cy="4462272"/>
          </a:xfrm>
          <a:noFill/>
        </p:spPr>
        <p:txBody>
          <a:bodyPr vert="horz" lIns="91440" tIns="45720" rIns="91440" bIns="137160" rtlCol="0" anchor="t">
            <a:normAutofit/>
          </a:bodyPr>
          <a:lstStyle>
            <a:lvl1pPr>
              <a:lnSpc>
                <a:spcPct val="80000"/>
              </a:lnSpc>
              <a:defRPr lang="en-US" sz="9600" spc="-100" baseline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4400" y="4754729"/>
            <a:ext cx="3084441" cy="1080302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spc="100" baseline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0" y="447579"/>
            <a:ext cx="2477899" cy="586001"/>
          </a:xfrm>
          <a:noFill/>
        </p:spPr>
        <p:txBody>
          <a:bodyPr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DFE1FB2C-1600-49CF-ABE3-F2743AC651C3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237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3069F5-8FDE-3652-E906-3619BF9A5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3E913D-4F8E-6F1A-DB89-A9E5CB7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172185"/>
            <a:ext cx="10326757" cy="0"/>
          </a:xfrm>
          <a:prstGeom prst="line">
            <a:avLst/>
          </a:prstGeom>
          <a:ln w="12700">
            <a:solidFill>
              <a:schemeClr val="bg2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15478846-46FB-2BEE-98D6-C903223E25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" y="365760"/>
            <a:ext cx="11534790" cy="5525653"/>
          </a:xfrm>
          <a:noFill/>
        </p:spPr>
        <p:txBody>
          <a:bodyPr anchor="t">
            <a:normAutofit/>
          </a:bodyPr>
          <a:lstStyle>
            <a:lvl1pPr>
              <a:defRPr sz="11500" baseline="0">
                <a:ln>
                  <a:solidFill>
                    <a:schemeClr val="bg1"/>
                  </a:solidFill>
                </a:ln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8544F-8D58-BFED-5A2B-2F718BA6F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0139D-4890-4E0D-B3FD-098A02AB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205D05A-BA39-4B06-B20A-BF32BF994A68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CD1DB-3989-A34F-B5F7-DF66E018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442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321906" y="685800"/>
            <a:ext cx="10184294" cy="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4403" y="2043904"/>
            <a:ext cx="7467597" cy="481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406175" y="2720396"/>
            <a:ext cx="5645423" cy="2494309"/>
          </a:xfrm>
          <a:solidFill>
            <a:schemeClr val="bg2">
              <a:lumMod val="90000"/>
            </a:schemeClr>
          </a:solidFill>
        </p:spPr>
        <p:txBody>
          <a:bodyPr vert="horz" lIns="91440" tIns="45720" rIns="91440" bIns="137160" rtlCol="0" anchor="t">
            <a:normAutofit/>
          </a:bodyPr>
          <a:lstStyle>
            <a:lvl1pPr>
              <a:defRPr lang="en-US" sz="12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410" y="569843"/>
            <a:ext cx="1470992" cy="541698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algn="l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98" y="2743202"/>
            <a:ext cx="6096001" cy="3467098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413627"/>
            <a:ext cx="1256738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6C2206C6-C6B2-4E06-A7AA-7F308C2F851D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413627"/>
            <a:ext cx="429372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988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3" y="3415504"/>
            <a:ext cx="10820397" cy="3442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1506200" y="1113182"/>
            <a:ext cx="0" cy="170401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306" y="182880"/>
            <a:ext cx="7930892" cy="2238587"/>
          </a:xfrm>
          <a:noFill/>
        </p:spPr>
        <p:txBody>
          <a:bodyPr anchor="t">
            <a:normAutofit/>
          </a:bodyPr>
          <a:lstStyle>
            <a:lvl1pPr>
              <a:defRPr sz="12000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946" y="3840480"/>
            <a:ext cx="6543924" cy="2536466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11" y="612381"/>
            <a:ext cx="1484228" cy="479352"/>
          </a:xfrm>
          <a:noFill/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33512" y="2756699"/>
            <a:ext cx="1256738" cy="423823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algn="r">
              <a:defRPr/>
            </a:lvl1pPr>
          </a:lstStyle>
          <a:p>
            <a:fld id="{D1188C7A-78DB-4967-8643-716598F25D97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544" y="2756699"/>
            <a:ext cx="429372" cy="423823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DA62460-475C-38E7-135D-916B98438D09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8763000" y="3415504"/>
            <a:ext cx="3429000" cy="344249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43878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1" y="2057399"/>
            <a:ext cx="3429000" cy="1868557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0" y="2057401"/>
            <a:ext cx="4648200" cy="274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94BC2-7D23-4352-8AF3-6A490B666FB8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435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31915"/>
            <a:ext cx="3968496" cy="1494845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020" y="1001865"/>
            <a:ext cx="6416180" cy="46833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7"/>
            <a:ext cx="1179576" cy="365125"/>
          </a:xfrm>
        </p:spPr>
        <p:txBody>
          <a:bodyPr/>
          <a:lstStyle/>
          <a:p>
            <a:fld id="{4758A600-6D87-4303-8A2F-171F72E22375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132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31242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8400" y="0"/>
            <a:ext cx="7391400" cy="1207008"/>
          </a:xfrm>
        </p:spPr>
        <p:txBody>
          <a:bodyPr lIns="137160" tIns="137160" bIns="91440"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367622"/>
            <a:ext cx="7929006" cy="44775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460515-4779-2CA9-5335-1F4AD158B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0" y="6210300"/>
            <a:ext cx="7696200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1" y="6029868"/>
            <a:ext cx="2024542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FBFC4637-11C9-448C-8D4C-0CD0AE46C949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700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5486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3318" y="0"/>
            <a:ext cx="4385481" cy="1796124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5056" y="1965281"/>
            <a:ext cx="4859992" cy="37328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E3CBC-A2D6-42D3-976A-174CF7E26BA0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8195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99475"/>
            <a:ext cx="3625442" cy="1474692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2124222"/>
            <a:ext cx="3567404" cy="34887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800601" y="0"/>
            <a:ext cx="7391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917E8D86-1037-438D-973A-F8D03A01BF16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7863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30047"/>
            <a:ext cx="4939005" cy="116627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1746792"/>
            <a:ext cx="5776896" cy="3969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391400" y="0"/>
            <a:ext cx="48006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B0ECE3E5-DEB1-48A2-A1A9-7ABBE9A784F7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5630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78486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456" y="0"/>
            <a:ext cx="4142830" cy="1978681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2196" y="2112973"/>
            <a:ext cx="3151090" cy="36782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912" y="6029868"/>
            <a:ext cx="1911096" cy="365125"/>
          </a:xfrm>
          <a:noFill/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51008" y="6029868"/>
            <a:ext cx="890077" cy="365125"/>
          </a:xfrm>
          <a:noFill/>
        </p:spPr>
        <p:txBody>
          <a:bodyPr/>
          <a:lstStyle/>
          <a:p>
            <a:fld id="{2B950759-980B-4783-B58D-96B69BC77CA8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6304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EB1BA68-9980-8CBB-7BAF-A1D760EB21EC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480060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5562599"/>
                </a:lnTo>
                <a:lnTo>
                  <a:pt x="4800600" y="5562599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01376"/>
            <a:ext cx="3601122" cy="1362458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2496848"/>
            <a:ext cx="3601122" cy="23037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3504" y="503237"/>
            <a:ext cx="1907799" cy="365125"/>
          </a:xfrm>
          <a:noFill/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04" y="4800600"/>
            <a:ext cx="1256738" cy="365125"/>
          </a:xfrm>
          <a:noFill/>
        </p:spPr>
        <p:txBody>
          <a:bodyPr/>
          <a:lstStyle>
            <a:lvl1pPr algn="l">
              <a:defRPr/>
            </a:lvl1pPr>
          </a:lstStyle>
          <a:p>
            <a:fld id="{75D8CBF3-D33E-488B-BE09-B302C3504935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47641" y="4800600"/>
            <a:ext cx="429372" cy="365125"/>
          </a:xfrm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7031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673955"/>
            <a:ext cx="3154680" cy="1287913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12191999" cy="41148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4647060"/>
            <a:ext cx="7552114" cy="138280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noFill/>
        </p:spPr>
        <p:txBody>
          <a:bodyPr/>
          <a:lstStyle/>
          <a:p>
            <a:fld id="{49885C97-4180-47D6-BA3E-83C74E1B1903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542" y="6029868"/>
            <a:ext cx="429372" cy="365125"/>
          </a:xfrm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0929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5" y="337062"/>
            <a:ext cx="6787898" cy="845931"/>
          </a:xfrm>
        </p:spPr>
        <p:txBody>
          <a:bodyPr tIns="91440" bIns="9144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05468" y="637706"/>
            <a:ext cx="1907799" cy="365125"/>
          </a:xfrm>
        </p:spPr>
        <p:txBody>
          <a:bodyPr anchor="t"/>
          <a:lstStyle>
            <a:lvl1pPr algn="r">
              <a:defRPr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371600"/>
            <a:ext cx="739140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6163" y="1266737"/>
            <a:ext cx="2894795" cy="476313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720E7-9D70-4C91-9C55-B922EC8FF4E1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397562-DA4B-EE6B-8F6C-1CE4F33EB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704" y="1028700"/>
            <a:ext cx="0" cy="480060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35289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"/>
            <a:ext cx="4800600" cy="482237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2085" y="4374100"/>
            <a:ext cx="3897905" cy="1380814"/>
          </a:xfrm>
        </p:spPr>
        <p:txBody>
          <a:bodyPr lIns="137160" tIns="137160"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516" y="685800"/>
            <a:ext cx="5430884" cy="52049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2974" y="6029867"/>
            <a:ext cx="1911096" cy="365126"/>
          </a:xfrm>
          <a:solidFill>
            <a:schemeClr val="bg1"/>
          </a:solidFill>
        </p:spPr>
        <p:txBody>
          <a:bodyPr anchor="ctr"/>
          <a:lstStyle>
            <a:lvl1pPr algn="l">
              <a:defRPr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solidFill>
            <a:schemeClr val="bg1"/>
          </a:solidFill>
        </p:spPr>
        <p:txBody>
          <a:bodyPr/>
          <a:lstStyle/>
          <a:p>
            <a:fld id="{A25B1B0E-4CBA-421A-9FF9-BD907EE313C7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5392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24EAB6-808C-672B-68A5-49764748C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599" y="5149121"/>
            <a:ext cx="6861107" cy="842527"/>
          </a:xfrm>
          <a:noFill/>
        </p:spPr>
        <p:txBody>
          <a:bodyPr anchor="t"/>
          <a:lstStyle>
            <a:lvl1pPr algn="r">
              <a:defRPr b="0" cap="all" baseline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4196" y="120765"/>
            <a:ext cx="10723000" cy="4260404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8000" spc="-2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6029867"/>
            <a:ext cx="2137769" cy="365125"/>
          </a:xfrm>
          <a:noFill/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5E07D1D-D1D5-479B-A8E5-C908666570C8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8393CD-94B6-EC8A-E14F-A09689A25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3594" y="675861"/>
            <a:ext cx="0" cy="4184295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72687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5FCAFD-B73A-5597-B603-55FD5D3AA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431" y="-785191"/>
            <a:ext cx="10981137" cy="640080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7930" y="1649896"/>
            <a:ext cx="10169921" cy="4949687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200" cap="all" spc="-100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C1887E-643E-BB68-F557-E1EAB0A0A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85800"/>
            <a:ext cx="10326757" cy="0"/>
          </a:xfrm>
          <a:prstGeom prst="line">
            <a:avLst/>
          </a:prstGeom>
          <a:ln w="12700">
            <a:solidFill>
              <a:schemeClr val="bg1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501227"/>
            <a:ext cx="1907799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 b="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501227"/>
            <a:ext cx="1256738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0907655-BDED-4A88-9727-947E02456645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501227"/>
            <a:ext cx="429372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9417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052C017-FC5C-A7A2-BA15-6C113717C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D5F78-0179-D9C3-74D3-62CE152FF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8763000" cy="50383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B386FE-4A21-B72A-BB2B-D4FDFDC3E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accent5">
                <a:alpha val="4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D4813FB1-9165-4DD7-C4C2-EAFC20602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5410203"/>
            <a:ext cx="7543800" cy="372746"/>
          </a:xfrm>
          <a:noFill/>
        </p:spPr>
        <p:txBody>
          <a:bodyPr tIns="91440" bIns="91440" anchor="ctr">
            <a:normAutofit/>
          </a:bodyPr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3504" y="725556"/>
            <a:ext cx="8845296" cy="3656168"/>
          </a:xfrm>
        </p:spPr>
        <p:txBody>
          <a:bodyPr>
            <a:normAutofit/>
          </a:bodyPr>
          <a:lstStyle>
            <a:lvl1pPr marL="228600" indent="-228600">
              <a:lnSpc>
                <a:spcPct val="85000"/>
              </a:lnSpc>
              <a:spcBef>
                <a:spcPts val="0"/>
              </a:spcBef>
              <a:buNone/>
              <a:defRPr sz="5800" b="0" cap="all" spc="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F49A81-8721-B846-5567-52769C04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8"/>
            <a:ext cx="1911096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B3E54B7-FFB1-7BFC-0189-A1736072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02368" y="6029868"/>
            <a:ext cx="1435608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D348C769-7AB4-4647-BD58-CC3E9CA66889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1DF2706-0EDF-0D3B-C01B-613E7D1B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907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0773-1259-8F51-3561-DF3A80B2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185"/>
            <a:ext cx="10902696" cy="1070849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66CF-BE4B-28C8-6D17-E087E97C0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5431" y="1756230"/>
            <a:ext cx="5181600" cy="40349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59437-5037-4EE7-88FA-80C5AA087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756230"/>
            <a:ext cx="5181600" cy="40349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6746-DF44-9DEF-8471-A5E1F6CC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50B58-64D5-F359-1AC8-3D57AA87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EDEC-0890-4E6D-9DE0-ECAF543851A7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A22FA-48E7-5BF5-6432-6C7A54D7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2027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8D87-72DE-A210-5C2D-570A1B01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206"/>
            <a:ext cx="10899648" cy="1069848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932A9-21A4-5A57-9D72-8C46993E6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631076"/>
            <a:ext cx="5157787" cy="70939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3D4B4-A366-E12D-19BB-C17B71466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431" y="2372146"/>
            <a:ext cx="5157787" cy="349525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6DAAF-1A05-D83C-70C1-CEADA4EB7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631076"/>
            <a:ext cx="5183188" cy="7093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FE7B13-3453-6313-B416-E9FF9DA2E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0" y="2372146"/>
            <a:ext cx="5183188" cy="34952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1BE2D-E1A3-1A5C-AE37-9DC52A97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D5902D-DF04-F2A8-C2F8-EBDD2A89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88318-BA47-4AD0-805B-25EB53D81BBB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4FDDA8-940A-B407-4EB2-85DC9BED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9546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51FC-CD6F-656F-54A8-59B782BE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265176"/>
            <a:ext cx="11028923" cy="1325880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D307A-FF1F-38A3-7DE5-F11DC31CA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C539B-20CB-8D83-0ECC-5F682BD0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D3F20-2AB6-4A04-8E99-A7FB006776B6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EB674-912E-381A-49CE-08E49D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9077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A0B77-3CB1-4071-30F6-B0766D75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A81A7-FC7B-1689-D59F-4173A176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A2087-1351-4A66-BC4B-B8C73F209E6A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80D98-2C9A-3434-E8A3-DA6CCD2F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6647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22766A-BE9C-B780-CC66-44ECFC5C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57400" y="3084659"/>
            <a:ext cx="10133956" cy="3773341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6" y="182881"/>
            <a:ext cx="8616684" cy="1874520"/>
          </a:xfrm>
          <a:noFill/>
        </p:spPr>
        <p:txBody>
          <a:bodyPr anchor="t">
            <a:normAutofit/>
          </a:bodyPr>
          <a:lstStyle>
            <a:lvl1pPr>
              <a:defRPr sz="96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53600" y="617923"/>
            <a:ext cx="1866897" cy="461881"/>
          </a:xfrm>
          <a:noFill/>
        </p:spPr>
        <p:txBody>
          <a:bodyPr anchor="t"/>
          <a:lstStyle>
            <a:lvl1pPr algn="r">
              <a:defRPr sz="90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846" y="3544866"/>
            <a:ext cx="8990722" cy="2446782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5846" y="6024816"/>
            <a:ext cx="1809495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A8EB468F-DE53-43FF-8B87-9F03EBF19C21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bg2"/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5445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2AC4BE-2FD3-AAF4-8A1B-0633F1BEE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436077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52D305-42E1-E86E-632C-9DFD4F747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" y="4564627"/>
            <a:ext cx="5068016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5" y="530940"/>
            <a:ext cx="7703576" cy="1308290"/>
          </a:xfrm>
          <a:noFill/>
        </p:spPr>
        <p:txBody>
          <a:bodyPr anchor="t">
            <a:normAutofit/>
          </a:bodyPr>
          <a:lstStyle>
            <a:lvl1pPr>
              <a:defRPr sz="80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7005" y="3571531"/>
            <a:ext cx="5009534" cy="1987694"/>
          </a:xfrm>
        </p:spPr>
        <p:txBody>
          <a:bodyPr anchor="ctr"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7"/>
            <a:ext cx="1911096" cy="365126"/>
          </a:xfrm>
          <a:noFill/>
        </p:spPr>
        <p:txBody>
          <a:bodyPr anchor="ctr"/>
          <a:lstStyle>
            <a:lvl1pPr algn="l">
              <a:defRPr sz="900" b="1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99320" y="6029867"/>
            <a:ext cx="1441766" cy="365125"/>
          </a:xfrm>
          <a:noFill/>
        </p:spPr>
        <p:txBody>
          <a:bodyPr/>
          <a:lstStyle>
            <a:lvl1pPr algn="r">
              <a:defRPr/>
            </a:lvl1pPr>
          </a:lstStyle>
          <a:p>
            <a:fld id="{77D9A748-B116-46F1-81D5-0BE225FE4EB1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6402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lze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24.09.2026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0653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BAF5C3-82B6-427E-5D2E-900A2D90A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AA792-727F-F91C-6564-A882FAF1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51270"/>
            <a:ext cx="10981137" cy="12397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13716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0A246-77A4-EC4C-28B8-90388BB8E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745956"/>
            <a:ext cx="10981137" cy="3983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6714-5B6F-439F-4173-D51823712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430" y="6029868"/>
            <a:ext cx="191109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l">
              <a:defRPr sz="900" b="1" cap="all" spc="6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842E6-B4ED-431B-B1A0-22352BA62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0" y="6029868"/>
            <a:ext cx="118268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82B9AEC8-204B-4AD5-8041-BCAF36A74EBE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743A1-0EE5-84FA-44EE-3CDDB793A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3434" y="6029868"/>
            <a:ext cx="429372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728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hf hdr="0"/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sz="2800" kern="1200" cap="all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864">
          <p15:clr>
            <a:srgbClr val="F26B43"/>
          </p15:clr>
        </p15:guide>
        <p15:guide id="3" pos="43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3504">
          <p15:clr>
            <a:srgbClr val="F26B43"/>
          </p15:clr>
        </p15:guide>
        <p15:guide id="6" orient="horz" pos="3024">
          <p15:clr>
            <a:srgbClr val="F26B43"/>
          </p15:clr>
        </p15:guide>
        <p15:guide id="7" orient="horz" pos="2592">
          <p15:clr>
            <a:srgbClr val="F26B43"/>
          </p15:clr>
        </p15:guide>
        <p15:guide id="8" orient="horz" pos="1728">
          <p15:clr>
            <a:srgbClr val="F26B43"/>
          </p15:clr>
        </p15:guide>
        <p15:guide id="9" orient="horz" pos="1296">
          <p15:clr>
            <a:srgbClr val="F26B43"/>
          </p15:clr>
        </p15:guide>
        <p15:guide id="10" orient="horz" pos="864">
          <p15:clr>
            <a:srgbClr val="F26B43"/>
          </p15:clr>
        </p15:guide>
        <p15:guide id="11" orient="horz" pos="432">
          <p15:clr>
            <a:srgbClr val="F26B43"/>
          </p15:clr>
        </p15:guide>
        <p15:guide id="12" pos="1296">
          <p15:clr>
            <a:srgbClr val="F26B43"/>
          </p15:clr>
        </p15:guide>
        <p15:guide id="13" pos="1728">
          <p15:clr>
            <a:srgbClr val="F26B43"/>
          </p15:clr>
        </p15:guide>
        <p15:guide id="18" pos="2160">
          <p15:clr>
            <a:srgbClr val="F26B43"/>
          </p15:clr>
        </p15:guide>
        <p15:guide id="20" pos="5520">
          <p15:clr>
            <a:srgbClr val="F26B43"/>
          </p15:clr>
        </p15:guide>
        <p15:guide id="21" pos="5952">
          <p15:clr>
            <a:srgbClr val="F26B43"/>
          </p15:clr>
        </p15:guide>
        <p15:guide id="22" pos="6384">
          <p15:clr>
            <a:srgbClr val="F26B43"/>
          </p15:clr>
        </p15:guide>
        <p15:guide id="24" pos="6816">
          <p15:clr>
            <a:srgbClr val="F26B43"/>
          </p15:clr>
        </p15:guide>
        <p15:guide id="25" pos="7248">
          <p15:clr>
            <a:srgbClr val="F26B43"/>
          </p15:clr>
        </p15:guide>
        <p15:guide id="26" pos="5088">
          <p15:clr>
            <a:srgbClr val="F26B43"/>
          </p15:clr>
        </p15:guide>
        <p15:guide id="27" pos="4656">
          <p15:clr>
            <a:srgbClr val="F26B43"/>
          </p15:clr>
        </p15:guide>
        <p15:guide id="28" pos="4224">
          <p15:clr>
            <a:srgbClr val="F26B43"/>
          </p15:clr>
        </p15:guide>
        <p15:guide id="29" pos="2592">
          <p15:clr>
            <a:srgbClr val="F26B43"/>
          </p15:clr>
        </p15:guide>
        <p15:guide id="30" pos="3024">
          <p15:clr>
            <a:srgbClr val="F26B43"/>
          </p15:clr>
        </p15:guide>
        <p15:guide id="31" pos="3456">
          <p15:clr>
            <a:srgbClr val="F26B43"/>
          </p15:clr>
        </p15:guide>
        <p15:guide id="32" orient="horz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Práce s daty: etika a důvěryhodnost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t>Digitální a mediální gramotnost</a:t>
            </a:r>
          </a:p>
        </p:txBody>
      </p:sp>
    </p:spTree>
    <p:extLst>
      <p:ext uri="{BB962C8B-B14F-4D97-AF65-F5344CB8AC3E}">
        <p14:creationId xmlns:p14="http://schemas.microsoft.com/office/powerpoint/2010/main" val="3799523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Co nás čeká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i="0"/>
              <a:t>Data sama o sobě nelžou – klamat může to, jak je sbíráme, upravujeme a ukazujeme</a:t>
            </a:r>
          </a:p>
          <a:p>
            <a:r>
              <a:rPr sz="1800" i="0"/>
              <a:t>Než otevřete Excel, potřebujete vědět, odkud data jsou, co s nimi smíte dělat a jak je poctivě prezentovat</a:t>
            </a:r>
          </a:p>
          <a:p>
            <a:r>
              <a:rPr sz="1800" i="1"/>
              <a:t>Na konci si vše ověříte kontrolními otázkami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902" name="Oval 901"/>
          <p:cNvSpPr/>
          <p:nvPr/>
        </p:nvSpPr>
        <p:spPr>
          <a:xfrm>
            <a:off x="6400800" y="1645920"/>
            <a:ext cx="384048" cy="384048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03" name="TextBox 902"/>
          <p:cNvSpPr txBox="1"/>
          <p:nvPr/>
        </p:nvSpPr>
        <p:spPr>
          <a:xfrm>
            <a:off x="6903720" y="1609344"/>
            <a:ext cx="484632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Arial"/>
              </a:rPr>
              <a:t>Otevřená data</a:t>
            </a:r>
            <a:r>
              <a:rPr sz="1200" b="0" i="0">
                <a:solidFill>
                  <a:srgbClr val="6E7868"/>
                </a:solidFill>
                <a:latin typeface="Arial"/>
              </a:rPr>
              <a:t>  kde je hledat a jak je smíte použít</a:t>
            </a:r>
          </a:p>
        </p:txBody>
      </p:sp>
      <p:cxnSp>
        <p:nvCxnSpPr>
          <p:cNvPr id="904" name="Connector 903"/>
          <p:cNvCxnSpPr/>
          <p:nvPr/>
        </p:nvCxnSpPr>
        <p:spPr>
          <a:xfrm>
            <a:off x="6903720" y="2112264"/>
            <a:ext cx="475488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5" name="Oval 904"/>
          <p:cNvSpPr/>
          <p:nvPr/>
        </p:nvSpPr>
        <p:spPr>
          <a:xfrm>
            <a:off x="6400800" y="2194560"/>
            <a:ext cx="384048" cy="384048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06" name="TextBox 905"/>
          <p:cNvSpPr txBox="1"/>
          <p:nvPr/>
        </p:nvSpPr>
        <p:spPr>
          <a:xfrm>
            <a:off x="6903720" y="2157984"/>
            <a:ext cx="484632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Arial"/>
              </a:rPr>
              <a:t>Data do tabulky</a:t>
            </a:r>
            <a:r>
              <a:rPr sz="1200" b="0" i="0">
                <a:solidFill>
                  <a:srgbClr val="6E7868"/>
                </a:solidFill>
                <a:latin typeface="Arial"/>
              </a:rPr>
              <a:t>  CSV a pravidla čisté tabulky</a:t>
            </a:r>
          </a:p>
        </p:txBody>
      </p:sp>
      <p:cxnSp>
        <p:nvCxnSpPr>
          <p:cNvPr id="907" name="Connector 906"/>
          <p:cNvCxnSpPr/>
          <p:nvPr/>
        </p:nvCxnSpPr>
        <p:spPr>
          <a:xfrm>
            <a:off x="6903720" y="2660904"/>
            <a:ext cx="475488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8" name="Oval 907"/>
          <p:cNvSpPr/>
          <p:nvPr/>
        </p:nvSpPr>
        <p:spPr>
          <a:xfrm>
            <a:off x="6400800" y="2743200"/>
            <a:ext cx="384048" cy="384048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6903720" y="2706624"/>
            <a:ext cx="484632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Arial"/>
              </a:rPr>
              <a:t>Anonymizace</a:t>
            </a:r>
            <a:r>
              <a:rPr sz="1200" b="0" i="0">
                <a:solidFill>
                  <a:srgbClr val="6E7868"/>
                </a:solidFill>
                <a:latin typeface="Arial"/>
              </a:rPr>
              <a:t>  jak data zbavit osobních identifikátorů</a:t>
            </a:r>
          </a:p>
        </p:txBody>
      </p:sp>
      <p:cxnSp>
        <p:nvCxnSpPr>
          <p:cNvPr id="910" name="Connector 909"/>
          <p:cNvCxnSpPr/>
          <p:nvPr/>
        </p:nvCxnSpPr>
        <p:spPr>
          <a:xfrm>
            <a:off x="6903720" y="3209544"/>
            <a:ext cx="475488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1" name="Oval 910"/>
          <p:cNvSpPr/>
          <p:nvPr/>
        </p:nvSpPr>
        <p:spPr>
          <a:xfrm>
            <a:off x="6400800" y="3291839"/>
            <a:ext cx="384048" cy="384048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6903720" y="3255263"/>
            <a:ext cx="484632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Arial"/>
              </a:rPr>
              <a:t>GDPR v kostce</a:t>
            </a:r>
            <a:r>
              <a:rPr sz="1200" b="0" i="0">
                <a:solidFill>
                  <a:srgbClr val="6E7868"/>
                </a:solidFill>
                <a:latin typeface="Arial"/>
              </a:rPr>
              <a:t>  co je osobní údaj a kdy se vás týká</a:t>
            </a:r>
          </a:p>
        </p:txBody>
      </p:sp>
      <p:cxnSp>
        <p:nvCxnSpPr>
          <p:cNvPr id="913" name="Connector 912"/>
          <p:cNvCxnSpPr/>
          <p:nvPr/>
        </p:nvCxnSpPr>
        <p:spPr>
          <a:xfrm>
            <a:off x="6903720" y="3758183"/>
            <a:ext cx="475488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4" name="Oval 913"/>
          <p:cNvSpPr/>
          <p:nvPr/>
        </p:nvSpPr>
        <p:spPr>
          <a:xfrm>
            <a:off x="6400800" y="3840480"/>
            <a:ext cx="384048" cy="384048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6903720" y="3803904"/>
            <a:ext cx="484632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Arial"/>
              </a:rPr>
              <a:t>NDA</a:t>
            </a:r>
            <a:r>
              <a:rPr sz="1200" b="0" i="0">
                <a:solidFill>
                  <a:srgbClr val="6E7868"/>
                </a:solidFill>
                <a:latin typeface="Arial"/>
              </a:rPr>
              <a:t>  ochrana firemních dat vs. ochrana lidí</a:t>
            </a:r>
          </a:p>
        </p:txBody>
      </p:sp>
      <p:cxnSp>
        <p:nvCxnSpPr>
          <p:cNvPr id="916" name="Connector 915"/>
          <p:cNvCxnSpPr/>
          <p:nvPr/>
        </p:nvCxnSpPr>
        <p:spPr>
          <a:xfrm>
            <a:off x="6903720" y="4306824"/>
            <a:ext cx="475488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7" name="Oval 916"/>
          <p:cNvSpPr/>
          <p:nvPr/>
        </p:nvSpPr>
        <p:spPr>
          <a:xfrm>
            <a:off x="6400800" y="4389120"/>
            <a:ext cx="384048" cy="384048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18" name="TextBox 917"/>
          <p:cNvSpPr txBox="1"/>
          <p:nvPr/>
        </p:nvSpPr>
        <p:spPr>
          <a:xfrm>
            <a:off x="6903720" y="4352544"/>
            <a:ext cx="484632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Arial"/>
              </a:rPr>
              <a:t>Čísla, která klamou</a:t>
            </a:r>
            <a:r>
              <a:rPr sz="1200" b="0" i="0">
                <a:solidFill>
                  <a:srgbClr val="6E7868"/>
                </a:solidFill>
                <a:latin typeface="Arial"/>
              </a:rPr>
              <a:t>  průměr, procenta, korelace</a:t>
            </a:r>
          </a:p>
        </p:txBody>
      </p:sp>
      <p:cxnSp>
        <p:nvCxnSpPr>
          <p:cNvPr id="919" name="Connector 918"/>
          <p:cNvCxnSpPr/>
          <p:nvPr/>
        </p:nvCxnSpPr>
        <p:spPr>
          <a:xfrm>
            <a:off x="6903720" y="4855464"/>
            <a:ext cx="475488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0" name="Oval 919"/>
          <p:cNvSpPr/>
          <p:nvPr/>
        </p:nvSpPr>
        <p:spPr>
          <a:xfrm>
            <a:off x="6400800" y="4937759"/>
            <a:ext cx="384048" cy="384048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21" name="TextBox 920"/>
          <p:cNvSpPr txBox="1"/>
          <p:nvPr/>
        </p:nvSpPr>
        <p:spPr>
          <a:xfrm>
            <a:off x="6903720" y="4901183"/>
            <a:ext cx="484632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Arial"/>
              </a:rPr>
              <a:t>Zavádějící grafy</a:t>
            </a:r>
            <a:r>
              <a:rPr sz="1200" b="0" i="0">
                <a:solidFill>
                  <a:srgbClr val="6E7868"/>
                </a:solidFill>
                <a:latin typeface="Arial"/>
              </a:rPr>
              <a:t>  a jak zvolit ten správný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1 · Co dělá data „otevřenými“?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440680" cy="3931920"/>
          </a:xfrm>
        </p:spPr>
        <p:txBody>
          <a:bodyPr/>
          <a:lstStyle/>
          <a:p>
            <a:r>
              <a:rPr sz="1600" b="1"/>
              <a:t>Dostupnost: </a:t>
            </a:r>
            <a:r>
              <a:rPr sz="1600"/>
              <a:t>kdokoliv si je může stáhnout – bez placení a bez žádosti</a:t>
            </a:r>
          </a:p>
          <a:p>
            <a:r>
              <a:rPr sz="1600" b="1"/>
              <a:t>Licence: </a:t>
            </a:r>
            <a:r>
              <a:rPr sz="1600"/>
              <a:t>jasně řečeno, co se s daty smí dělat (např. CC BY – uveďte zdroj)</a:t>
            </a:r>
          </a:p>
          <a:p>
            <a:r>
              <a:rPr sz="1600" b="1"/>
              <a:t>Strojová čitelnost: </a:t>
            </a:r>
            <a:r>
              <a:rPr sz="1600"/>
              <a:t>formát CSV nebo XLSX, ne obrázek naskenované tabulky</a:t>
            </a:r>
          </a:p>
          <a:p>
            <a:r>
              <a:rPr sz="1600" b="1"/>
              <a:t>Aktuálnost a metodika: </a:t>
            </a:r>
            <a:r>
              <a:rPr sz="1600"/>
              <a:t>je jasné, kdy a jak byla data sesbírána</a:t>
            </a:r>
          </a:p>
          <a:p>
            <a:r>
              <a:rPr sz="1600" i="1"/>
              <a:t>Pravidlo: když použijete cizí data, vždy uveďte zdroj a licenci – stejně jako u citace textu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pic>
        <p:nvPicPr>
          <p:cNvPr id="902" name="Picture 901" descr="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691640"/>
            <a:ext cx="274320" cy="274320"/>
          </a:xfrm>
          <a:prstGeom prst="rect">
            <a:avLst/>
          </a:prstGeom>
        </p:spPr>
      </p:pic>
      <p:sp>
        <p:nvSpPr>
          <p:cNvPr id="903" name="TextBox 902"/>
          <p:cNvSpPr txBox="1"/>
          <p:nvPr/>
        </p:nvSpPr>
        <p:spPr>
          <a:xfrm>
            <a:off x="6867144" y="1673352"/>
            <a:ext cx="2286000" cy="31089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ŠPATNĚ</a:t>
            </a:r>
          </a:p>
        </p:txBody>
      </p:sp>
      <p:pic>
        <p:nvPicPr>
          <p:cNvPr id="904" name="Picture 903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1691640"/>
            <a:ext cx="274320" cy="274320"/>
          </a:xfrm>
          <a:prstGeom prst="rect">
            <a:avLst/>
          </a:prstGeom>
        </p:spPr>
      </p:pic>
      <p:sp>
        <p:nvSpPr>
          <p:cNvPr id="905" name="TextBox 904"/>
          <p:cNvSpPr txBox="1"/>
          <p:nvPr/>
        </p:nvSpPr>
        <p:spPr>
          <a:xfrm>
            <a:off x="9518904" y="1673352"/>
            <a:ext cx="2286000" cy="31089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200" b="1" i="0">
                <a:solidFill>
                  <a:srgbClr val="2E9E4F"/>
                </a:solidFill>
                <a:latin typeface="Arial"/>
              </a:rPr>
              <a:t>SPRÁVNĚ</a:t>
            </a:r>
          </a:p>
        </p:txBody>
      </p:sp>
      <p:cxnSp>
        <p:nvCxnSpPr>
          <p:cNvPr id="906" name="Connector 905"/>
          <p:cNvCxnSpPr/>
          <p:nvPr/>
        </p:nvCxnSpPr>
        <p:spPr>
          <a:xfrm>
            <a:off x="9052560" y="1691640"/>
            <a:ext cx="0" cy="384048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7" name="Connector 906"/>
          <p:cNvCxnSpPr/>
          <p:nvPr/>
        </p:nvCxnSpPr>
        <p:spPr>
          <a:xfrm>
            <a:off x="6400800" y="2103120"/>
            <a:ext cx="5303520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8" name="TextBox 907"/>
          <p:cNvSpPr txBox="1"/>
          <p:nvPr/>
        </p:nvSpPr>
        <p:spPr>
          <a:xfrm>
            <a:off x="6492240" y="2194560"/>
            <a:ext cx="2468879" cy="7315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300" b="1" i="0">
                <a:solidFill>
                  <a:srgbClr val="333333"/>
                </a:solidFill>
                <a:latin typeface="Arial"/>
              </a:rPr>
              <a:t>Tabulka jako obrázek nebo sken v PDF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9144000" y="2194560"/>
            <a:ext cx="2468879" cy="7315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300" b="1" i="0">
                <a:solidFill>
                  <a:srgbClr val="333333"/>
                </a:solidFill>
                <a:latin typeface="Arial"/>
              </a:rPr>
              <a:t>Soubor CSV / XLSX ke stažení</a:t>
            </a:r>
          </a:p>
        </p:txBody>
      </p:sp>
      <p:cxnSp>
        <p:nvCxnSpPr>
          <p:cNvPr id="910" name="Connector 909"/>
          <p:cNvCxnSpPr/>
          <p:nvPr/>
        </p:nvCxnSpPr>
        <p:spPr>
          <a:xfrm>
            <a:off x="6400800" y="2990088"/>
            <a:ext cx="530352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1" name="TextBox 910"/>
          <p:cNvSpPr txBox="1"/>
          <p:nvPr/>
        </p:nvSpPr>
        <p:spPr>
          <a:xfrm>
            <a:off x="6492240" y="3035808"/>
            <a:ext cx="2468879" cy="7315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300" b="1" i="0">
                <a:solidFill>
                  <a:srgbClr val="333333"/>
                </a:solidFill>
                <a:latin typeface="Arial"/>
              </a:rPr>
              <a:t>Licence nikde neuvedena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9144000" y="3035808"/>
            <a:ext cx="2468879" cy="7315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300" b="1" i="0">
                <a:solidFill>
                  <a:srgbClr val="333333"/>
                </a:solidFill>
                <a:latin typeface="Arial"/>
              </a:rPr>
              <a:t>Licence CC BY 4.0</a:t>
            </a:r>
          </a:p>
        </p:txBody>
      </p:sp>
      <p:cxnSp>
        <p:nvCxnSpPr>
          <p:cNvPr id="913" name="Connector 912"/>
          <p:cNvCxnSpPr/>
          <p:nvPr/>
        </p:nvCxnSpPr>
        <p:spPr>
          <a:xfrm>
            <a:off x="6400800" y="3831336"/>
            <a:ext cx="530352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4" name="TextBox 913"/>
          <p:cNvSpPr txBox="1"/>
          <p:nvPr/>
        </p:nvSpPr>
        <p:spPr>
          <a:xfrm>
            <a:off x="6492240" y="3877056"/>
            <a:ext cx="2468879" cy="7315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300" b="1" i="0">
                <a:solidFill>
                  <a:srgbClr val="333333"/>
                </a:solidFill>
                <a:latin typeface="Arial"/>
              </a:rPr>
              <a:t>Neznámé datum a způsob sběru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9144000" y="3877056"/>
            <a:ext cx="2468879" cy="7315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300" b="1" i="0">
                <a:solidFill>
                  <a:srgbClr val="333333"/>
                </a:solidFill>
                <a:latin typeface="Arial"/>
              </a:rPr>
              <a:t>Datum aktualizace a popsaná metodika</a:t>
            </a:r>
          </a:p>
        </p:txBody>
      </p:sp>
      <p:cxnSp>
        <p:nvCxnSpPr>
          <p:cNvPr id="916" name="Connector 915"/>
          <p:cNvCxnSpPr/>
          <p:nvPr/>
        </p:nvCxnSpPr>
        <p:spPr>
          <a:xfrm>
            <a:off x="6400800" y="4672584"/>
            <a:ext cx="530352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7" name="TextBox 916"/>
          <p:cNvSpPr txBox="1"/>
          <p:nvPr/>
        </p:nvSpPr>
        <p:spPr>
          <a:xfrm>
            <a:off x="6492240" y="4718304"/>
            <a:ext cx="2468879" cy="7315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300" b="1" i="0">
                <a:solidFill>
                  <a:srgbClr val="333333"/>
                </a:solidFill>
                <a:latin typeface="Arial"/>
              </a:rPr>
              <a:t>Data jen „na vyžádání“</a:t>
            </a:r>
          </a:p>
        </p:txBody>
      </p:sp>
      <p:sp>
        <p:nvSpPr>
          <p:cNvPr id="918" name="TextBox 917"/>
          <p:cNvSpPr txBox="1"/>
          <p:nvPr/>
        </p:nvSpPr>
        <p:spPr>
          <a:xfrm>
            <a:off x="9144000" y="4718304"/>
            <a:ext cx="2468879" cy="7315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300" b="1" i="0">
                <a:solidFill>
                  <a:srgbClr val="333333"/>
                </a:solidFill>
                <a:latin typeface="Arial"/>
              </a:rPr>
              <a:t>Volně ke stažení, bez registrace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1 · Kde hledat důvěryhodná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i="0"/>
              <a:t>Oficiální zdroje uvádějí metodiku, datum aktualizace i licenci</a:t>
            </a:r>
          </a:p>
          <a:p>
            <a:r>
              <a:rPr sz="1800" i="0"/>
              <a:t>Hledejte formát CSV nebo XLSX – s ním budeme pracovat v Excelu</a:t>
            </a:r>
          </a:p>
          <a:p>
            <a:r>
              <a:rPr sz="1800" i="0"/>
              <a:t>Zadání pro úroveň 3 pracuje přesně s tímto typem zdrojů (min. 50 záznamů)</a:t>
            </a:r>
          </a:p>
          <a:p>
            <a:pPr>
              <a:buNone/>
            </a:pPr>
            <a:endParaRPr sz="1800" i="0"/>
          </a:p>
          <a:p>
            <a:r>
              <a:rPr sz="1800" i="1"/>
              <a:t>Kde jste naposledy viděli číslo bez uvedeného zdroje?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1664207" cy="329184"/>
          </a:xfrm>
          <a:prstGeom prst="roundRect">
            <a:avLst>
              <a:gd name="adj" fmla="val 16666"/>
            </a:avLst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OVĚŘENÉ ZDROJE</a:t>
            </a:r>
          </a:p>
        </p:txBody>
      </p:sp>
      <p:sp>
        <p:nvSpPr>
          <p:cNvPr id="903" name="Rounded Rectangle 902"/>
          <p:cNvSpPr/>
          <p:nvPr/>
        </p:nvSpPr>
        <p:spPr>
          <a:xfrm>
            <a:off x="6400800" y="2240280"/>
            <a:ext cx="2542032" cy="1508760"/>
          </a:xfrm>
          <a:prstGeom prst="roundRect">
            <a:avLst>
              <a:gd name="adj" fmla="val 606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04" name="Picture 903" descr="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23160"/>
            <a:ext cx="347472" cy="347472"/>
          </a:xfrm>
          <a:prstGeom prst="rect">
            <a:avLst/>
          </a:prstGeom>
        </p:spPr>
      </p:pic>
      <p:sp>
        <p:nvSpPr>
          <p:cNvPr id="905" name="TextBox 904"/>
          <p:cNvSpPr txBox="1"/>
          <p:nvPr/>
        </p:nvSpPr>
        <p:spPr>
          <a:xfrm>
            <a:off x="7004304" y="2404872"/>
            <a:ext cx="1874519" cy="38404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400" b="1" i="0">
                <a:solidFill>
                  <a:srgbClr val="ED6845"/>
                </a:solidFill>
                <a:latin typeface="Arial"/>
              </a:rPr>
              <a:t>data.gov.cz</a:t>
            </a:r>
          </a:p>
        </p:txBody>
      </p:sp>
      <p:sp>
        <p:nvSpPr>
          <p:cNvPr id="906" name="TextBox 905"/>
          <p:cNvSpPr txBox="1"/>
          <p:nvPr/>
        </p:nvSpPr>
        <p:spPr>
          <a:xfrm>
            <a:off x="6510528" y="2862072"/>
            <a:ext cx="2340864" cy="8229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Národní katalog otevřených dat ČR – vše od dopravy po rozpočty</a:t>
            </a:r>
          </a:p>
        </p:txBody>
      </p:sp>
      <p:sp>
        <p:nvSpPr>
          <p:cNvPr id="907" name="Rounded Rectangle 906"/>
          <p:cNvSpPr/>
          <p:nvPr/>
        </p:nvSpPr>
        <p:spPr>
          <a:xfrm>
            <a:off x="9125712" y="2240280"/>
            <a:ext cx="2542032" cy="1508760"/>
          </a:xfrm>
          <a:prstGeom prst="roundRect">
            <a:avLst>
              <a:gd name="adj" fmla="val 606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08" name="Picture 907" descr="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592" y="2423160"/>
            <a:ext cx="347472" cy="347472"/>
          </a:xfrm>
          <a:prstGeom prst="rect">
            <a:avLst/>
          </a:prstGeom>
        </p:spPr>
      </p:pic>
      <p:sp>
        <p:nvSpPr>
          <p:cNvPr id="909" name="TextBox 908"/>
          <p:cNvSpPr txBox="1"/>
          <p:nvPr/>
        </p:nvSpPr>
        <p:spPr>
          <a:xfrm>
            <a:off x="9729216" y="2404872"/>
            <a:ext cx="1874519" cy="38404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400" b="1" i="0">
                <a:solidFill>
                  <a:srgbClr val="ED6845"/>
                </a:solidFill>
                <a:latin typeface="Arial"/>
              </a:rPr>
              <a:t>ČSÚ (czso.cz)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9235440" y="2862072"/>
            <a:ext cx="2340864" cy="8229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Český statistický úřad – demografie, ekonomika, ceny</a:t>
            </a:r>
          </a:p>
        </p:txBody>
      </p:sp>
      <p:sp>
        <p:nvSpPr>
          <p:cNvPr id="911" name="Rounded Rectangle 910"/>
          <p:cNvSpPr/>
          <p:nvPr/>
        </p:nvSpPr>
        <p:spPr>
          <a:xfrm>
            <a:off x="6400800" y="3931920"/>
            <a:ext cx="2542032" cy="1508760"/>
          </a:xfrm>
          <a:prstGeom prst="roundRect">
            <a:avLst>
              <a:gd name="adj" fmla="val 606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12" name="Picture 911" descr="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4114800"/>
            <a:ext cx="347472" cy="347472"/>
          </a:xfrm>
          <a:prstGeom prst="rect">
            <a:avLst/>
          </a:prstGeom>
        </p:spPr>
      </p:pic>
      <p:sp>
        <p:nvSpPr>
          <p:cNvPr id="913" name="TextBox 912"/>
          <p:cNvSpPr txBox="1"/>
          <p:nvPr/>
        </p:nvSpPr>
        <p:spPr>
          <a:xfrm>
            <a:off x="7004304" y="4096512"/>
            <a:ext cx="1874519" cy="38404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400" b="1" i="0">
                <a:solidFill>
                  <a:srgbClr val="ED6845"/>
                </a:solidFill>
                <a:latin typeface="Arial"/>
              </a:rPr>
              <a:t>datakhk.cz</a:t>
            </a:r>
          </a:p>
        </p:txBody>
      </p:sp>
      <p:sp>
        <p:nvSpPr>
          <p:cNvPr id="914" name="TextBox 913"/>
          <p:cNvSpPr txBox="1"/>
          <p:nvPr/>
        </p:nvSpPr>
        <p:spPr>
          <a:xfrm>
            <a:off x="6510528" y="4553712"/>
            <a:ext cx="2340864" cy="8229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Otevřená data Královéhradeckého kraje – regionální statistiky</a:t>
            </a:r>
          </a:p>
        </p:txBody>
      </p:sp>
      <p:sp>
        <p:nvSpPr>
          <p:cNvPr id="915" name="Rounded Rectangle 914"/>
          <p:cNvSpPr/>
          <p:nvPr/>
        </p:nvSpPr>
        <p:spPr>
          <a:xfrm>
            <a:off x="9125712" y="3931920"/>
            <a:ext cx="2542032" cy="1508760"/>
          </a:xfrm>
          <a:prstGeom prst="roundRect">
            <a:avLst>
              <a:gd name="adj" fmla="val 606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16" name="Picture 915" descr="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592" y="4114800"/>
            <a:ext cx="347472" cy="347472"/>
          </a:xfrm>
          <a:prstGeom prst="rect">
            <a:avLst/>
          </a:prstGeom>
        </p:spPr>
      </p:pic>
      <p:sp>
        <p:nvSpPr>
          <p:cNvPr id="917" name="TextBox 916"/>
          <p:cNvSpPr txBox="1"/>
          <p:nvPr/>
        </p:nvSpPr>
        <p:spPr>
          <a:xfrm>
            <a:off x="9729216" y="4096512"/>
            <a:ext cx="1874519" cy="38404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400" b="1" i="0">
                <a:solidFill>
                  <a:srgbClr val="ED6845"/>
                </a:solidFill>
                <a:latin typeface="Arial"/>
              </a:rPr>
              <a:t>Eurostat</a:t>
            </a:r>
          </a:p>
        </p:txBody>
      </p:sp>
      <p:sp>
        <p:nvSpPr>
          <p:cNvPr id="918" name="TextBox 917"/>
          <p:cNvSpPr txBox="1"/>
          <p:nvPr/>
        </p:nvSpPr>
        <p:spPr>
          <a:xfrm>
            <a:off x="9235440" y="4553712"/>
            <a:ext cx="2340864" cy="8229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Statistický úřad EU – srovnání napříč členskými státy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2 · Než data otevřete v Excelu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440680" cy="3931920"/>
          </a:xfrm>
        </p:spPr>
        <p:txBody>
          <a:bodyPr/>
          <a:lstStyle/>
          <a:p>
            <a:r>
              <a:rPr sz="1600" b="1"/>
              <a:t>CSV </a:t>
            </a:r>
            <a:r>
              <a:rPr sz="1600"/>
              <a:t>= prostý text: řádek je záznam, hodnoty odděluje čárka nebo středník</a:t>
            </a:r>
          </a:p>
          <a:p>
            <a:r>
              <a:rPr sz="1600" i="0"/>
              <a:t>Česky nastavený Excel čeká středník a desetinnou čárku – zahraniční data mívají čárku a tečku</a:t>
            </a:r>
          </a:p>
          <a:p>
            <a:r>
              <a:rPr sz="1600" b="1"/>
              <a:t>Kódování: </a:t>
            </a:r>
            <a:r>
              <a:rPr sz="1600"/>
              <a:t>bez UTF-8 se z „ř“ stane „Å™“</a:t>
            </a:r>
          </a:p>
          <a:p>
            <a:r>
              <a:rPr sz="1600" b="1"/>
              <a:t>Tip: </a:t>
            </a:r>
            <a:r>
              <a:rPr sz="1600"/>
              <a:t>soubor načtěte přes Data → Z textu/CSV, ne dvojklikem – uvidíte náhled a nastavíte oddělovač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1952243" cy="329184"/>
          </a:xfrm>
          <a:prstGeom prst="roundRect">
            <a:avLst>
              <a:gd name="adj" fmla="val 16666"/>
            </a:avLst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SOUBOR ZNAMKY.CSV</a:t>
            </a:r>
          </a:p>
        </p:txBody>
      </p:sp>
      <p:sp>
        <p:nvSpPr>
          <p:cNvPr id="903" name="Rounded Rectangle 902"/>
          <p:cNvSpPr/>
          <p:nvPr/>
        </p:nvSpPr>
        <p:spPr>
          <a:xfrm>
            <a:off x="6400800" y="2148840"/>
            <a:ext cx="5303520" cy="1097280"/>
          </a:xfrm>
          <a:prstGeom prst="roundRect">
            <a:avLst>
              <a:gd name="adj" fmla="val 6666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0" i="0">
                <a:solidFill>
                  <a:srgbClr val="F2F2F2"/>
                </a:solidFill>
                <a:latin typeface="Courier New"/>
              </a:rPr>
              <a:t>zak,trida,body,prumer</a:t>
            </a:r>
          </a:p>
          <a:p>
            <a:pPr algn="l"/>
            <a:r>
              <a:rPr sz="1300" b="0" i="0">
                <a:solidFill>
                  <a:srgbClr val="F2F2F2"/>
                </a:solidFill>
                <a:latin typeface="Courier New"/>
              </a:rPr>
              <a:t>Žák 01,2.L,18,1.84</a:t>
            </a:r>
          </a:p>
          <a:p>
            <a:pPr algn="l"/>
            <a:r>
              <a:rPr sz="1300" b="0" i="0">
                <a:solidFill>
                  <a:srgbClr val="F2F2F2"/>
                </a:solidFill>
                <a:latin typeface="Courier New"/>
              </a:rPr>
              <a:t>Žák 02,2.L,15,2.30</a:t>
            </a:r>
          </a:p>
        </p:txBody>
      </p:sp>
      <p:pic>
        <p:nvPicPr>
          <p:cNvPr id="904" name="Picture 903" descr="arrow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968" y="3319272"/>
            <a:ext cx="329184" cy="329184"/>
          </a:xfrm>
          <a:prstGeom prst="rect">
            <a:avLst/>
          </a:prstGeom>
        </p:spPr>
      </p:pic>
      <p:pic>
        <p:nvPicPr>
          <p:cNvPr id="905" name="Picture 904" descr="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703320"/>
            <a:ext cx="274320" cy="274320"/>
          </a:xfrm>
          <a:prstGeom prst="rect">
            <a:avLst/>
          </a:prstGeom>
        </p:spPr>
      </p:pic>
      <p:sp>
        <p:nvSpPr>
          <p:cNvPr id="906" name="TextBox 905"/>
          <p:cNvSpPr txBox="1"/>
          <p:nvPr/>
        </p:nvSpPr>
        <p:spPr>
          <a:xfrm>
            <a:off x="6729984" y="3685032"/>
            <a:ext cx="2194560" cy="31089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ŠPATNĚ</a:t>
            </a:r>
          </a:p>
        </p:txBody>
      </p:sp>
      <p:graphicFrame>
        <p:nvGraphicFramePr>
          <p:cNvPr id="907" name="Table 906"/>
          <p:cNvGraphicFramePr>
            <a:graphicFrameLocks noGrp="1"/>
          </p:cNvGraphicFramePr>
          <p:nvPr/>
        </p:nvGraphicFramePr>
        <p:xfrm>
          <a:off x="6400800" y="4069080"/>
          <a:ext cx="2514600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E7868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E7E6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zak,trida,body,prumer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Žák 01,2.L,18,1.84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08" name="TextBox 907"/>
          <p:cNvSpPr txBox="1"/>
          <p:nvPr/>
        </p:nvSpPr>
        <p:spPr>
          <a:xfrm>
            <a:off x="6400800" y="5166360"/>
            <a:ext cx="251460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100" b="0" i="0">
                <a:solidFill>
                  <a:srgbClr val="6E7868"/>
                </a:solidFill>
                <a:latin typeface="Arial"/>
              </a:rPr>
              <a:t>Vše v jednom sloupci, 1.84 je text</a:t>
            </a:r>
          </a:p>
        </p:txBody>
      </p:sp>
      <p:pic>
        <p:nvPicPr>
          <p:cNvPr id="909" name="Picture 908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0" y="3703320"/>
            <a:ext cx="274320" cy="274320"/>
          </a:xfrm>
          <a:prstGeom prst="rect">
            <a:avLst/>
          </a:prstGeom>
        </p:spPr>
      </p:pic>
      <p:sp>
        <p:nvSpPr>
          <p:cNvPr id="910" name="TextBox 909"/>
          <p:cNvSpPr txBox="1"/>
          <p:nvPr/>
        </p:nvSpPr>
        <p:spPr>
          <a:xfrm>
            <a:off x="9518904" y="3685032"/>
            <a:ext cx="2194560" cy="31089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200" b="1" i="0">
                <a:solidFill>
                  <a:srgbClr val="2E9E4F"/>
                </a:solidFill>
                <a:latin typeface="Arial"/>
              </a:rPr>
              <a:t>SPRÁVNĚ</a:t>
            </a:r>
          </a:p>
        </p:txBody>
      </p:sp>
      <p:graphicFrame>
        <p:nvGraphicFramePr>
          <p:cNvPr id="911" name="Table 910"/>
          <p:cNvGraphicFramePr>
            <a:graphicFrameLocks noGrp="1"/>
          </p:cNvGraphicFramePr>
          <p:nvPr/>
        </p:nvGraphicFramePr>
        <p:xfrm>
          <a:off x="9189720" y="4069080"/>
          <a:ext cx="2514600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E7868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E7E6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E7868"/>
                          </a:solidFill>
                          <a:latin typeface="Arial"/>
                        </a:rPr>
                        <a:t>B</a:t>
                      </a:r>
                    </a:p>
                  </a:txBody>
                  <a:tcPr marL="73152" marR="73152" marT="27432" marB="27432" anchor="ctr">
                    <a:solidFill>
                      <a:srgbClr val="E7E6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E7868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73152" marR="73152" marT="27432" marB="27432" anchor="ctr">
                    <a:solidFill>
                      <a:srgbClr val="E7E6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E7868"/>
                          </a:solidFill>
                          <a:latin typeface="Arial"/>
                        </a:rPr>
                        <a:t>D</a:t>
                      </a:r>
                    </a:p>
                  </a:txBody>
                  <a:tcPr marL="73152" marR="73152" marT="27432" marB="27432" anchor="ctr">
                    <a:solidFill>
                      <a:srgbClr val="E7E6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zak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trida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body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prumer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Žák 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2.L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1,84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12" name="TextBox 911"/>
          <p:cNvSpPr txBox="1"/>
          <p:nvPr/>
        </p:nvSpPr>
        <p:spPr>
          <a:xfrm>
            <a:off x="9189720" y="5166360"/>
            <a:ext cx="251460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100" b="0" i="0">
                <a:solidFill>
                  <a:srgbClr val="6E7868"/>
                </a:solidFill>
                <a:latin typeface="Arial"/>
              </a:rPr>
              <a:t>Každá hodnota ve svém sloupci, 1,84 je číslo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2 · Pravidla čisté tabulky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440680" cy="3931920"/>
          </a:xfrm>
        </p:spPr>
        <p:txBody>
          <a:bodyPr/>
          <a:lstStyle/>
          <a:p>
            <a:r>
              <a:rPr sz="1600" i="0"/>
              <a:t>Jeden řádek = jeden záznam, jeden sloupec = jedna vlastnost</a:t>
            </a:r>
          </a:p>
          <a:p>
            <a:r>
              <a:rPr sz="1600" i="0"/>
              <a:t>Jediný řádek záhlaví, žádné sloučené buňky</a:t>
            </a:r>
          </a:p>
          <a:p>
            <a:r>
              <a:rPr sz="1600" i="0"/>
              <a:t>Jednotky patří do záhlaví, v buňce je jen číslo</a:t>
            </a:r>
          </a:p>
          <a:p>
            <a:r>
              <a:rPr sz="1600" i="0"/>
              <a:t>Žádné prázdné řádky, mezisoučty ani poznámky uvnitř dat</a:t>
            </a:r>
          </a:p>
          <a:p>
            <a:r>
              <a:rPr sz="1600" i="0"/>
              <a:t>Jednotný zápis – vždy „2.L“, ne jednou „2.L“ a podruhé „2L“</a:t>
            </a:r>
          </a:p>
          <a:p>
            <a:r>
              <a:rPr sz="1600" i="1"/>
              <a:t>Takovou tabulku pak Excel umí seřadit, filtrovat i převést do grafu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pic>
        <p:nvPicPr>
          <p:cNvPr id="902" name="Picture 901" descr="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737360"/>
            <a:ext cx="274320" cy="274320"/>
          </a:xfrm>
          <a:prstGeom prst="rect">
            <a:avLst/>
          </a:prstGeom>
        </p:spPr>
      </p:pic>
      <p:sp>
        <p:nvSpPr>
          <p:cNvPr id="903" name="TextBox 902"/>
          <p:cNvSpPr txBox="1"/>
          <p:nvPr/>
        </p:nvSpPr>
        <p:spPr>
          <a:xfrm>
            <a:off x="6729984" y="1719072"/>
            <a:ext cx="2194560" cy="31089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ŠPATNĚ</a:t>
            </a:r>
          </a:p>
        </p:txBody>
      </p:sp>
      <p:graphicFrame>
        <p:nvGraphicFramePr>
          <p:cNvPr id="904" name="Table 903"/>
          <p:cNvGraphicFramePr>
            <a:graphicFrameLocks noGrp="1"/>
          </p:cNvGraphicFramePr>
          <p:nvPr/>
        </p:nvGraphicFramePr>
        <p:xfrm>
          <a:off x="6400800" y="2148840"/>
          <a:ext cx="251460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 gridSpan="3"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Test z DMG – říjen</a:t>
                      </a:r>
                    </a:p>
                  </a:txBody>
                  <a:tcPr marL="73152" marR="73152" marT="27432" marB="27432" anchor="ctr">
                    <a:solidFill>
                      <a:srgbClr val="E7E6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3152" marR="73152" marT="27432" marB="27432" anchor="ctr">
                    <a:solidFill>
                      <a:srgbClr val="E7E6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3152" marR="73152" marT="27432" marB="27432" anchor="ctr">
                    <a:solidFill>
                      <a:srgbClr val="E7E6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Žák 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2.L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18 bodů</a:t>
                      </a:r>
                    </a:p>
                  </a:txBody>
                  <a:tcPr marL="73152" marR="73152" marT="27432" marB="27432" anchor="ctr">
                    <a:solidFill>
                      <a:srgbClr val="FADB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Žák 02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2L</a:t>
                      </a:r>
                    </a:p>
                  </a:txBody>
                  <a:tcPr marL="73152" marR="73152" marT="27432" marB="27432" anchor="ctr"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27432" marB="27432" anchor="ctr"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27432" marB="27432" anchor="ctr"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27432" marB="27432" anchor="ctr">
                    <a:solidFill>
                      <a:srgbClr val="FADB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Celkem</a:t>
                      </a:r>
                    </a:p>
                  </a:txBody>
                  <a:tcPr marL="73152" marR="73152" marT="27432" marB="27432" anchor="ctr"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27432" marB="27432" anchor="ctr"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73152" marR="73152" marT="27432" marB="27432" anchor="ctr">
                    <a:solidFill>
                      <a:srgbClr val="FADB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05" name="TextBox 904"/>
          <p:cNvSpPr txBox="1"/>
          <p:nvPr/>
        </p:nvSpPr>
        <p:spPr>
          <a:xfrm>
            <a:off x="6400800" y="4160520"/>
            <a:ext cx="2514600" cy="1463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D9342B"/>
                </a:solidFill>
                <a:latin typeface="Arial"/>
              </a:rPr>
              <a:t>Sloučené záhlaví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D9342B"/>
                </a:solidFill>
                <a:latin typeface="Arial"/>
              </a:rPr>
              <a:t>Jednotka v buňce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D9342B"/>
                </a:solidFill>
                <a:latin typeface="Arial"/>
              </a:rPr>
              <a:t>Nejednotný zápis „2L“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D9342B"/>
                </a:solidFill>
                <a:latin typeface="Arial"/>
              </a:rPr>
              <a:t>Prázdný řádek a mezisoučet</a:t>
            </a:r>
          </a:p>
        </p:txBody>
      </p:sp>
      <p:pic>
        <p:nvPicPr>
          <p:cNvPr id="906" name="Picture 905" descr="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1737360"/>
            <a:ext cx="274320" cy="274320"/>
          </a:xfrm>
          <a:prstGeom prst="rect">
            <a:avLst/>
          </a:prstGeom>
        </p:spPr>
      </p:pic>
      <p:sp>
        <p:nvSpPr>
          <p:cNvPr id="907" name="TextBox 906"/>
          <p:cNvSpPr txBox="1"/>
          <p:nvPr/>
        </p:nvSpPr>
        <p:spPr>
          <a:xfrm>
            <a:off x="9518904" y="1719072"/>
            <a:ext cx="2194560" cy="31089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200" b="1" i="0">
                <a:solidFill>
                  <a:srgbClr val="2E9E4F"/>
                </a:solidFill>
                <a:latin typeface="Arial"/>
              </a:rPr>
              <a:t>SPRÁVNĚ</a:t>
            </a:r>
          </a:p>
        </p:txBody>
      </p:sp>
      <p:graphicFrame>
        <p:nvGraphicFramePr>
          <p:cNvPr id="908" name="Table 907"/>
          <p:cNvGraphicFramePr>
            <a:graphicFrameLocks noGrp="1"/>
          </p:cNvGraphicFramePr>
          <p:nvPr/>
        </p:nvGraphicFramePr>
        <p:xfrm>
          <a:off x="9189720" y="2148840"/>
          <a:ext cx="2514600" cy="11521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Žák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Třída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Body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Žák 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2.L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Žák 02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2.L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09" name="TextBox 908"/>
          <p:cNvSpPr txBox="1"/>
          <p:nvPr/>
        </p:nvSpPr>
        <p:spPr>
          <a:xfrm>
            <a:off x="9189720" y="3383280"/>
            <a:ext cx="2514600" cy="1463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E9E4F"/>
                </a:solidFill>
                <a:latin typeface="Arial"/>
              </a:rPr>
              <a:t>Jedno záhlaví, jednotka v názvu sloupce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E9E4F"/>
                </a:solidFill>
                <a:latin typeface="Arial"/>
              </a:rPr>
              <a:t>Součet spočítá vzorec =SUMA(C2:C3) mimo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3 · Přímé vs. nepřímé identifikátory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1"/>
              <a:t>Přímé </a:t>
            </a:r>
            <a:r>
              <a:rPr sz="1800"/>
              <a:t>identifikátory samy o sobě jednoznačně určí konkrétní osobu</a:t>
            </a:r>
          </a:p>
          <a:p>
            <a:r>
              <a:rPr sz="1800" b="1"/>
              <a:t>Nepřímé </a:t>
            </a:r>
            <a:r>
              <a:rPr sz="1800"/>
              <a:t>samy o sobě neškodí – v kombinaci ale osobu identifikují</a:t>
            </a:r>
          </a:p>
          <a:p>
            <a:r>
              <a:rPr sz="1800" i="0"/>
              <a:t>Anonymizace = odstranit přímé a ohlídat kombinace nepřímých</a:t>
            </a:r>
          </a:p>
          <a:p>
            <a:pPr>
              <a:buNone/>
            </a:pPr>
            <a:endParaRPr sz="1800" i="0"/>
          </a:p>
          <a:p>
            <a:r>
              <a:rPr sz="1800" i="1"/>
              <a:t>Kolik lidí ve škole odpovídá popisu „dívka, 17 let, technické lyceum, hraje na violu“?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2560320" cy="3840480"/>
          </a:xfrm>
          <a:prstGeom prst="roundRect">
            <a:avLst>
              <a:gd name="adj" fmla="val 3571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3" name="Rounded Rectangle 902"/>
          <p:cNvSpPr/>
          <p:nvPr/>
        </p:nvSpPr>
        <p:spPr>
          <a:xfrm>
            <a:off x="6583680" y="1874519"/>
            <a:ext cx="2194560" cy="329184"/>
          </a:xfrm>
          <a:prstGeom prst="roundRect">
            <a:avLst>
              <a:gd name="adj" fmla="val 16666"/>
            </a:avLst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PŘÍMÉ IDENTIFIKÁTORY</a:t>
            </a:r>
          </a:p>
        </p:txBody>
      </p:sp>
      <p:sp>
        <p:nvSpPr>
          <p:cNvPr id="904" name="Rounded Rectangle 903"/>
          <p:cNvSpPr/>
          <p:nvPr/>
        </p:nvSpPr>
        <p:spPr>
          <a:xfrm>
            <a:off x="6583680" y="2468880"/>
            <a:ext cx="21945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5" name="TextBox 904"/>
          <p:cNvSpPr txBox="1"/>
          <p:nvPr/>
        </p:nvSpPr>
        <p:spPr>
          <a:xfrm>
            <a:off x="6583680" y="2468880"/>
            <a:ext cx="2194560" cy="56692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Jméno a příjmení</a:t>
            </a:r>
          </a:p>
        </p:txBody>
      </p:sp>
      <p:sp>
        <p:nvSpPr>
          <p:cNvPr id="906" name="Rounded Rectangle 905"/>
          <p:cNvSpPr/>
          <p:nvPr/>
        </p:nvSpPr>
        <p:spPr>
          <a:xfrm>
            <a:off x="6583680" y="3200400"/>
            <a:ext cx="21945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7" name="TextBox 906"/>
          <p:cNvSpPr txBox="1"/>
          <p:nvPr/>
        </p:nvSpPr>
        <p:spPr>
          <a:xfrm>
            <a:off x="6583680" y="3200400"/>
            <a:ext cx="2194560" cy="56692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Rodné číslo</a:t>
            </a:r>
          </a:p>
        </p:txBody>
      </p:sp>
      <p:sp>
        <p:nvSpPr>
          <p:cNvPr id="908" name="Rounded Rectangle 907"/>
          <p:cNvSpPr/>
          <p:nvPr/>
        </p:nvSpPr>
        <p:spPr>
          <a:xfrm>
            <a:off x="6583680" y="3931920"/>
            <a:ext cx="21945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9" name="TextBox 908"/>
          <p:cNvSpPr txBox="1"/>
          <p:nvPr/>
        </p:nvSpPr>
        <p:spPr>
          <a:xfrm>
            <a:off x="6583680" y="3931920"/>
            <a:ext cx="2194560" cy="56692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Číslo OP / pasu</a:t>
            </a:r>
          </a:p>
        </p:txBody>
      </p:sp>
      <p:sp>
        <p:nvSpPr>
          <p:cNvPr id="910" name="Rounded Rectangle 909"/>
          <p:cNvSpPr/>
          <p:nvPr/>
        </p:nvSpPr>
        <p:spPr>
          <a:xfrm>
            <a:off x="6583680" y="4663440"/>
            <a:ext cx="21945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1" name="TextBox 910"/>
          <p:cNvSpPr txBox="1"/>
          <p:nvPr/>
        </p:nvSpPr>
        <p:spPr>
          <a:xfrm>
            <a:off x="6583680" y="4663440"/>
            <a:ext cx="2194560" cy="56692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E-mail, telefon</a:t>
            </a:r>
          </a:p>
        </p:txBody>
      </p:sp>
      <p:sp>
        <p:nvSpPr>
          <p:cNvPr id="912" name="Rounded Rectangle 911"/>
          <p:cNvSpPr/>
          <p:nvPr/>
        </p:nvSpPr>
        <p:spPr>
          <a:xfrm>
            <a:off x="9144000" y="1691640"/>
            <a:ext cx="2560320" cy="3840480"/>
          </a:xfrm>
          <a:prstGeom prst="roundRect">
            <a:avLst>
              <a:gd name="adj" fmla="val 3571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3" name="Rounded Rectangle 912"/>
          <p:cNvSpPr/>
          <p:nvPr/>
        </p:nvSpPr>
        <p:spPr>
          <a:xfrm>
            <a:off x="9326880" y="1874519"/>
            <a:ext cx="2194560" cy="329184"/>
          </a:xfrm>
          <a:prstGeom prst="roundRect">
            <a:avLst>
              <a:gd name="adj" fmla="val 16666"/>
            </a:avLst>
          </a:prstGeom>
          <a:solidFill>
            <a:srgbClr val="6E7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NEPŘÍMÉ IDENTIFIKÁTORY</a:t>
            </a:r>
          </a:p>
        </p:txBody>
      </p:sp>
      <p:sp>
        <p:nvSpPr>
          <p:cNvPr id="914" name="Rounded Rectangle 913"/>
          <p:cNvSpPr/>
          <p:nvPr/>
        </p:nvSpPr>
        <p:spPr>
          <a:xfrm>
            <a:off x="9326880" y="2468880"/>
            <a:ext cx="21945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5" name="TextBox 914"/>
          <p:cNvSpPr txBox="1"/>
          <p:nvPr/>
        </p:nvSpPr>
        <p:spPr>
          <a:xfrm>
            <a:off x="9326880" y="2468880"/>
            <a:ext cx="2194560" cy="56692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Věk + PSČ + povolání</a:t>
            </a:r>
          </a:p>
        </p:txBody>
      </p:sp>
      <p:sp>
        <p:nvSpPr>
          <p:cNvPr id="916" name="Rounded Rectangle 915"/>
          <p:cNvSpPr/>
          <p:nvPr/>
        </p:nvSpPr>
        <p:spPr>
          <a:xfrm>
            <a:off x="9326880" y="3200400"/>
            <a:ext cx="21945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7" name="TextBox 916"/>
          <p:cNvSpPr txBox="1"/>
          <p:nvPr/>
        </p:nvSpPr>
        <p:spPr>
          <a:xfrm>
            <a:off x="9326880" y="3200400"/>
            <a:ext cx="2194560" cy="56692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Datum narození + třída</a:t>
            </a:r>
          </a:p>
        </p:txBody>
      </p:sp>
      <p:sp>
        <p:nvSpPr>
          <p:cNvPr id="918" name="Rounded Rectangle 917"/>
          <p:cNvSpPr/>
          <p:nvPr/>
        </p:nvSpPr>
        <p:spPr>
          <a:xfrm>
            <a:off x="9326880" y="3931920"/>
            <a:ext cx="21945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9" name="TextBox 918"/>
          <p:cNvSpPr txBox="1"/>
          <p:nvPr/>
        </p:nvSpPr>
        <p:spPr>
          <a:xfrm>
            <a:off x="9326880" y="3931920"/>
            <a:ext cx="2194560" cy="56692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Značka a barva auta</a:t>
            </a:r>
          </a:p>
        </p:txBody>
      </p:sp>
      <p:sp>
        <p:nvSpPr>
          <p:cNvPr id="920" name="Rounded Rectangle 919"/>
          <p:cNvSpPr/>
          <p:nvPr/>
        </p:nvSpPr>
        <p:spPr>
          <a:xfrm>
            <a:off x="9326880" y="4663440"/>
            <a:ext cx="21945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1" name="TextBox 920"/>
          <p:cNvSpPr txBox="1"/>
          <p:nvPr/>
        </p:nvSpPr>
        <p:spPr>
          <a:xfrm>
            <a:off x="9326880" y="4663440"/>
            <a:ext cx="2194560" cy="56692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Kombinace vzácných znaků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3 · Příklad: váš vlastní třídní katalog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440680" cy="3931920"/>
          </a:xfrm>
        </p:spPr>
        <p:txBody>
          <a:bodyPr/>
          <a:lstStyle/>
          <a:p>
            <a:r>
              <a:rPr sz="1600" i="0"/>
              <a:t>Katalog z úrovně 2 (jméno, třída, prospěch) chcete zveřejnit jako ukázku práce. Co musí zmizet?</a:t>
            </a:r>
          </a:p>
          <a:p>
            <a:r>
              <a:rPr sz="1600" i="0"/>
              <a:t>Jméno nahradíte kódem, třídu zobecníte na ročník</a:t>
            </a:r>
          </a:p>
          <a:p>
            <a:r>
              <a:rPr sz="1600" b="1"/>
              <a:t>k-anonymita (zjednodušeně): </a:t>
            </a:r>
            <a:r>
              <a:rPr sz="1600"/>
              <a:t>každá kombinace zbylých znaků (ročník, obor, prospěch…) musí ve vzorku sedět aspoň na k lidí – jinak jde osobu i tak dohledat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704088" cy="329184"/>
          </a:xfrm>
          <a:prstGeom prst="roundRect">
            <a:avLst>
              <a:gd name="adj" fmla="val 16666"/>
            </a:avLst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PŘED</a:t>
            </a:r>
          </a:p>
        </p:txBody>
      </p:sp>
      <p:graphicFrame>
        <p:nvGraphicFramePr>
          <p:cNvPr id="903" name="Table 902"/>
          <p:cNvGraphicFramePr>
            <a:graphicFrameLocks noGrp="1"/>
          </p:cNvGraphicFramePr>
          <p:nvPr/>
        </p:nvGraphicFramePr>
        <p:xfrm>
          <a:off x="6400800" y="2103120"/>
          <a:ext cx="5303520" cy="11521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Jméno</a:t>
                      </a:r>
                    </a:p>
                  </a:txBody>
                  <a:tcPr marL="73152" marR="73152" marT="27432" marB="27432" anchor="ctr">
                    <a:solidFill>
                      <a:srgbClr val="5B6E7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Třída</a:t>
                      </a:r>
                    </a:p>
                  </a:txBody>
                  <a:tcPr marL="73152" marR="73152" marT="27432" marB="27432" anchor="ctr">
                    <a:solidFill>
                      <a:srgbClr val="5B6E7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Průměr</a:t>
                      </a:r>
                    </a:p>
                  </a:txBody>
                  <a:tcPr marL="73152" marR="73152" marT="27432" marB="27432" anchor="ctr">
                    <a:solidFill>
                      <a:srgbClr val="5B6E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</a:rPr>
                        <a:t>Jan Novák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</a:rPr>
                        <a:t>2.L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</a:rPr>
                        <a:t>Eva Malá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</a:rPr>
                        <a:t>2.L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904" name="Picture 903" descr="arrow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7968" y="3337560"/>
            <a:ext cx="329184" cy="329184"/>
          </a:xfrm>
          <a:prstGeom prst="rect">
            <a:avLst/>
          </a:prstGeom>
        </p:spPr>
      </p:pic>
      <p:sp>
        <p:nvSpPr>
          <p:cNvPr id="905" name="Rounded Rectangle 904"/>
          <p:cNvSpPr/>
          <p:nvPr/>
        </p:nvSpPr>
        <p:spPr>
          <a:xfrm>
            <a:off x="6400800" y="3703320"/>
            <a:ext cx="1664207" cy="329184"/>
          </a:xfrm>
          <a:prstGeom prst="roundRect">
            <a:avLst>
              <a:gd name="adj" fmla="val 16666"/>
            </a:avLst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PO ANONYMIZACI</a:t>
            </a:r>
          </a:p>
        </p:txBody>
      </p:sp>
      <p:graphicFrame>
        <p:nvGraphicFramePr>
          <p:cNvPr id="906" name="Table 905"/>
          <p:cNvGraphicFramePr>
            <a:graphicFrameLocks noGrp="1"/>
          </p:cNvGraphicFramePr>
          <p:nvPr/>
        </p:nvGraphicFramePr>
        <p:xfrm>
          <a:off x="6400800" y="4114800"/>
          <a:ext cx="5303520" cy="11521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ID žáka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Ročník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Průměr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</a:rPr>
                        <a:t>Žák 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</a:rPr>
                        <a:t>2. ročník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</a:rPr>
                        <a:t>Žák 02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</a:rPr>
                        <a:t>2. ročník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4 · Co je „osobní údaj“?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1"/>
              <a:t>Osobní údaj: </a:t>
            </a:r>
            <a:r>
              <a:rPr sz="1800"/>
              <a:t>cokoliv, co vede k identifikaci konkrétní žijící osoby – přímo i v kombinaci s dalšími údaji</a:t>
            </a:r>
          </a:p>
          <a:p>
            <a:r>
              <a:rPr sz="1800" b="1"/>
              <a:t>Zvláštní kategorie (citlivé údaje): </a:t>
            </a:r>
            <a:r>
              <a:rPr sz="1800"/>
              <a:t>vyžadují vyšší úroveň ochrany – únik má vážnější důsledky</a:t>
            </a:r>
          </a:p>
          <a:p>
            <a:r>
              <a:rPr sz="1800" i="1"/>
              <a:t>Je osobním údajem i vaše přezdívka ve hře?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2560320" cy="3840480"/>
          </a:xfrm>
          <a:prstGeom prst="roundRect">
            <a:avLst>
              <a:gd name="adj" fmla="val 3571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03" name="Picture 902" descr="inf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74519"/>
            <a:ext cx="384048" cy="384048"/>
          </a:xfrm>
          <a:prstGeom prst="rect">
            <a:avLst/>
          </a:prstGeom>
        </p:spPr>
      </p:pic>
      <p:sp>
        <p:nvSpPr>
          <p:cNvPr id="904" name="TextBox 903"/>
          <p:cNvSpPr txBox="1"/>
          <p:nvPr/>
        </p:nvSpPr>
        <p:spPr>
          <a:xfrm>
            <a:off x="7040880" y="1874519"/>
            <a:ext cx="1828800" cy="38404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Arial"/>
              </a:rPr>
              <a:t>Osobní údaj</a:t>
            </a:r>
          </a:p>
        </p:txBody>
      </p:sp>
      <p:cxnSp>
        <p:nvCxnSpPr>
          <p:cNvPr id="905" name="Connector 904"/>
          <p:cNvCxnSpPr/>
          <p:nvPr/>
        </p:nvCxnSpPr>
        <p:spPr>
          <a:xfrm>
            <a:off x="6583680" y="2423160"/>
            <a:ext cx="21945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6" name="TextBox 905"/>
          <p:cNvSpPr txBox="1"/>
          <p:nvPr/>
        </p:nvSpPr>
        <p:spPr>
          <a:xfrm>
            <a:off x="6537960" y="2606040"/>
            <a:ext cx="2286000" cy="28346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0" i="0">
                <a:solidFill>
                  <a:srgbClr val="333333"/>
                </a:solidFill>
                <a:latin typeface="Arial"/>
              </a:rPr>
              <a:t>• Jméno, e-mail, IP adresa</a:t>
            </a:r>
          </a:p>
          <a:p>
            <a:pPr algn="l">
              <a:spcAft>
                <a:spcPts val="1400"/>
              </a:spcAft>
            </a:pPr>
            <a:r>
              <a:rPr sz="1400" b="0" i="0">
                <a:solidFill>
                  <a:srgbClr val="333333"/>
                </a:solidFill>
                <a:latin typeface="Arial"/>
              </a:rPr>
              <a:t>• Fotka s obličejem</a:t>
            </a:r>
          </a:p>
          <a:p>
            <a:pPr algn="l">
              <a:spcAft>
                <a:spcPts val="1400"/>
              </a:spcAft>
            </a:pPr>
            <a:r>
              <a:rPr sz="1400" b="0" i="0">
                <a:solidFill>
                  <a:srgbClr val="333333"/>
                </a:solidFill>
                <a:latin typeface="Arial"/>
              </a:rPr>
              <a:t>• Lokalizační data z mobilu</a:t>
            </a:r>
          </a:p>
        </p:txBody>
      </p:sp>
      <p:sp>
        <p:nvSpPr>
          <p:cNvPr id="907" name="Rounded Rectangle 906"/>
          <p:cNvSpPr/>
          <p:nvPr/>
        </p:nvSpPr>
        <p:spPr>
          <a:xfrm>
            <a:off x="9144000" y="1691640"/>
            <a:ext cx="2560320" cy="3840480"/>
          </a:xfrm>
          <a:prstGeom prst="roundRect">
            <a:avLst>
              <a:gd name="adj" fmla="val 3571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08" name="Picture 907" descr="wa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1874519"/>
            <a:ext cx="384048" cy="384048"/>
          </a:xfrm>
          <a:prstGeom prst="rect">
            <a:avLst/>
          </a:prstGeom>
        </p:spPr>
      </p:pic>
      <p:sp>
        <p:nvSpPr>
          <p:cNvPr id="909" name="TextBox 908"/>
          <p:cNvSpPr txBox="1"/>
          <p:nvPr/>
        </p:nvSpPr>
        <p:spPr>
          <a:xfrm>
            <a:off x="9784080" y="1874519"/>
            <a:ext cx="1828800" cy="38404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Arial"/>
              </a:rPr>
              <a:t>Zvláštní kategorie</a:t>
            </a:r>
          </a:p>
        </p:txBody>
      </p:sp>
      <p:cxnSp>
        <p:nvCxnSpPr>
          <p:cNvPr id="910" name="Connector 909"/>
          <p:cNvCxnSpPr/>
          <p:nvPr/>
        </p:nvCxnSpPr>
        <p:spPr>
          <a:xfrm>
            <a:off x="9326880" y="2423160"/>
            <a:ext cx="21945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1" name="TextBox 910"/>
          <p:cNvSpPr txBox="1"/>
          <p:nvPr/>
        </p:nvSpPr>
        <p:spPr>
          <a:xfrm>
            <a:off x="9281160" y="2606040"/>
            <a:ext cx="2286000" cy="28346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0" i="0">
                <a:solidFill>
                  <a:srgbClr val="333333"/>
                </a:solidFill>
                <a:latin typeface="Arial"/>
              </a:rPr>
              <a:t>• Zdravotní stav</a:t>
            </a:r>
          </a:p>
          <a:p>
            <a:pPr algn="l">
              <a:spcAft>
                <a:spcPts val="1400"/>
              </a:spcAft>
            </a:pPr>
            <a:r>
              <a:rPr sz="1400" b="0" i="0">
                <a:solidFill>
                  <a:srgbClr val="333333"/>
                </a:solidFill>
                <a:latin typeface="Arial"/>
              </a:rPr>
              <a:t>• Politické názory, víra</a:t>
            </a:r>
          </a:p>
          <a:p>
            <a:pPr algn="l">
              <a:spcAft>
                <a:spcPts val="1400"/>
              </a:spcAft>
            </a:pPr>
            <a:r>
              <a:rPr sz="1400" b="0" i="0">
                <a:solidFill>
                  <a:srgbClr val="333333"/>
                </a:solidFill>
                <a:latin typeface="Arial"/>
              </a:rPr>
              <a:t>• Sexuální orientace</a:t>
            </a:r>
          </a:p>
          <a:p>
            <a:pPr algn="l">
              <a:spcAft>
                <a:spcPts val="1400"/>
              </a:spcAft>
            </a:pPr>
            <a:r>
              <a:rPr sz="1400" b="0" i="0">
                <a:solidFill>
                  <a:srgbClr val="333333"/>
                </a:solidFill>
                <a:latin typeface="Arial"/>
              </a:rPr>
              <a:t>• Biometrické údaje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4 · Kdy se GDPR týká i vašeho projektu?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1"/>
              <a:t>Scénář: </a:t>
            </a:r>
            <a:r>
              <a:rPr sz="1800"/>
              <a:t>pro školní projekt sbíráte dotazník mezi spolužáky nebo rodinou – jména, věk, názory</a:t>
            </a:r>
          </a:p>
          <a:p>
            <a:r>
              <a:rPr sz="1800" i="0"/>
              <a:t>Zpracováváte osobní údaje, takže platí pravidla vpravo</a:t>
            </a:r>
          </a:p>
          <a:p>
            <a:pPr>
              <a:buNone/>
            </a:pPr>
            <a:endParaRPr sz="1800" i="0"/>
          </a:p>
          <a:p>
            <a:r>
              <a:rPr sz="1800" i="1"/>
              <a:t>Prošel by tímto testem váš poslední dotazník?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1856231" cy="329184"/>
          </a:xfrm>
          <a:prstGeom prst="roundRect">
            <a:avLst>
              <a:gd name="adj" fmla="val 16666"/>
            </a:avLst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KONTROLNÍ SEZNAM</a:t>
            </a:r>
          </a:p>
        </p:txBody>
      </p:sp>
      <p:sp>
        <p:nvSpPr>
          <p:cNvPr id="903" name="Rounded Rectangle 902"/>
          <p:cNvSpPr/>
          <p:nvPr/>
        </p:nvSpPr>
        <p:spPr>
          <a:xfrm>
            <a:off x="6400800" y="2194560"/>
            <a:ext cx="5303520" cy="731520"/>
          </a:xfrm>
          <a:prstGeom prst="roundRect">
            <a:avLst>
              <a:gd name="adj" fmla="val 10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04" name="Picture 903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404872"/>
            <a:ext cx="310896" cy="310896"/>
          </a:xfrm>
          <a:prstGeom prst="rect">
            <a:avLst/>
          </a:prstGeom>
        </p:spPr>
      </p:pic>
      <p:sp>
        <p:nvSpPr>
          <p:cNvPr id="905" name="TextBox 904"/>
          <p:cNvSpPr txBox="1"/>
          <p:nvPr/>
        </p:nvSpPr>
        <p:spPr>
          <a:xfrm>
            <a:off x="6949440" y="2194560"/>
            <a:ext cx="4663440" cy="7315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Arial"/>
              </a:rPr>
              <a:t>Sbírejte jen to, co opravdu potřebujete </a:t>
            </a:r>
            <a:r>
              <a:rPr sz="1300" b="0" i="0">
                <a:solidFill>
                  <a:srgbClr val="333333"/>
                </a:solidFill>
                <a:latin typeface="Arial"/>
              </a:rPr>
              <a:t>– stačí věk, nebo musíte znát datum narození?</a:t>
            </a:r>
          </a:p>
        </p:txBody>
      </p:sp>
      <p:sp>
        <p:nvSpPr>
          <p:cNvPr id="906" name="Rounded Rectangle 905"/>
          <p:cNvSpPr/>
          <p:nvPr/>
        </p:nvSpPr>
        <p:spPr>
          <a:xfrm>
            <a:off x="6400800" y="3035808"/>
            <a:ext cx="53035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07" name="Picture 906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246120"/>
            <a:ext cx="310896" cy="310896"/>
          </a:xfrm>
          <a:prstGeom prst="rect">
            <a:avLst/>
          </a:prstGeom>
        </p:spPr>
      </p:pic>
      <p:sp>
        <p:nvSpPr>
          <p:cNvPr id="908" name="TextBox 907"/>
          <p:cNvSpPr txBox="1"/>
          <p:nvPr/>
        </p:nvSpPr>
        <p:spPr>
          <a:xfrm>
            <a:off x="6949440" y="3035808"/>
            <a:ext cx="4663440" cy="7315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Arial"/>
              </a:rPr>
              <a:t>Získejte vědomý souhlas </a:t>
            </a:r>
            <a:r>
              <a:rPr sz="1300" b="0" i="0">
                <a:solidFill>
                  <a:srgbClr val="333333"/>
                </a:solidFill>
                <a:latin typeface="Arial"/>
              </a:rPr>
              <a:t>– stačí i jednoduchá věta v dotazníku</a:t>
            </a:r>
          </a:p>
        </p:txBody>
      </p:sp>
      <p:sp>
        <p:nvSpPr>
          <p:cNvPr id="909" name="Rounded Rectangle 908"/>
          <p:cNvSpPr/>
          <p:nvPr/>
        </p:nvSpPr>
        <p:spPr>
          <a:xfrm>
            <a:off x="6400800" y="3877056"/>
            <a:ext cx="5303520" cy="731520"/>
          </a:xfrm>
          <a:prstGeom prst="roundRect">
            <a:avLst>
              <a:gd name="adj" fmla="val 10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10" name="Picture 909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4087368"/>
            <a:ext cx="310896" cy="310896"/>
          </a:xfrm>
          <a:prstGeom prst="rect">
            <a:avLst/>
          </a:prstGeom>
        </p:spPr>
      </p:pic>
      <p:sp>
        <p:nvSpPr>
          <p:cNvPr id="911" name="TextBox 910"/>
          <p:cNvSpPr txBox="1"/>
          <p:nvPr/>
        </p:nvSpPr>
        <p:spPr>
          <a:xfrm>
            <a:off x="6949440" y="3877056"/>
            <a:ext cx="4663440" cy="7315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Arial"/>
              </a:rPr>
              <a:t>Řekněte, k čemu data použijete </a:t>
            </a:r>
            <a:r>
              <a:rPr sz="1300" b="0" i="0">
                <a:solidFill>
                  <a:srgbClr val="333333"/>
                </a:solidFill>
                <a:latin typeface="Arial"/>
              </a:rPr>
              <a:t>a kdo je uvidí (jen vy? učitel? spolužáci u prezentace?)</a:t>
            </a:r>
          </a:p>
        </p:txBody>
      </p:sp>
      <p:sp>
        <p:nvSpPr>
          <p:cNvPr id="912" name="Rounded Rectangle 911"/>
          <p:cNvSpPr/>
          <p:nvPr/>
        </p:nvSpPr>
        <p:spPr>
          <a:xfrm>
            <a:off x="6400800" y="4718304"/>
            <a:ext cx="53035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13" name="Picture 912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4928616"/>
            <a:ext cx="310896" cy="310896"/>
          </a:xfrm>
          <a:prstGeom prst="rect">
            <a:avLst/>
          </a:prstGeom>
        </p:spPr>
      </p:pic>
      <p:sp>
        <p:nvSpPr>
          <p:cNvPr id="914" name="TextBox 913"/>
          <p:cNvSpPr txBox="1"/>
          <p:nvPr/>
        </p:nvSpPr>
        <p:spPr>
          <a:xfrm>
            <a:off x="6949440" y="4718304"/>
            <a:ext cx="4663440" cy="7315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Arial"/>
              </a:rPr>
              <a:t>Zveřejňujete data? </a:t>
            </a:r>
            <a:r>
              <a:rPr sz="1300" b="0" i="0">
                <a:solidFill>
                  <a:srgbClr val="333333"/>
                </a:solidFill>
                <a:latin typeface="Arial"/>
              </a:rPr>
              <a:t>Na GitHubu nebo v prezentaci musí být anonymizovaná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5 · GDPR vs. NDA – často se plete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4937760" cy="3931920"/>
          </a:xfrm>
        </p:spPr>
        <p:txBody>
          <a:bodyPr/>
          <a:lstStyle/>
          <a:p>
            <a:r>
              <a:rPr sz="1800" i="0"/>
              <a:t>GDPR chrání lidi, NDA chrání firmu</a:t>
            </a:r>
          </a:p>
          <a:p>
            <a:r>
              <a:rPr sz="1800" i="0"/>
              <a:t>GDPR platí vždy ze zákona, NDA jen mezi stranami, které ji podepsaly</a:t>
            </a:r>
          </a:p>
          <a:p>
            <a:r>
              <a:rPr sz="1800" i="0"/>
              <a:t>Obojí můžete porušit i nevědomky – třeba sdíleným snímkem obrazovky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graphicFrame>
        <p:nvGraphicFramePr>
          <p:cNvPr id="902" name="Table 901"/>
          <p:cNvGraphicFramePr>
            <a:graphicFrameLocks noGrp="1"/>
          </p:cNvGraphicFramePr>
          <p:nvPr/>
        </p:nvGraphicFramePr>
        <p:xfrm>
          <a:off x="6263640" y="1828800"/>
          <a:ext cx="5440680" cy="3749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9808"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GDPR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NDA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33333"/>
                          </a:solidFill>
                          <a:latin typeface="Arial"/>
                        </a:rPr>
                        <a:t>Co chrání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Arial"/>
                        </a:rPr>
                        <a:t>Osobní údaje lidí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Arial"/>
                        </a:rPr>
                        <a:t>Obchodní tajemství firmy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33333"/>
                          </a:solidFill>
                          <a:latin typeface="Arial"/>
                        </a:rPr>
                        <a:t>Kdo z toho těží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Arial"/>
                        </a:rPr>
                        <a:t>Fyzická osoba (subjekt údajů)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Arial"/>
                        </a:rPr>
                        <a:t>Firma / smluvní strana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33333"/>
                          </a:solidFill>
                          <a:latin typeface="Arial"/>
                        </a:rPr>
                        <a:t>Právní základ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Arial"/>
                        </a:rPr>
                        <a:t>Zákon (platí vždy)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Arial"/>
                        </a:rPr>
                        <a:t>Smlouva (platí mezi stranami)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33333"/>
                          </a:solidFill>
                          <a:latin typeface="Arial"/>
                        </a:rPr>
                        <a:t>Kdy to potkáte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Arial"/>
                        </a:rPr>
                        <a:t>Sběr dat pro projekt, dotazník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Arial"/>
                        </a:rPr>
                        <a:t>Praxe, brigáda, zaměstnání v IT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5 · Praktický scénář: praxe v IT firmě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1"/>
              <a:t>Scénář: </a:t>
            </a:r>
            <a:r>
              <a:rPr sz="1800"/>
              <a:t>na praxi dostanete přístup k reálným datům a kódu firmy. Kamarád z jiné školy chce vidět váš projekt na GitHubu.</a:t>
            </a:r>
          </a:p>
          <a:p>
            <a:r>
              <a:rPr sz="1800" i="0"/>
              <a:t>Mlčenlivost obvykle platí i po skončení praxe či brigády</a:t>
            </a:r>
          </a:p>
          <a:p>
            <a:r>
              <a:rPr sz="1800" i="1"/>
              <a:t>Když si nejste jisti, zeptejte se – ne až po zveřejnění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2560320" cy="3840480"/>
          </a:xfrm>
          <a:prstGeom prst="roundRect">
            <a:avLst>
              <a:gd name="adj" fmla="val 3571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03" name="Picture 902" descr="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74519"/>
            <a:ext cx="384048" cy="384048"/>
          </a:xfrm>
          <a:prstGeom prst="rect">
            <a:avLst/>
          </a:prstGeom>
        </p:spPr>
      </p:pic>
      <p:sp>
        <p:nvSpPr>
          <p:cNvPr id="904" name="TextBox 903"/>
          <p:cNvSpPr txBox="1"/>
          <p:nvPr/>
        </p:nvSpPr>
        <p:spPr>
          <a:xfrm>
            <a:off x="7040880" y="1874519"/>
            <a:ext cx="1828800" cy="38404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Arial"/>
              </a:rPr>
              <a:t>Nesmíte sdílet</a:t>
            </a:r>
          </a:p>
        </p:txBody>
      </p:sp>
      <p:cxnSp>
        <p:nvCxnSpPr>
          <p:cNvPr id="905" name="Connector 904"/>
          <p:cNvCxnSpPr/>
          <p:nvPr/>
        </p:nvCxnSpPr>
        <p:spPr>
          <a:xfrm>
            <a:off x="6583680" y="2423160"/>
            <a:ext cx="21945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6" name="TextBox 905"/>
          <p:cNvSpPr txBox="1"/>
          <p:nvPr/>
        </p:nvSpPr>
        <p:spPr>
          <a:xfrm>
            <a:off x="6537960" y="2606040"/>
            <a:ext cx="2286000" cy="28346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1400" b="0" i="0">
                <a:solidFill>
                  <a:srgbClr val="333333"/>
                </a:solidFill>
                <a:latin typeface="Arial"/>
              </a:rPr>
              <a:t>• Firemní data, ke kterým jste měli přístup</a:t>
            </a:r>
          </a:p>
          <a:p>
            <a:pPr algn="l">
              <a:spcAft>
                <a:spcPts val="1600"/>
              </a:spcAft>
            </a:pPr>
            <a:r>
              <a:rPr sz="1400" b="0" i="0">
                <a:solidFill>
                  <a:srgbClr val="333333"/>
                </a:solidFill>
                <a:latin typeface="Arial"/>
              </a:rPr>
              <a:t>• Interní kód, API klíče, konfigurace</a:t>
            </a:r>
          </a:p>
          <a:p>
            <a:pPr algn="l">
              <a:spcAft>
                <a:spcPts val="1600"/>
              </a:spcAft>
            </a:pPr>
            <a:r>
              <a:rPr sz="1400" b="0" i="0">
                <a:solidFill>
                  <a:srgbClr val="333333"/>
                </a:solidFill>
                <a:latin typeface="Arial"/>
              </a:rPr>
              <a:t>• Obchodní postupy a know-how firmy</a:t>
            </a:r>
          </a:p>
        </p:txBody>
      </p:sp>
      <p:sp>
        <p:nvSpPr>
          <p:cNvPr id="907" name="Rounded Rectangle 906"/>
          <p:cNvSpPr/>
          <p:nvPr/>
        </p:nvSpPr>
        <p:spPr>
          <a:xfrm>
            <a:off x="9144000" y="1691640"/>
            <a:ext cx="2560320" cy="3840480"/>
          </a:xfrm>
          <a:prstGeom prst="roundRect">
            <a:avLst>
              <a:gd name="adj" fmla="val 3571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08" name="Picture 907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1874519"/>
            <a:ext cx="384048" cy="384048"/>
          </a:xfrm>
          <a:prstGeom prst="rect">
            <a:avLst/>
          </a:prstGeom>
        </p:spPr>
      </p:pic>
      <p:sp>
        <p:nvSpPr>
          <p:cNvPr id="909" name="TextBox 908"/>
          <p:cNvSpPr txBox="1"/>
          <p:nvPr/>
        </p:nvSpPr>
        <p:spPr>
          <a:xfrm>
            <a:off x="9784080" y="1874519"/>
            <a:ext cx="1828800" cy="38404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Arial"/>
              </a:rPr>
              <a:t>Smíte sdílet</a:t>
            </a:r>
          </a:p>
        </p:txBody>
      </p:sp>
      <p:cxnSp>
        <p:nvCxnSpPr>
          <p:cNvPr id="910" name="Connector 909"/>
          <p:cNvCxnSpPr/>
          <p:nvPr/>
        </p:nvCxnSpPr>
        <p:spPr>
          <a:xfrm>
            <a:off x="9326880" y="2423160"/>
            <a:ext cx="21945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1" name="TextBox 910"/>
          <p:cNvSpPr txBox="1"/>
          <p:nvPr/>
        </p:nvSpPr>
        <p:spPr>
          <a:xfrm>
            <a:off x="9281160" y="2606040"/>
            <a:ext cx="2286000" cy="28346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1400" b="0" i="0">
                <a:solidFill>
                  <a:srgbClr val="333333"/>
                </a:solidFill>
                <a:latin typeface="Arial"/>
              </a:rPr>
              <a:t>• Vlastní kód napsaný mimo firemní repozitář</a:t>
            </a:r>
          </a:p>
          <a:p>
            <a:pPr algn="l">
              <a:spcAft>
                <a:spcPts val="1600"/>
              </a:spcAft>
            </a:pPr>
            <a:r>
              <a:rPr sz="1400" b="0" i="0">
                <a:solidFill>
                  <a:srgbClr val="333333"/>
                </a:solidFill>
                <a:latin typeface="Arial"/>
              </a:rPr>
              <a:t>• Obecné znalosti a dovednosti, které jste získali</a:t>
            </a:r>
          </a:p>
          <a:p>
            <a:pPr algn="l">
              <a:spcAft>
                <a:spcPts val="1600"/>
              </a:spcAft>
            </a:pPr>
            <a:r>
              <a:rPr sz="1400" b="0" i="0">
                <a:solidFill>
                  <a:srgbClr val="333333"/>
                </a:solidFill>
                <a:latin typeface="Arial"/>
              </a:rPr>
              <a:t>• Veřejně dostupné technologie a postupy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6 · Průměr vs. medián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440680" cy="3931920"/>
          </a:xfrm>
        </p:spPr>
        <p:txBody>
          <a:bodyPr/>
          <a:lstStyle/>
          <a:p>
            <a:r>
              <a:rPr sz="1600" b="1"/>
              <a:t>Průměr </a:t>
            </a:r>
            <a:r>
              <a:rPr sz="1600"/>
              <a:t>(funkce PRŮMĚR) = součet ÷ počet – jeden extrém ho „utáhne“ nahoru</a:t>
            </a:r>
          </a:p>
          <a:p>
            <a:r>
              <a:rPr sz="1600" b="1"/>
              <a:t>Medián </a:t>
            </a:r>
            <a:r>
              <a:rPr sz="1600"/>
              <a:t>(funkce MEDIAN) = prostřední hodnota po seřazení – na extrémy nereaguje</a:t>
            </a:r>
          </a:p>
          <a:p>
            <a:r>
              <a:rPr sz="1600" i="0"/>
              <a:t>Většina zaměstnanců v ČR bere méně, než je „průměrná mzda“ – proto ČSÚ zveřejňuje i medián</a:t>
            </a:r>
          </a:p>
          <a:p>
            <a:r>
              <a:rPr sz="1600" i="1"/>
              <a:t>Kdy by novinový titulek měl uvádět medián?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graphicFrame>
        <p:nvGraphicFramePr>
          <p:cNvPr id="902" name="Chart 901"/>
          <p:cNvGraphicFramePr>
            <a:graphicFrameLocks noGrp="1"/>
          </p:cNvGraphicFramePr>
          <p:nvPr/>
        </p:nvGraphicFramePr>
        <p:xfrm>
          <a:off x="6309360" y="1600200"/>
          <a:ext cx="54406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03" name="Rounded Rectangle 902"/>
          <p:cNvSpPr/>
          <p:nvPr/>
        </p:nvSpPr>
        <p:spPr>
          <a:xfrm>
            <a:off x="6400800" y="452628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4" name="TextBox 903"/>
          <p:cNvSpPr txBox="1"/>
          <p:nvPr/>
        </p:nvSpPr>
        <p:spPr>
          <a:xfrm>
            <a:off x="6400800" y="4572000"/>
            <a:ext cx="256032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2800" b="1" i="0">
                <a:solidFill>
                  <a:srgbClr val="ED6845"/>
                </a:solidFill>
                <a:latin typeface="Arial"/>
              </a:rPr>
              <a:t>1 660 Kč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6400800" y="5212080"/>
            <a:ext cx="2560320" cy="3657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Průměr</a:t>
            </a:r>
          </a:p>
        </p:txBody>
      </p:sp>
      <p:sp>
        <p:nvSpPr>
          <p:cNvPr id="906" name="Rounded Rectangle 905"/>
          <p:cNvSpPr/>
          <p:nvPr/>
        </p:nvSpPr>
        <p:spPr>
          <a:xfrm>
            <a:off x="9144000" y="452628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7" name="TextBox 906"/>
          <p:cNvSpPr txBox="1"/>
          <p:nvPr/>
        </p:nvSpPr>
        <p:spPr>
          <a:xfrm>
            <a:off x="9144000" y="4572000"/>
            <a:ext cx="256032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2800" b="1" i="0">
                <a:solidFill>
                  <a:srgbClr val="5B6E74"/>
                </a:solidFill>
                <a:latin typeface="Arial"/>
              </a:rPr>
              <a:t>750 Kč</a:t>
            </a:r>
          </a:p>
        </p:txBody>
      </p:sp>
      <p:sp>
        <p:nvSpPr>
          <p:cNvPr id="908" name="TextBox 907"/>
          <p:cNvSpPr txBox="1"/>
          <p:nvPr/>
        </p:nvSpPr>
        <p:spPr>
          <a:xfrm>
            <a:off x="9144000" y="5212080"/>
            <a:ext cx="2560320" cy="3657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Medián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6 · Procenta, která straší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440680" cy="3931920"/>
          </a:xfrm>
        </p:spPr>
        <p:txBody>
          <a:bodyPr/>
          <a:lstStyle/>
          <a:p>
            <a:r>
              <a:rPr sz="1600" i="0"/>
              <a:t>„Riziko vzrostlo o 100 %!“ může znamenat nárůst z 1 na 2 případy z 10 000</a:t>
            </a:r>
          </a:p>
          <a:p>
            <a:r>
              <a:rPr sz="1600" b="1"/>
              <a:t>Procento vs. procentní bod: </a:t>
            </a:r>
            <a:r>
              <a:rPr sz="1600"/>
              <a:t>když podpora vzroste z 10 % na 15 %, je to o 5 procentních bodů, ale o 50 %</a:t>
            </a:r>
          </a:p>
          <a:p>
            <a:r>
              <a:rPr sz="1600" i="0"/>
              <a:t>Hledejte vždy obě čísla – kolik je to v procentech i v kusech</a:t>
            </a:r>
          </a:p>
          <a:p>
            <a:r>
              <a:rPr sz="1600" b="1"/>
              <a:t>V Excelu: </a:t>
            </a:r>
            <a:r>
              <a:rPr sz="1600"/>
              <a:t>relativní změna = (nová − stará) / stará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3" name="TextBox 902"/>
          <p:cNvSpPr txBox="1"/>
          <p:nvPr/>
        </p:nvSpPr>
        <p:spPr>
          <a:xfrm>
            <a:off x="6400800" y="1828800"/>
            <a:ext cx="256032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000" b="1" i="0">
                <a:solidFill>
                  <a:srgbClr val="6E7868"/>
                </a:solidFill>
                <a:latin typeface="Arial"/>
              </a:rPr>
              <a:t>TITULEK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6400800" y="2194560"/>
            <a:ext cx="2560320" cy="10058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3400" b="1" i="0">
                <a:solidFill>
                  <a:srgbClr val="ED6845"/>
                </a:solidFill>
                <a:latin typeface="Arial"/>
              </a:rPr>
              <a:t>+100 %</a:t>
            </a:r>
          </a:p>
        </p:txBody>
      </p:sp>
      <p:pic>
        <p:nvPicPr>
          <p:cNvPr id="905" name="Picture 904" descr="arrow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2" y="2450592"/>
            <a:ext cx="310896" cy="310896"/>
          </a:xfrm>
          <a:prstGeom prst="rect">
            <a:avLst/>
          </a:prstGeom>
        </p:spPr>
      </p:pic>
      <p:sp>
        <p:nvSpPr>
          <p:cNvPr id="906" name="Rounded Rectangle 905"/>
          <p:cNvSpPr/>
          <p:nvPr/>
        </p:nvSpPr>
        <p:spPr>
          <a:xfrm>
            <a:off x="9509760" y="1691640"/>
            <a:ext cx="2194560" cy="1828800"/>
          </a:xfrm>
          <a:prstGeom prst="roundRect">
            <a:avLst>
              <a:gd name="adj" fmla="val 5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7" name="TextBox 906"/>
          <p:cNvSpPr txBox="1"/>
          <p:nvPr/>
        </p:nvSpPr>
        <p:spPr>
          <a:xfrm>
            <a:off x="9509760" y="1828800"/>
            <a:ext cx="219456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000" b="1" i="0">
                <a:solidFill>
                  <a:srgbClr val="6E7868"/>
                </a:solidFill>
                <a:latin typeface="Arial"/>
              </a:rPr>
              <a:t>SKUTEČNOST</a:t>
            </a:r>
          </a:p>
        </p:txBody>
      </p:sp>
      <p:sp>
        <p:nvSpPr>
          <p:cNvPr id="908" name="TextBox 907"/>
          <p:cNvSpPr txBox="1"/>
          <p:nvPr/>
        </p:nvSpPr>
        <p:spPr>
          <a:xfrm>
            <a:off x="9555480" y="2194560"/>
            <a:ext cx="2103120" cy="10058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2000" b="1" i="0">
                <a:solidFill>
                  <a:srgbClr val="5B6E74"/>
                </a:solidFill>
                <a:latin typeface="Arial"/>
              </a:rPr>
              <a:t>+1 případ z 10 000</a:t>
            </a:r>
          </a:p>
        </p:txBody>
      </p:sp>
      <p:sp>
        <p:nvSpPr>
          <p:cNvPr id="909" name="Rounded Rectangle 908"/>
          <p:cNvSpPr/>
          <p:nvPr/>
        </p:nvSpPr>
        <p:spPr>
          <a:xfrm>
            <a:off x="6400800" y="370332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0" name="TextBox 909"/>
          <p:cNvSpPr txBox="1"/>
          <p:nvPr/>
        </p:nvSpPr>
        <p:spPr>
          <a:xfrm>
            <a:off x="6400800" y="3840480"/>
            <a:ext cx="256032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000" b="1" i="0">
                <a:solidFill>
                  <a:srgbClr val="6E7868"/>
                </a:solidFill>
                <a:latin typeface="Arial"/>
              </a:rPr>
              <a:t>NÁRŮST Z 10 % NA 15 %</a:t>
            </a:r>
          </a:p>
        </p:txBody>
      </p:sp>
      <p:sp>
        <p:nvSpPr>
          <p:cNvPr id="911" name="TextBox 910"/>
          <p:cNvSpPr txBox="1"/>
          <p:nvPr/>
        </p:nvSpPr>
        <p:spPr>
          <a:xfrm>
            <a:off x="6400800" y="4206240"/>
            <a:ext cx="2560320" cy="10058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3400" b="1" i="0">
                <a:solidFill>
                  <a:srgbClr val="ED6845"/>
                </a:solidFill>
                <a:latin typeface="Arial"/>
              </a:rPr>
              <a:t>+5 p. b.</a:t>
            </a:r>
          </a:p>
        </p:txBody>
      </p:sp>
      <p:pic>
        <p:nvPicPr>
          <p:cNvPr id="912" name="Picture 911" descr="arrow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2" y="4462272"/>
            <a:ext cx="310896" cy="310896"/>
          </a:xfrm>
          <a:prstGeom prst="rect">
            <a:avLst/>
          </a:prstGeom>
        </p:spPr>
      </p:pic>
      <p:sp>
        <p:nvSpPr>
          <p:cNvPr id="913" name="Rounded Rectangle 912"/>
          <p:cNvSpPr/>
          <p:nvPr/>
        </p:nvSpPr>
        <p:spPr>
          <a:xfrm>
            <a:off x="9509760" y="3703320"/>
            <a:ext cx="2194560" cy="1828800"/>
          </a:xfrm>
          <a:prstGeom prst="roundRect">
            <a:avLst>
              <a:gd name="adj" fmla="val 5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4" name="TextBox 913"/>
          <p:cNvSpPr txBox="1"/>
          <p:nvPr/>
        </p:nvSpPr>
        <p:spPr>
          <a:xfrm>
            <a:off x="9509760" y="3840480"/>
            <a:ext cx="219456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000" b="1" i="0">
                <a:solidFill>
                  <a:srgbClr val="6E7868"/>
                </a:solidFill>
                <a:latin typeface="Arial"/>
              </a:rPr>
              <a:t>RELATIVNĚ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9555480" y="4206240"/>
            <a:ext cx="2103120" cy="10058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3400" b="1" i="0">
                <a:solidFill>
                  <a:srgbClr val="5B6E74"/>
                </a:solidFill>
                <a:latin typeface="Arial"/>
              </a:rPr>
              <a:t>+50 %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6 · Korelace není příčina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440680" cy="3931920"/>
          </a:xfrm>
        </p:spPr>
        <p:txBody>
          <a:bodyPr/>
          <a:lstStyle/>
          <a:p>
            <a:r>
              <a:rPr sz="1600" b="1"/>
              <a:t>Korelace: </a:t>
            </a:r>
            <a:r>
              <a:rPr sz="1600"/>
              <a:t>dvě veličiny se mění společně</a:t>
            </a:r>
          </a:p>
          <a:p>
            <a:r>
              <a:rPr sz="1600" b="1"/>
              <a:t>Kauzalita: </a:t>
            </a:r>
            <a:r>
              <a:rPr sz="1600"/>
              <a:t>jedna tu druhou skutečně způsobuje</a:t>
            </a:r>
          </a:p>
          <a:p>
            <a:r>
              <a:rPr sz="1600" i="0"/>
              <a:t>Často za oběma stojí skrytá třetí proměnná</a:t>
            </a:r>
          </a:p>
          <a:p>
            <a:r>
              <a:rPr sz="1600" i="0"/>
              <a:t>V létě roste prodej zmrzliny i počet utonutí – zmrzlina ale nikoho neutopí, za obojím je teplo</a:t>
            </a:r>
          </a:p>
          <a:p>
            <a:r>
              <a:rPr sz="1600" i="1"/>
              <a:t>Napadne vás vlastní příklad?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1760219" cy="329184"/>
          </a:xfrm>
          <a:prstGeom prst="roundRect">
            <a:avLst>
              <a:gd name="adj" fmla="val 16666"/>
            </a:avLst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SKRYTÁ PROMĚNNÁ</a:t>
            </a:r>
          </a:p>
        </p:txBody>
      </p:sp>
      <p:sp>
        <p:nvSpPr>
          <p:cNvPr id="903" name="Rounded Rectangle 902"/>
          <p:cNvSpPr/>
          <p:nvPr/>
        </p:nvSpPr>
        <p:spPr>
          <a:xfrm>
            <a:off x="7909560" y="2240280"/>
            <a:ext cx="2286000" cy="777240"/>
          </a:xfrm>
          <a:prstGeom prst="roundRect">
            <a:avLst>
              <a:gd name="adj" fmla="val 11764"/>
            </a:avLst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Teplé počasí</a:t>
            </a:r>
          </a:p>
        </p:txBody>
      </p:sp>
      <p:sp>
        <p:nvSpPr>
          <p:cNvPr id="904" name="Rounded Rectangle 903"/>
          <p:cNvSpPr/>
          <p:nvPr/>
        </p:nvSpPr>
        <p:spPr>
          <a:xfrm>
            <a:off x="6400800" y="3977639"/>
            <a:ext cx="2148840" cy="777240"/>
          </a:xfrm>
          <a:prstGeom prst="roundRect">
            <a:avLst>
              <a:gd name="adj" fmla="val 11764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333333"/>
                </a:solidFill>
                <a:latin typeface="Arial"/>
              </a:rPr>
              <a:t>Prodej zmrzliny ↑</a:t>
            </a:r>
          </a:p>
        </p:txBody>
      </p:sp>
      <p:cxnSp>
        <p:nvCxnSpPr>
          <p:cNvPr id="905" name="Connector 904"/>
          <p:cNvCxnSpPr/>
          <p:nvPr/>
        </p:nvCxnSpPr>
        <p:spPr>
          <a:xfrm flipH="1">
            <a:off x="7475220" y="3017520"/>
            <a:ext cx="1120140" cy="960119"/>
          </a:xfrm>
          <a:prstGeom prst="line">
            <a:avLst/>
          </a:prstGeom>
          <a:ln w="25400">
            <a:solidFill>
              <a:srgbClr val="ED684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6" name="TextBox 905"/>
          <p:cNvSpPr txBox="1"/>
          <p:nvPr/>
        </p:nvSpPr>
        <p:spPr>
          <a:xfrm>
            <a:off x="6903720" y="3291840"/>
            <a:ext cx="109728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000" b="0" i="0">
                <a:solidFill>
                  <a:srgbClr val="6E7868"/>
                </a:solidFill>
                <a:latin typeface="Arial"/>
              </a:rPr>
              <a:t>způsobuje</a:t>
            </a:r>
          </a:p>
        </p:txBody>
      </p:sp>
      <p:sp>
        <p:nvSpPr>
          <p:cNvPr id="907" name="Rounded Rectangle 906"/>
          <p:cNvSpPr/>
          <p:nvPr/>
        </p:nvSpPr>
        <p:spPr>
          <a:xfrm>
            <a:off x="9555480" y="3977639"/>
            <a:ext cx="2148840" cy="777240"/>
          </a:xfrm>
          <a:prstGeom prst="roundRect">
            <a:avLst>
              <a:gd name="adj" fmla="val 11764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333333"/>
                </a:solidFill>
                <a:latin typeface="Arial"/>
              </a:rPr>
              <a:t>Počet utonutí ↑</a:t>
            </a:r>
          </a:p>
        </p:txBody>
      </p:sp>
      <p:cxnSp>
        <p:nvCxnSpPr>
          <p:cNvPr id="908" name="Connector 907"/>
          <p:cNvCxnSpPr/>
          <p:nvPr/>
        </p:nvCxnSpPr>
        <p:spPr>
          <a:xfrm>
            <a:off x="9509760" y="3017520"/>
            <a:ext cx="1120140" cy="960119"/>
          </a:xfrm>
          <a:prstGeom prst="line">
            <a:avLst/>
          </a:prstGeom>
          <a:ln w="25400">
            <a:solidFill>
              <a:srgbClr val="ED684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9" name="TextBox 908"/>
          <p:cNvSpPr txBox="1"/>
          <p:nvPr/>
        </p:nvSpPr>
        <p:spPr>
          <a:xfrm>
            <a:off x="10104120" y="3291840"/>
            <a:ext cx="109728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000" b="0" i="0">
                <a:solidFill>
                  <a:srgbClr val="6E7868"/>
                </a:solidFill>
                <a:latin typeface="Arial"/>
              </a:rPr>
              <a:t>způsobuje</a:t>
            </a:r>
          </a:p>
        </p:txBody>
      </p:sp>
      <p:cxnSp>
        <p:nvCxnSpPr>
          <p:cNvPr id="910" name="Connector 909"/>
          <p:cNvCxnSpPr/>
          <p:nvPr/>
        </p:nvCxnSpPr>
        <p:spPr>
          <a:xfrm>
            <a:off x="8549640" y="4370832"/>
            <a:ext cx="1005840" cy="0"/>
          </a:xfrm>
          <a:prstGeom prst="line">
            <a:avLst/>
          </a:prstGeom>
          <a:ln w="19050">
            <a:solidFill>
              <a:srgbClr val="99999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1" name="TextBox 910"/>
          <p:cNvSpPr txBox="1"/>
          <p:nvPr/>
        </p:nvSpPr>
        <p:spPr>
          <a:xfrm>
            <a:off x="8412480" y="4434840"/>
            <a:ext cx="1280160" cy="5486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000" b="1" i="0">
                <a:solidFill>
                  <a:srgbClr val="333333"/>
                </a:solidFill>
                <a:latin typeface="Arial"/>
              </a:rPr>
              <a:t>jen korelace</a:t>
            </a:r>
          </a:p>
          <a:p>
            <a:pPr algn="ctr"/>
            <a:r>
              <a:rPr sz="1000" b="0" i="0">
                <a:solidFill>
                  <a:srgbClr val="6E7868"/>
                </a:solidFill>
                <a:latin typeface="Arial"/>
              </a:rPr>
              <a:t>ne příčina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7 · Stejná data, dva úplně jiné dojmy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pic>
        <p:nvPicPr>
          <p:cNvPr id="902" name="Picture 901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274320" cy="274320"/>
          </a:xfrm>
          <a:prstGeom prst="rect">
            <a:avLst/>
          </a:prstGeom>
        </p:spPr>
      </p:pic>
      <p:sp>
        <p:nvSpPr>
          <p:cNvPr id="904" name="TextBox 903"/>
          <p:cNvSpPr txBox="1"/>
          <p:nvPr/>
        </p:nvSpPr>
        <p:spPr>
          <a:xfrm>
            <a:off x="1060704" y="1673352"/>
            <a:ext cx="4572000" cy="31089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200" b="1" i="0">
                <a:solidFill>
                  <a:srgbClr val="2E9E4F"/>
                </a:solidFill>
                <a:latin typeface="Arial"/>
              </a:rPr>
              <a:t>Čestný graf – osa od 0</a:t>
            </a:r>
          </a:p>
        </p:txBody>
      </p:sp>
      <p:pic>
        <p:nvPicPr>
          <p:cNvPr id="905" name="Picture 904" descr="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691640"/>
            <a:ext cx="274320" cy="274320"/>
          </a:xfrm>
          <a:prstGeom prst="rect">
            <a:avLst/>
          </a:prstGeom>
        </p:spPr>
      </p:pic>
      <p:sp>
        <p:nvSpPr>
          <p:cNvPr id="907" name="TextBox 906"/>
          <p:cNvSpPr txBox="1"/>
          <p:nvPr/>
        </p:nvSpPr>
        <p:spPr>
          <a:xfrm>
            <a:off x="6684264" y="1673352"/>
            <a:ext cx="4572000" cy="31089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200" b="1" i="0">
                <a:solidFill>
                  <a:srgbClr val="D9342B"/>
                </a:solidFill>
                <a:latin typeface="Arial"/>
              </a:rPr>
              <a:t>Zavádějící graf – osa oříznutá</a:t>
            </a:r>
          </a:p>
        </p:txBody>
      </p:sp>
      <p:graphicFrame>
        <p:nvGraphicFramePr>
          <p:cNvPr id="908" name="Chart 907"/>
          <p:cNvGraphicFramePr>
            <a:graphicFrameLocks noGrp="1"/>
          </p:cNvGraphicFramePr>
          <p:nvPr/>
        </p:nvGraphicFramePr>
        <p:xfrm>
          <a:off x="640080" y="2148840"/>
          <a:ext cx="51206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09" name="Chart 908"/>
          <p:cNvGraphicFramePr>
            <a:graphicFrameLocks noGrp="1"/>
          </p:cNvGraphicFramePr>
          <p:nvPr/>
        </p:nvGraphicFramePr>
        <p:xfrm>
          <a:off x="6263640" y="2148840"/>
          <a:ext cx="51206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cxnSp>
        <p:nvCxnSpPr>
          <p:cNvPr id="910" name="Connector 909"/>
          <p:cNvCxnSpPr/>
          <p:nvPr/>
        </p:nvCxnSpPr>
        <p:spPr>
          <a:xfrm>
            <a:off x="6099048" y="1691640"/>
            <a:ext cx="0" cy="347472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1" name="TextBox 910"/>
          <p:cNvSpPr txBox="1"/>
          <p:nvPr/>
        </p:nvSpPr>
        <p:spPr>
          <a:xfrm>
            <a:off x="640080" y="5166360"/>
            <a:ext cx="1078992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300" b="0" i="1">
                <a:solidFill>
                  <a:srgbClr val="333333"/>
                </a:solidFill>
                <a:latin typeface="Arial"/>
              </a:rPr>
              <a:t>Stejná čísla – vpravo vypadá růst dramaticky jen díky oříznuté ose Y. Klasický trik v reklamě i politice.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7 · Další triky, kterých si všímat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4937760" cy="3931920"/>
          </a:xfrm>
        </p:spPr>
        <p:txBody>
          <a:bodyPr/>
          <a:lstStyle/>
          <a:p>
            <a:r>
              <a:rPr sz="1800" i="0"/>
              <a:t>Než grafu uvěříte, zeptejte se:</a:t>
            </a:r>
          </a:p>
          <a:p>
            <a:pPr lvl="1"/>
            <a:r>
              <a:rPr sz="1700" i="0"/>
              <a:t>Začíná osa od nuly?</a:t>
            </a:r>
          </a:p>
          <a:p>
            <a:pPr lvl="1"/>
            <a:r>
              <a:rPr sz="1700" i="0"/>
              <a:t>Je měřítko stejné?</a:t>
            </a:r>
          </a:p>
          <a:p>
            <a:pPr lvl="1"/>
            <a:r>
              <a:rPr sz="1700" i="0"/>
              <a:t>Je zobrazené celé období?</a:t>
            </a:r>
          </a:p>
          <a:p>
            <a:pPr lvl="1"/>
            <a:r>
              <a:rPr sz="1700" i="0"/>
              <a:t>Víte, z kolika dat graf vznikl?</a:t>
            </a:r>
          </a:p>
          <a:p>
            <a:pPr>
              <a:buNone/>
            </a:pPr>
            <a:endParaRPr sz="1700" i="0"/>
          </a:p>
          <a:p>
            <a:r>
              <a:rPr sz="1800" i="1"/>
              <a:t>Najdete takový graf v dnešních zprávách?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2542032" cy="1783080"/>
          </a:xfrm>
          <a:prstGeom prst="roundRect">
            <a:avLst>
              <a:gd name="adj" fmla="val 5128"/>
            </a:avLst>
          </a:prstGeom>
          <a:solidFill>
            <a:srgbClr val="FD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03" name="Picture 902" descr="wa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74520"/>
            <a:ext cx="365760" cy="365760"/>
          </a:xfrm>
          <a:prstGeom prst="rect">
            <a:avLst/>
          </a:prstGeom>
        </p:spPr>
      </p:pic>
      <p:sp>
        <p:nvSpPr>
          <p:cNvPr id="904" name="TextBox 903"/>
          <p:cNvSpPr txBox="1"/>
          <p:nvPr/>
        </p:nvSpPr>
        <p:spPr>
          <a:xfrm>
            <a:off x="6537960" y="2331720"/>
            <a:ext cx="228600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Arial"/>
              </a:rPr>
              <a:t>Nekonzistentní měřítko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6537960" y="2697480"/>
            <a:ext cx="2286000" cy="7315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Sloupce nejsou úměrné hodnotám, jen „vypadají“ úměrně.</a:t>
            </a:r>
          </a:p>
        </p:txBody>
      </p:sp>
      <p:sp>
        <p:nvSpPr>
          <p:cNvPr id="906" name="Rounded Rectangle 905"/>
          <p:cNvSpPr/>
          <p:nvPr/>
        </p:nvSpPr>
        <p:spPr>
          <a:xfrm>
            <a:off x="9125712" y="1691640"/>
            <a:ext cx="2542032" cy="1783080"/>
          </a:xfrm>
          <a:prstGeom prst="roundRect">
            <a:avLst>
              <a:gd name="adj" fmla="val 5128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07" name="Picture 906" descr="wa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592" y="1874520"/>
            <a:ext cx="365760" cy="365760"/>
          </a:xfrm>
          <a:prstGeom prst="rect">
            <a:avLst/>
          </a:prstGeom>
        </p:spPr>
      </p:pic>
      <p:sp>
        <p:nvSpPr>
          <p:cNvPr id="908" name="TextBox 907"/>
          <p:cNvSpPr txBox="1"/>
          <p:nvPr/>
        </p:nvSpPr>
        <p:spPr>
          <a:xfrm>
            <a:off x="9262872" y="2331720"/>
            <a:ext cx="228600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Arial"/>
              </a:rPr>
              <a:t>3D efekty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9262872" y="2697480"/>
            <a:ext cx="2286000" cy="7315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Perspektiva opticky zvětšuje přední sloupce a výseče.</a:t>
            </a:r>
          </a:p>
        </p:txBody>
      </p:sp>
      <p:sp>
        <p:nvSpPr>
          <p:cNvPr id="910" name="Rounded Rectangle 909"/>
          <p:cNvSpPr/>
          <p:nvPr/>
        </p:nvSpPr>
        <p:spPr>
          <a:xfrm>
            <a:off x="6400800" y="3657600"/>
            <a:ext cx="2542032" cy="1783080"/>
          </a:xfrm>
          <a:prstGeom prst="roundRect">
            <a:avLst>
              <a:gd name="adj" fmla="val 5128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11" name="Picture 910" descr="wa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3840480"/>
            <a:ext cx="365760" cy="365760"/>
          </a:xfrm>
          <a:prstGeom prst="rect">
            <a:avLst/>
          </a:prstGeom>
        </p:spPr>
      </p:pic>
      <p:sp>
        <p:nvSpPr>
          <p:cNvPr id="912" name="TextBox 911"/>
          <p:cNvSpPr txBox="1"/>
          <p:nvPr/>
        </p:nvSpPr>
        <p:spPr>
          <a:xfrm>
            <a:off x="6537960" y="4297680"/>
            <a:ext cx="228600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Arial"/>
              </a:rPr>
              <a:t>Cherry-picking období</a:t>
            </a:r>
          </a:p>
        </p:txBody>
      </p:sp>
      <p:sp>
        <p:nvSpPr>
          <p:cNvPr id="913" name="TextBox 912"/>
          <p:cNvSpPr txBox="1"/>
          <p:nvPr/>
        </p:nvSpPr>
        <p:spPr>
          <a:xfrm>
            <a:off x="6537960" y="4663440"/>
            <a:ext cx="2286000" cy="7315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Vybere se jen úsek, kde trend vychází efektně.</a:t>
            </a:r>
          </a:p>
        </p:txBody>
      </p:sp>
      <p:sp>
        <p:nvSpPr>
          <p:cNvPr id="914" name="Rounded Rectangle 913"/>
          <p:cNvSpPr/>
          <p:nvPr/>
        </p:nvSpPr>
        <p:spPr>
          <a:xfrm>
            <a:off x="9125712" y="3657600"/>
            <a:ext cx="2542032" cy="1783080"/>
          </a:xfrm>
          <a:prstGeom prst="roundRect">
            <a:avLst>
              <a:gd name="adj" fmla="val 5128"/>
            </a:avLst>
          </a:prstGeom>
          <a:solidFill>
            <a:srgbClr val="FD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15" name="Picture 914" descr="wa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592" y="3840480"/>
            <a:ext cx="365760" cy="365760"/>
          </a:xfrm>
          <a:prstGeom prst="rect">
            <a:avLst/>
          </a:prstGeom>
        </p:spPr>
      </p:pic>
      <p:sp>
        <p:nvSpPr>
          <p:cNvPr id="916" name="TextBox 915"/>
          <p:cNvSpPr txBox="1"/>
          <p:nvPr/>
        </p:nvSpPr>
        <p:spPr>
          <a:xfrm>
            <a:off x="9262872" y="4297680"/>
            <a:ext cx="228600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Arial"/>
              </a:rPr>
              <a:t>Chybějící kontext</a:t>
            </a:r>
          </a:p>
        </p:txBody>
      </p:sp>
      <p:sp>
        <p:nvSpPr>
          <p:cNvPr id="917" name="TextBox 916"/>
          <p:cNvSpPr txBox="1"/>
          <p:nvPr/>
        </p:nvSpPr>
        <p:spPr>
          <a:xfrm>
            <a:off x="9262872" y="4663440"/>
            <a:ext cx="2286000" cy="7315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Chybí n (velikost vzorku) nebo srovnání s průměrem.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7 · Jaký graf zvolit?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" y="1737360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D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03" name="Picture 902" descr="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920240"/>
            <a:ext cx="914400" cy="914400"/>
          </a:xfrm>
          <a:prstGeom prst="rect">
            <a:avLst/>
          </a:prstGeom>
        </p:spPr>
      </p:pic>
      <p:sp>
        <p:nvSpPr>
          <p:cNvPr id="904" name="TextBox 903"/>
          <p:cNvSpPr txBox="1"/>
          <p:nvPr/>
        </p:nvSpPr>
        <p:spPr>
          <a:xfrm>
            <a:off x="731519" y="2926080"/>
            <a:ext cx="2377440" cy="4114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600" b="1" i="0">
                <a:solidFill>
                  <a:srgbClr val="333333"/>
                </a:solidFill>
                <a:latin typeface="Arial"/>
              </a:rPr>
              <a:t>Sloupcový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731519" y="3337560"/>
            <a:ext cx="2377440" cy="4114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300" b="1" i="0">
                <a:solidFill>
                  <a:srgbClr val="ED6845"/>
                </a:solidFill>
                <a:latin typeface="Arial"/>
              </a:rPr>
              <a:t>Porovnání kategorií</a:t>
            </a:r>
          </a:p>
        </p:txBody>
      </p:sp>
      <p:sp>
        <p:nvSpPr>
          <p:cNvPr id="906" name="TextBox 905"/>
          <p:cNvSpPr txBox="1"/>
          <p:nvPr/>
        </p:nvSpPr>
        <p:spPr>
          <a:xfrm>
            <a:off x="777240" y="3794760"/>
            <a:ext cx="2286000" cy="10972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Arial"/>
              </a:rPr>
              <a:t>Třídy, kraje, produkty</a:t>
            </a:r>
          </a:p>
        </p:txBody>
      </p:sp>
      <p:sp>
        <p:nvSpPr>
          <p:cNvPr id="907" name="Rounded Rectangle 906"/>
          <p:cNvSpPr/>
          <p:nvPr/>
        </p:nvSpPr>
        <p:spPr>
          <a:xfrm>
            <a:off x="3383280" y="1737360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08" name="Picture 907" descr="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920240"/>
            <a:ext cx="914400" cy="914400"/>
          </a:xfrm>
          <a:prstGeom prst="rect">
            <a:avLst/>
          </a:prstGeom>
        </p:spPr>
      </p:pic>
      <p:sp>
        <p:nvSpPr>
          <p:cNvPr id="909" name="TextBox 908"/>
          <p:cNvSpPr txBox="1"/>
          <p:nvPr/>
        </p:nvSpPr>
        <p:spPr>
          <a:xfrm>
            <a:off x="3474720" y="2926080"/>
            <a:ext cx="2377440" cy="4114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600" b="1" i="0">
                <a:solidFill>
                  <a:srgbClr val="333333"/>
                </a:solidFill>
                <a:latin typeface="Arial"/>
              </a:rPr>
              <a:t>Spojnicový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3474720" y="3337560"/>
            <a:ext cx="2377440" cy="4114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300" b="1" i="0">
                <a:solidFill>
                  <a:srgbClr val="ED6845"/>
                </a:solidFill>
                <a:latin typeface="Arial"/>
              </a:rPr>
              <a:t>Vývoj v čase</a:t>
            </a:r>
          </a:p>
        </p:txBody>
      </p:sp>
      <p:sp>
        <p:nvSpPr>
          <p:cNvPr id="911" name="TextBox 910"/>
          <p:cNvSpPr txBox="1"/>
          <p:nvPr/>
        </p:nvSpPr>
        <p:spPr>
          <a:xfrm>
            <a:off x="3520440" y="3794760"/>
            <a:ext cx="2286000" cy="10972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Arial"/>
              </a:rPr>
              <a:t>Měsíce, čtvrtletí, roky</a:t>
            </a:r>
          </a:p>
        </p:txBody>
      </p:sp>
      <p:sp>
        <p:nvSpPr>
          <p:cNvPr id="912" name="Rounded Rectangle 911"/>
          <p:cNvSpPr/>
          <p:nvPr/>
        </p:nvSpPr>
        <p:spPr>
          <a:xfrm>
            <a:off x="6126480" y="1737360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D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13" name="Picture 912" descr="pi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1920240"/>
            <a:ext cx="914400" cy="914400"/>
          </a:xfrm>
          <a:prstGeom prst="rect">
            <a:avLst/>
          </a:prstGeom>
        </p:spPr>
      </p:pic>
      <p:sp>
        <p:nvSpPr>
          <p:cNvPr id="914" name="TextBox 913"/>
          <p:cNvSpPr txBox="1"/>
          <p:nvPr/>
        </p:nvSpPr>
        <p:spPr>
          <a:xfrm>
            <a:off x="6217920" y="2926080"/>
            <a:ext cx="2377440" cy="4114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600" b="1" i="0">
                <a:solidFill>
                  <a:srgbClr val="333333"/>
                </a:solidFill>
                <a:latin typeface="Arial"/>
              </a:rPr>
              <a:t>Výsečový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6217920" y="3337560"/>
            <a:ext cx="2377440" cy="4114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300" b="1" i="0">
                <a:solidFill>
                  <a:srgbClr val="ED6845"/>
                </a:solidFill>
                <a:latin typeface="Arial"/>
              </a:rPr>
              <a:t>Podíl na celku</a:t>
            </a:r>
          </a:p>
        </p:txBody>
      </p:sp>
      <p:sp>
        <p:nvSpPr>
          <p:cNvPr id="916" name="TextBox 915"/>
          <p:cNvSpPr txBox="1"/>
          <p:nvPr/>
        </p:nvSpPr>
        <p:spPr>
          <a:xfrm>
            <a:off x="6263640" y="3794760"/>
            <a:ext cx="2286000" cy="10972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Arial"/>
              </a:rPr>
              <a:t>Jen když součet dává 100 % a dílů je málo (do 5)</a:t>
            </a:r>
          </a:p>
        </p:txBody>
      </p:sp>
      <p:sp>
        <p:nvSpPr>
          <p:cNvPr id="917" name="Rounded Rectangle 916"/>
          <p:cNvSpPr/>
          <p:nvPr/>
        </p:nvSpPr>
        <p:spPr>
          <a:xfrm>
            <a:off x="8869680" y="1737360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18" name="Picture 917" descr="scatt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640" y="1920240"/>
            <a:ext cx="914400" cy="914400"/>
          </a:xfrm>
          <a:prstGeom prst="rect">
            <a:avLst/>
          </a:prstGeom>
        </p:spPr>
      </p:pic>
      <p:sp>
        <p:nvSpPr>
          <p:cNvPr id="919" name="TextBox 918"/>
          <p:cNvSpPr txBox="1"/>
          <p:nvPr/>
        </p:nvSpPr>
        <p:spPr>
          <a:xfrm>
            <a:off x="8961119" y="2926080"/>
            <a:ext cx="2377440" cy="4114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600" b="1" i="0">
                <a:solidFill>
                  <a:srgbClr val="333333"/>
                </a:solidFill>
                <a:latin typeface="Arial"/>
              </a:rPr>
              <a:t>Bodový (XY)</a:t>
            </a:r>
          </a:p>
        </p:txBody>
      </p:sp>
      <p:sp>
        <p:nvSpPr>
          <p:cNvPr id="920" name="TextBox 919"/>
          <p:cNvSpPr txBox="1"/>
          <p:nvPr/>
        </p:nvSpPr>
        <p:spPr>
          <a:xfrm>
            <a:off x="8961119" y="3337560"/>
            <a:ext cx="2377440" cy="4114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300" b="1" i="0">
                <a:solidFill>
                  <a:srgbClr val="ED6845"/>
                </a:solidFill>
                <a:latin typeface="Arial"/>
              </a:rPr>
              <a:t>Vztah dvou veličin</a:t>
            </a:r>
          </a:p>
        </p:txBody>
      </p:sp>
      <p:sp>
        <p:nvSpPr>
          <p:cNvPr id="921" name="TextBox 920"/>
          <p:cNvSpPr txBox="1"/>
          <p:nvPr/>
        </p:nvSpPr>
        <p:spPr>
          <a:xfrm>
            <a:off x="9006840" y="3794760"/>
            <a:ext cx="2286000" cy="10972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Arial"/>
              </a:rPr>
              <a:t>Docházka vs. známka – navazuje na korelaci</a:t>
            </a:r>
          </a:p>
        </p:txBody>
      </p:sp>
      <p:sp>
        <p:nvSpPr>
          <p:cNvPr id="922" name="TextBox 921"/>
          <p:cNvSpPr txBox="1"/>
          <p:nvPr/>
        </p:nvSpPr>
        <p:spPr>
          <a:xfrm>
            <a:off x="640080" y="5120640"/>
            <a:ext cx="10789920" cy="4114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Arial"/>
              </a:rPr>
              <a:t>V Excelu: </a:t>
            </a:r>
            <a:r>
              <a:rPr sz="1300" b="0" i="0">
                <a:solidFill>
                  <a:srgbClr val="333333"/>
                </a:solidFill>
                <a:latin typeface="Arial"/>
              </a:rPr>
              <a:t>Vložení → Grafy. Doporučené grafy nejsou vždy ty nejlepší – rozhodujete vy, co chcete ukázat.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K diskuzi: než odevzdáte projekt s daty…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4937760" cy="39319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sz="1800" i="0" dirty="0" err="1"/>
              <a:t>Projděte</a:t>
            </a:r>
            <a:r>
              <a:rPr sz="1800" i="0" dirty="0"/>
              <a:t> </a:t>
            </a:r>
            <a:r>
              <a:rPr sz="1800" i="0" dirty="0" err="1"/>
              <a:t>otázky</a:t>
            </a:r>
            <a:r>
              <a:rPr sz="1800" i="0" dirty="0"/>
              <a:t> </a:t>
            </a:r>
            <a:r>
              <a:rPr sz="1800" i="0" dirty="0" err="1"/>
              <a:t>vpravo</a:t>
            </a:r>
            <a:r>
              <a:rPr sz="1800" i="0" dirty="0"/>
              <a:t> </a:t>
            </a:r>
            <a:r>
              <a:rPr sz="1800" i="0" dirty="0" err="1"/>
              <a:t>na</a:t>
            </a:r>
            <a:r>
              <a:rPr sz="1800" i="0" dirty="0"/>
              <a:t> </a:t>
            </a:r>
            <a:r>
              <a:rPr sz="1800" i="0" dirty="0" err="1"/>
              <a:t>svém</a:t>
            </a:r>
            <a:r>
              <a:rPr sz="1800" i="0" dirty="0"/>
              <a:t> </a:t>
            </a:r>
            <a:r>
              <a:rPr sz="1800" i="0" dirty="0" err="1"/>
              <a:t>posledním</a:t>
            </a:r>
            <a:r>
              <a:rPr sz="1800" i="0" dirty="0"/>
              <a:t> </a:t>
            </a:r>
            <a:r>
              <a:rPr sz="1800" i="0" dirty="0" err="1"/>
              <a:t>projektu</a:t>
            </a:r>
            <a:endParaRPr lang="en-US" sz="1800" i="0" dirty="0" err="1"/>
          </a:p>
          <a:p>
            <a:r>
              <a:rPr sz="1800" i="0" dirty="0" err="1"/>
              <a:t>Diskutujte</a:t>
            </a:r>
            <a:r>
              <a:rPr sz="1800" i="0" dirty="0"/>
              <a:t> </a:t>
            </a:r>
            <a:r>
              <a:rPr sz="1800" i="0" dirty="0" err="1"/>
              <a:t>ve</a:t>
            </a:r>
            <a:r>
              <a:rPr sz="1800" i="0" dirty="0"/>
              <a:t> </a:t>
            </a:r>
            <a:r>
              <a:rPr sz="1800" i="0" dirty="0" err="1"/>
              <a:t>dvojicích</a:t>
            </a:r>
            <a:r>
              <a:rPr sz="1800" i="0" dirty="0"/>
              <a:t>, pak </a:t>
            </a:r>
            <a:r>
              <a:rPr sz="1800" i="0" dirty="0" err="1"/>
              <a:t>krátce</a:t>
            </a:r>
            <a:r>
              <a:rPr sz="1800" i="0" dirty="0"/>
              <a:t> </a:t>
            </a:r>
            <a:r>
              <a:rPr sz="1800" i="0" dirty="0" err="1"/>
              <a:t>sdílejte</a:t>
            </a:r>
            <a:r>
              <a:rPr sz="1800" i="0" dirty="0"/>
              <a:t> se </a:t>
            </a:r>
            <a:r>
              <a:rPr sz="1800" i="0" dirty="0" err="1"/>
              <a:t>třídou</a:t>
            </a:r>
          </a:p>
          <a:p>
            <a:pPr>
              <a:buNone/>
            </a:pPr>
            <a:endParaRPr sz="1800" i="1"/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  <p:sp>
        <p:nvSpPr>
          <p:cNvPr id="902" name="Oval 901"/>
          <p:cNvSpPr/>
          <p:nvPr/>
        </p:nvSpPr>
        <p:spPr>
          <a:xfrm>
            <a:off x="6400800" y="1801368"/>
            <a:ext cx="420624" cy="420624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03" name="TextBox 902"/>
          <p:cNvSpPr txBox="1"/>
          <p:nvPr/>
        </p:nvSpPr>
        <p:spPr>
          <a:xfrm>
            <a:off x="6949440" y="1691640"/>
            <a:ext cx="475488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Arial"/>
              </a:rPr>
              <a:t>Odkud vaše data pocházejí a smíte je takhle použít?</a:t>
            </a:r>
          </a:p>
        </p:txBody>
      </p:sp>
      <p:cxnSp>
        <p:nvCxnSpPr>
          <p:cNvPr id="904" name="Connector 903"/>
          <p:cNvCxnSpPr/>
          <p:nvPr/>
        </p:nvCxnSpPr>
        <p:spPr>
          <a:xfrm>
            <a:off x="6949440" y="2404872"/>
            <a:ext cx="475488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5" name="Oval 904"/>
          <p:cNvSpPr/>
          <p:nvPr/>
        </p:nvSpPr>
        <p:spPr>
          <a:xfrm>
            <a:off x="6400800" y="2587752"/>
            <a:ext cx="420624" cy="420624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06" name="TextBox 905"/>
          <p:cNvSpPr txBox="1"/>
          <p:nvPr/>
        </p:nvSpPr>
        <p:spPr>
          <a:xfrm>
            <a:off x="6949440" y="2478024"/>
            <a:ext cx="475488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Arial"/>
              </a:rPr>
              <a:t>Dá se z nich i po úpravě poznat konkrétní osoba?</a:t>
            </a:r>
          </a:p>
        </p:txBody>
      </p:sp>
      <p:cxnSp>
        <p:nvCxnSpPr>
          <p:cNvPr id="907" name="Connector 906"/>
          <p:cNvCxnSpPr/>
          <p:nvPr/>
        </p:nvCxnSpPr>
        <p:spPr>
          <a:xfrm>
            <a:off x="6949440" y="3191256"/>
            <a:ext cx="475488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8" name="Oval 907"/>
          <p:cNvSpPr/>
          <p:nvPr/>
        </p:nvSpPr>
        <p:spPr>
          <a:xfrm>
            <a:off x="6400800" y="3374136"/>
            <a:ext cx="420624" cy="420624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6949440" y="3264408"/>
            <a:ext cx="475488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Arial"/>
              </a:rPr>
              <a:t>Je tabulka čistá – jeden řádek, jeden záznam, čísla bez jednotek?</a:t>
            </a:r>
          </a:p>
        </p:txBody>
      </p:sp>
      <p:cxnSp>
        <p:nvCxnSpPr>
          <p:cNvPr id="910" name="Connector 909"/>
          <p:cNvCxnSpPr/>
          <p:nvPr/>
        </p:nvCxnSpPr>
        <p:spPr>
          <a:xfrm>
            <a:off x="6949440" y="3977640"/>
            <a:ext cx="475488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1" name="Oval 910"/>
          <p:cNvSpPr/>
          <p:nvPr/>
        </p:nvSpPr>
        <p:spPr>
          <a:xfrm>
            <a:off x="6400800" y="4160520"/>
            <a:ext cx="420624" cy="420624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6949440" y="4050791"/>
            <a:ext cx="475488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Arial"/>
              </a:rPr>
              <a:t>Uvádíte průměr, nebo medián – a proč?</a:t>
            </a:r>
          </a:p>
        </p:txBody>
      </p:sp>
      <p:cxnSp>
        <p:nvCxnSpPr>
          <p:cNvPr id="913" name="Connector 912"/>
          <p:cNvCxnSpPr/>
          <p:nvPr/>
        </p:nvCxnSpPr>
        <p:spPr>
          <a:xfrm>
            <a:off x="6949440" y="4764024"/>
            <a:ext cx="475488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4" name="Oval 913"/>
          <p:cNvSpPr/>
          <p:nvPr/>
        </p:nvSpPr>
        <p:spPr>
          <a:xfrm>
            <a:off x="6400800" y="4946904"/>
            <a:ext cx="420624" cy="420624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6949440" y="4837176"/>
            <a:ext cx="475488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Arial"/>
              </a:rPr>
              <a:t>Zvolili jste typ a měřítko grafu poctivě, nebo aby to „lépe vypadalo“?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ange Experience">
  <a:themeElements>
    <a:clrScheme name="Orange Experience">
      <a:dk1>
        <a:srgbClr val="131313"/>
      </a:dk1>
      <a:lt1>
        <a:sysClr val="window" lastClr="FFFFFF"/>
      </a:lt1>
      <a:dk2>
        <a:srgbClr val="444742"/>
      </a:dk2>
      <a:lt2>
        <a:srgbClr val="EDECE9"/>
      </a:lt2>
      <a:accent1>
        <a:srgbClr val="ED6845"/>
      </a:accent1>
      <a:accent2>
        <a:srgbClr val="F48A56"/>
      </a:accent2>
      <a:accent3>
        <a:srgbClr val="9FA295"/>
      </a:accent3>
      <a:accent4>
        <a:srgbClr val="5B6E74"/>
      </a:accent4>
      <a:accent5>
        <a:srgbClr val="6E7868"/>
      </a:accent5>
      <a:accent6>
        <a:srgbClr val="A1AAAA"/>
      </a:accent6>
      <a:hlink>
        <a:srgbClr val="F05814"/>
      </a:hlink>
      <a:folHlink>
        <a:srgbClr val="E99401"/>
      </a:folHlink>
    </a:clrScheme>
    <a:fontScheme name="Orange Experience">
      <a:majorFont>
        <a:latin typeface="Oswald SemiBold"/>
        <a:ea typeface=""/>
        <a:cs typeface=""/>
      </a:majorFont>
      <a:minorFont>
        <a:latin typeface="Univers Condensed Light"/>
        <a:ea typeface=""/>
        <a:cs typeface=""/>
      </a:minorFont>
    </a:fontScheme>
    <a:fmtScheme name="Orange Experien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range Experience" id="{3FBD020F-64D3-42BF-A2BA-FB7237EC65A2}" vid="{0A40F0BF-A9BE-440A-B017-9F6336E8514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2F7ECDF1E614946A5A39D5552BFC522" ma:contentTypeVersion="9" ma:contentTypeDescription="Vytvoří nový dokument" ma:contentTypeScope="" ma:versionID="360afebd84136be89cf7ed5911c04be8">
  <xsd:schema xmlns:xsd="http://www.w3.org/2001/XMLSchema" xmlns:xs="http://www.w3.org/2001/XMLSchema" xmlns:p="http://schemas.microsoft.com/office/2006/metadata/properties" xmlns:ns2="09a37b55-a4d7-45bd-a73f-33c2b1d41898" xmlns:ns3="3eb61919-e7f8-4a11-8db4-9145fbd21da9" targetNamespace="http://schemas.microsoft.com/office/2006/metadata/properties" ma:root="true" ma:fieldsID="520b6e59c8e59b4daf6c7654b04c196b" ns2:_="" ns3:_="">
    <xsd:import namespace="09a37b55-a4d7-45bd-a73f-33c2b1d41898"/>
    <xsd:import namespace="3eb61919-e7f8-4a11-8db4-9145fbd21d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a37b55-a4d7-45bd-a73f-33c2b1d418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ebb97977-59de-4a56-a93a-a55cc960f6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b61919-e7f8-4a11-8db4-9145fbd21da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81dadd1-d650-44b3-88bb-a397f6058a88}" ma:internalName="TaxCatchAll" ma:showField="CatchAllData" ma:web="3eb61919-e7f8-4a11-8db4-9145fbd21d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eb61919-e7f8-4a11-8db4-9145fbd21da9" xsi:nil="true"/>
    <lcf76f155ced4ddcb4097134ff3c332f xmlns="09a37b55-a4d7-45bd-a73f-33c2b1d4189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8643287-08B4-41D2-B4C3-C4037539C0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9a37b55-a4d7-45bd-a73f-33c2b1d41898"/>
    <ds:schemaRef ds:uri="3eb61919-e7f8-4a11-8db4-9145fbd21d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E601672-7921-437C-B0AC-0FD77C6FC3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0811D1C-EFBB-47CE-A62B-7C4133940947}">
  <ds:schemaRefs>
    <ds:schemaRef ds:uri="http://schemas.microsoft.com/office/2006/metadata/properties"/>
    <ds:schemaRef ds:uri="http://schemas.microsoft.com/office/infopath/2007/PartnerControls"/>
    <ds:schemaRef ds:uri="3eb61919-e7f8-4a11-8db4-9145fbd21da9"/>
    <ds:schemaRef ds:uri="09a37b55-a4d7-45bd-a73f-33c2b1d4189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19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Orange Experience</vt:lpstr>
      <vt:lpstr>Práce s daty: etika a důvěryhodnost</vt:lpstr>
      <vt:lpstr>Co nás čeká</vt:lpstr>
      <vt:lpstr>1 · Co dělá data „otevřenými“?</vt:lpstr>
      <vt:lpstr>1 · Kde hledat důvěryhodná data</vt:lpstr>
      <vt:lpstr>2 · Než data otevřete v Excelu</vt:lpstr>
      <vt:lpstr>2 · Pravidla čisté tabulky</vt:lpstr>
      <vt:lpstr>3 · Přímé vs. nepřímé identifikátory</vt:lpstr>
      <vt:lpstr>3 · Příklad: váš vlastní třídní katalog</vt:lpstr>
      <vt:lpstr>4 · Co je „osobní údaj“?</vt:lpstr>
      <vt:lpstr>4 · Kdy se GDPR týká i vašeho projektu?</vt:lpstr>
      <vt:lpstr>5 · GDPR vs. NDA – často se plete</vt:lpstr>
      <vt:lpstr>5 · Praktický scénář: praxe v IT firmě</vt:lpstr>
      <vt:lpstr>6 · Průměr vs. medián</vt:lpstr>
      <vt:lpstr>6 · Procenta, která straší</vt:lpstr>
      <vt:lpstr>6 · Korelace není příčina</vt:lpstr>
      <vt:lpstr>7 · Stejná data, dva úplně jiné dojmy</vt:lpstr>
      <vt:lpstr>7 · Další triky, kterých si všímat</vt:lpstr>
      <vt:lpstr>7 · Jaký graf zvolit?</vt:lpstr>
      <vt:lpstr>K diskuzi: než odevzdáte projekt s daty…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88</cp:revision>
  <dcterms:created xsi:type="dcterms:W3CDTF">2026-09-02T06:40:14Z</dcterms:created>
  <dcterms:modified xsi:type="dcterms:W3CDTF">2026-09-24T09:50:58Z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0x01010052F7ECDF1E614946A5A39D5552BFC522</vt:lpwstr>
  </property>
  <property fmtid="{D5CDD505-2E9C-101B-9397-08002B2CF9AE}" pid="3" name="MediaServiceImageTags">
    <vt:lpwstr/>
  </property>
</Properties>
</file>