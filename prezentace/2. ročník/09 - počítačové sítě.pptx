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AF137-F5E4-6CD0-2C72-90489443E9F6}" v="2" dt="2026-09-24T09:50:57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B7AF137-F5E4-6CD0-2C72-90489443E9F6}"/>
    <pc:docChg chg="modSld">
      <pc:chgData name="Sládeček David" userId="S::sladecek@hradebni.cz::474d93f0-3a32-49cc-b837-47806091b590" providerId="AD" clId="Web-{3B7AF137-F5E4-6CD0-2C72-90489443E9F6}" dt="2026-09-24T09:50:57.569" v="1" actId="20577"/>
      <pc:docMkLst>
        <pc:docMk/>
      </pc:docMkLst>
      <pc:sldChg chg="modSp">
        <pc:chgData name="Sládeček David" userId="S::sladecek@hradebni.cz::474d93f0-3a32-49cc-b837-47806091b590" providerId="AD" clId="Web-{3B7AF137-F5E4-6CD0-2C72-90489443E9F6}" dt="2026-09-24T09:50:57.569" v="1" actId="20577"/>
        <pc:sldMkLst>
          <pc:docMk/>
          <pc:sldMk cId="0" sldId="274"/>
        </pc:sldMkLst>
        <pc:spChg chg="mod">
          <ac:chgData name="Sládeček David" userId="S::sladecek@hradebni.cz::474d93f0-3a32-49cc-b837-47806091b590" providerId="AD" clId="Web-{3B7AF137-F5E4-6CD0-2C72-90489443E9F6}" dt="2026-09-24T09:50:57.569" v="1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5D27F-1F31-4BE3-8CDF-23166E820B30}" type="datetimeFigureOut">
              <a:t>24.09.2026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165A1-8B5C-4998-B327-EB8D7614E2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Ukažte F12 → Síť a obnovte zpravodajský web – obvykle přes 100 požadavků (obrázky, styly, skripty, reklamy, měření).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Klikněte na zámeček v adresním řádku → Certifikát. Certifikáty zdarma vydává např. Let's Encrypt, proto je mají i podvodné weby.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Doména .cz stojí u registrátorů řádově stovky Kč ročně. Doménu .cz spravuje sdružení CZ.NIC. Certifikát zdarma vydává Let's Encrypt; GitHub Pages ho nastaví automaticky.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Spusťte tracert na server v zahraničí a sledujte, jak rostou časy odezvy – podle nich se dá odhadnout, kde paket opouští Evropu.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Sítě: co se stane, když napíšu adresu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Digitální a mediální gramotnost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Co nás čeká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IP, DNS, protokoly a model ISO/OSI už znáte z 1. ročníku</a:t>
            </a:r>
          </a:p>
          <a:p>
            <a:r>
              <a:rPr sz="1800" b="0" i="0"/>
              <a:t>Teď je poskládáme do jedné cesty – od Enteru ke stránce</a:t>
            </a:r>
          </a:p>
          <a:p>
            <a:r>
              <a:rPr sz="1800" b="0" i="0"/>
              <a:t>A podíváme se, kdo všechno na té cestě vidí, co děláte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02" name="Oval 901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355080" y="16459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903720" y="16093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Cesta požadavku</a:t>
            </a:r>
            <a:r>
              <a:rPr sz="1050">
                <a:solidFill>
                  <a:srgbClr val="7A7A7A"/>
                </a:solidFill>
                <a:latin typeface="Arial"/>
              </a:rPr>
              <a:t>  od adresy ke stránce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903720" y="211226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Oval 905"/>
          <p:cNvSpPr/>
          <p:nvPr/>
        </p:nvSpPr>
        <p:spPr>
          <a:xfrm>
            <a:off x="6400800" y="219456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355080" y="219456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6903720" y="215798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DNS</a:t>
            </a:r>
            <a:r>
              <a:rPr sz="1050">
                <a:solidFill>
                  <a:srgbClr val="7A7A7A"/>
                </a:solidFill>
                <a:latin typeface="Arial"/>
              </a:rPr>
              <a:t>  telefonní seznam internetu</a:t>
            </a:r>
          </a:p>
        </p:txBody>
      </p:sp>
      <p:cxnSp>
        <p:nvCxnSpPr>
          <p:cNvPr id="909" name="Connector 908"/>
          <p:cNvCxnSpPr/>
          <p:nvPr/>
        </p:nvCxnSpPr>
        <p:spPr>
          <a:xfrm>
            <a:off x="6903720" y="266090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" name="Oval 909"/>
          <p:cNvSpPr/>
          <p:nvPr/>
        </p:nvSpPr>
        <p:spPr>
          <a:xfrm>
            <a:off x="6400800" y="274320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355080" y="274320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03720" y="270662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HTTPS a certifikáty</a:t>
            </a:r>
            <a:r>
              <a:rPr sz="1050">
                <a:solidFill>
                  <a:srgbClr val="7A7A7A"/>
                </a:solidFill>
                <a:latin typeface="Arial"/>
              </a:rPr>
              <a:t>  co znamená zámeček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903720" y="320954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 913"/>
          <p:cNvSpPr/>
          <p:nvPr/>
        </p:nvSpPr>
        <p:spPr>
          <a:xfrm>
            <a:off x="6400800" y="3291839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6355080" y="3291839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03720" y="3255263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Domácí síť</a:t>
            </a:r>
            <a:r>
              <a:rPr sz="1050">
                <a:solidFill>
                  <a:srgbClr val="7A7A7A"/>
                </a:solidFill>
                <a:latin typeface="Arial"/>
              </a:rPr>
              <a:t>  router, DHCP, Wi‑Fi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6903720" y="3758183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Oval 917"/>
          <p:cNvSpPr/>
          <p:nvPr/>
        </p:nvSpPr>
        <p:spPr>
          <a:xfrm>
            <a:off x="6400800" y="384048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6355080" y="384048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03720" y="380390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Hosting a doména</a:t>
            </a:r>
            <a:r>
              <a:rPr sz="1050">
                <a:solidFill>
                  <a:srgbClr val="7A7A7A"/>
                </a:solidFill>
                <a:latin typeface="Arial"/>
              </a:rPr>
              <a:t>  jak dostat web na internet</a:t>
            </a:r>
          </a:p>
        </p:txBody>
      </p:sp>
      <p:cxnSp>
        <p:nvCxnSpPr>
          <p:cNvPr id="921" name="Connector 920"/>
          <p:cNvCxnSpPr/>
          <p:nvPr/>
        </p:nvCxnSpPr>
        <p:spPr>
          <a:xfrm>
            <a:off x="6903720" y="43068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Oval 921"/>
          <p:cNvSpPr/>
          <p:nvPr/>
        </p:nvSpPr>
        <p:spPr>
          <a:xfrm>
            <a:off x="6400800" y="438912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6355080" y="43891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903720" y="43525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Soukromí a VPN</a:t>
            </a:r>
            <a:r>
              <a:rPr sz="1050">
                <a:solidFill>
                  <a:srgbClr val="7A7A7A"/>
                </a:solidFill>
                <a:latin typeface="Arial"/>
              </a:rPr>
              <a:t>  kdo vás sleduje a co pomáhá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6903720" y="485546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Oval 925"/>
          <p:cNvSpPr/>
          <p:nvPr/>
        </p:nvSpPr>
        <p:spPr>
          <a:xfrm>
            <a:off x="6400800" y="4937759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7" name="TextBox 926"/>
          <p:cNvSpPr txBox="1"/>
          <p:nvPr/>
        </p:nvSpPr>
        <p:spPr>
          <a:xfrm>
            <a:off x="6355080" y="4937759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6903720" y="4901183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Nástroje</a:t>
            </a:r>
            <a:r>
              <a:rPr sz="1050">
                <a:solidFill>
                  <a:srgbClr val="7A7A7A"/>
                </a:solidFill>
                <a:latin typeface="Arial"/>
              </a:rPr>
              <a:t>  ping, tracert, nslookup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Cesta požadavku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Za jedním kliknutím jsou desítky kroků</a:t>
            </a:r>
          </a:p>
          <a:p>
            <a:r>
              <a:rPr sz="1800" b="0" i="0"/>
              <a:t>Navazuje na protokoly a ISO/OSI z 1. ročníku</a:t>
            </a:r>
          </a:p>
          <a:p>
            <a:r>
              <a:rPr sz="1800" b="0" i="0"/>
              <a:t>Prohlížeč vše ukáže v nástrojích pro vývojáře (F12 → Síť)</a:t>
            </a:r>
          </a:p>
          <a:p>
            <a:pPr>
              <a:buNone/>
            </a:pPr>
          </a:p>
          <a:p>
            <a:r>
              <a:rPr sz="1800" i="1"/>
              <a:t>Kolik požadavků vyvolá otevření jedné zpravodajské stránky?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28600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228600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OD ENTERU KE STRÁNCE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Oval 904"/>
          <p:cNvSpPr/>
          <p:nvPr/>
        </p:nvSpPr>
        <p:spPr>
          <a:xfrm>
            <a:off x="6510528" y="222656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464808" y="222656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949440" y="2194560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Napíšete adresu </a:t>
            </a:r>
            <a:r>
              <a:rPr sz="1200" b="1" i="0">
                <a:solidFill>
                  <a:srgbClr val="333333"/>
                </a:solidFill>
                <a:latin typeface="Arial"/>
              </a:rPr>
              <a:t>hradebni.cz</a:t>
            </a:r>
          </a:p>
        </p:txBody>
      </p:sp>
      <p:pic>
        <p:nvPicPr>
          <p:cNvPr id="908" name="Picture 907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2615184"/>
            <a:ext cx="219456" cy="219456"/>
          </a:xfrm>
          <a:prstGeom prst="rect">
            <a:avLst/>
          </a:prstGeom>
        </p:spPr>
      </p:pic>
      <p:sp>
        <p:nvSpPr>
          <p:cNvPr id="909" name="Rounded Rectangle 908"/>
          <p:cNvSpPr/>
          <p:nvPr/>
        </p:nvSpPr>
        <p:spPr>
          <a:xfrm>
            <a:off x="6400800" y="2862072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Oval 909"/>
          <p:cNvSpPr/>
          <p:nvPr/>
        </p:nvSpPr>
        <p:spPr>
          <a:xfrm>
            <a:off x="6510528" y="2894076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464808" y="2894076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49440" y="2862072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DNS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přeloží jméno na IP adresu</a:t>
            </a:r>
          </a:p>
        </p:txBody>
      </p:sp>
      <p:pic>
        <p:nvPicPr>
          <p:cNvPr id="913" name="Picture 912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3282696"/>
            <a:ext cx="219456" cy="219456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6400800" y="3529584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3561588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356158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529584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TCP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spojení a </a:t>
            </a:r>
            <a:r>
              <a:rPr sz="1200" b="1" i="0">
                <a:solidFill>
                  <a:srgbClr val="333333"/>
                </a:solidFill>
                <a:latin typeface="Arial"/>
              </a:rPr>
              <a:t>TLS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– dohoda na šifrování</a:t>
            </a:r>
          </a:p>
        </p:txBody>
      </p:sp>
      <p:pic>
        <p:nvPicPr>
          <p:cNvPr id="918" name="Picture 917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3950208"/>
            <a:ext cx="219456" cy="219456"/>
          </a:xfrm>
          <a:prstGeom prst="rect">
            <a:avLst/>
          </a:prstGeom>
        </p:spPr>
      </p:pic>
      <p:sp>
        <p:nvSpPr>
          <p:cNvPr id="919" name="Rounded Rectangle 918"/>
          <p:cNvSpPr/>
          <p:nvPr/>
        </p:nvSpPr>
        <p:spPr>
          <a:xfrm>
            <a:off x="6400800" y="4197096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Oval 919"/>
          <p:cNvSpPr/>
          <p:nvPr/>
        </p:nvSpPr>
        <p:spPr>
          <a:xfrm>
            <a:off x="6510528" y="4229099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6464808" y="4229099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949440" y="4197096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HTTP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požadavek GET a odpověď serveru</a:t>
            </a:r>
          </a:p>
        </p:txBody>
      </p:sp>
      <p:pic>
        <p:nvPicPr>
          <p:cNvPr id="923" name="Picture 922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4617720"/>
            <a:ext cx="219456" cy="219456"/>
          </a:xfrm>
          <a:prstGeom prst="rect">
            <a:avLst/>
          </a:prstGeom>
        </p:spPr>
      </p:pic>
      <p:sp>
        <p:nvSpPr>
          <p:cNvPr id="924" name="Rounded Rectangle 923"/>
          <p:cNvSpPr/>
          <p:nvPr/>
        </p:nvSpPr>
        <p:spPr>
          <a:xfrm>
            <a:off x="6400800" y="4864608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Oval 924"/>
          <p:cNvSpPr/>
          <p:nvPr/>
        </p:nvSpPr>
        <p:spPr>
          <a:xfrm>
            <a:off x="6510528" y="4896612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6464808" y="489661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6949440" y="4864608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Prohlížeč stáhne obrázky, styly, skripty a </a:t>
            </a:r>
            <a:r>
              <a:rPr sz="1200" b="1" i="0">
                <a:solidFill>
                  <a:srgbClr val="333333"/>
                </a:solidFill>
                <a:latin typeface="Arial"/>
              </a:rPr>
              <a:t>vykreslí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stránku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Lidé si pamatují jména, počítače čísla</a:t>
            </a:r>
          </a:p>
          <a:p>
            <a:r>
              <a:rPr sz="1800" b="0" i="0"/>
              <a:t>Překlad jde hierarchicky: kořen → .cz → doména</a:t>
            </a:r>
          </a:p>
          <a:p>
            <a:r>
              <a:rPr sz="1800" b="0" i="0"/>
              <a:t>Odpověď se ukládá do mezipaměti – proto změna DNS chvíli trvá</a:t>
            </a:r>
          </a:p>
          <a:p>
            <a:pPr>
              <a:buNone/>
            </a:pPr>
          </a:p>
          <a:p>
            <a:r>
              <a:rPr sz="1800" i="1"/>
              <a:t>Co se stane, když DNS server neodpovídá?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377440"/>
                <a:gridCol w="20116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Záznam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Co určuje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Příklad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IPv4 adresa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192.0.2.10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AAAA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IPv6 adresa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2001:db8::10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CNAME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přezdívka jiného jména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www → example.cz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MX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poštovní server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mail.example.cz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TXT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ověření domény, ochrana pošty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záznam SPF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3" name="Rounded Rectangle 902"/>
          <p:cNvSpPr/>
          <p:nvPr/>
        </p:nvSpPr>
        <p:spPr>
          <a:xfrm>
            <a:off x="6400800" y="4892040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4" name="Picture 903" descr="FaSearch_6E786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5056631"/>
            <a:ext cx="310896" cy="310896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6876288" y="4892040"/>
            <a:ext cx="47548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Vyzkoušejte: nslookup hradebni.cz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3 · HTTPS a certifikáty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HTTPS = HTTP + šifrování TLS</a:t>
            </a:r>
          </a:p>
          <a:p>
            <a:r>
              <a:rPr sz="1800" b="0" i="0"/>
              <a:t>Certifikát dokazuje, že server patří k doméně</a:t>
            </a:r>
          </a:p>
          <a:p>
            <a:r>
              <a:rPr sz="1800" b="0" i="0"/>
              <a:t>Zámeček neříká, že je web poctivý – i phishingový web má certifikát</a:t>
            </a:r>
          </a:p>
          <a:p>
            <a:pPr>
              <a:buNone/>
            </a:pPr>
          </a:p>
          <a:p>
            <a:r>
              <a:rPr sz="1800" i="1"/>
              <a:t>Kdo vydal certifikát webu školy?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902" name="Picture 901" descr="FaTimes_D9342B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85800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ZÁMEČEK NEZNAMENÁ</a:t>
            </a:r>
          </a:p>
        </p:txBody>
      </p:sp>
      <p:pic>
        <p:nvPicPr>
          <p:cNvPr id="904" name="Picture 903" descr="FaCheck_2E9E4F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691640"/>
            <a:ext cx="274320" cy="274320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950976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ZÁMEČEK ZNAMENÁ</a:t>
            </a:r>
          </a:p>
        </p:txBody>
      </p:sp>
      <p:cxnSp>
        <p:nvCxnSpPr>
          <p:cNvPr id="906" name="Connector 905"/>
          <p:cNvCxnSpPr/>
          <p:nvPr/>
        </p:nvCxnSpPr>
        <p:spPr>
          <a:xfrm>
            <a:off x="9052560" y="1691640"/>
            <a:ext cx="0" cy="3776472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400800" y="2103120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649224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Web je důvěryhodný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14400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Spojení je šifrované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400800" y="2944368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9224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Firma za webem je poctivá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14400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Server ovládá tuto doménu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400800" y="3785615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49224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Odkaz z e-mailu je v pořádku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14400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Data po cestě nikdo nepřečte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400800" y="4626864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649224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O heslo nemůžete přijít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14400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Data po cestě nikdo nezmění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4 · Domácí síť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Router dělá víc věcí najednou: směrování, Wi‑Fi, DHCP, NAT, firewall</a:t>
            </a:r>
          </a:p>
          <a:p>
            <a:r>
              <a:rPr sz="1800" b="0" i="0"/>
              <a:t>Privátní adresy 192.168.x.x platí jen doma, ven jde jedna veřejná</a:t>
            </a:r>
          </a:p>
          <a:p>
            <a:r>
              <a:rPr sz="1800" b="0" i="0"/>
              <a:t>Výchozí heslo routeru = otevřené dveře</a:t>
            </a:r>
          </a:p>
          <a:p>
            <a:pPr>
              <a:buNone/>
            </a:pPr>
          </a:p>
          <a:p>
            <a:r>
              <a:rPr sz="1800" i="1"/>
              <a:t>Znáte heslo do administrace vašeho routeru?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189988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2189988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ZABEZPEČENÍ ROUTERU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18004"/>
            <a:ext cx="310896" cy="310896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49440" y="2194560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Změnit výchozí heslo administrace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400800" y="2862072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8" name="Picture 907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85516"/>
            <a:ext cx="310896" cy="310896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6949440" y="2862072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Šifrování WPA3, případně WPA2 – nikdy WEP ani otevřená síť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529584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1" name="Picture 910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653028"/>
            <a:ext cx="310896" cy="310896"/>
          </a:xfrm>
          <a:prstGeom prst="rect">
            <a:avLst/>
          </a:prstGeom>
        </p:spPr>
      </p:pic>
      <p:sp>
        <p:nvSpPr>
          <p:cNvPr id="912" name="TextBox 911"/>
          <p:cNvSpPr txBox="1"/>
          <p:nvPr/>
        </p:nvSpPr>
        <p:spPr>
          <a:xfrm>
            <a:off x="6949440" y="3529584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Aktualizovat firmware routeru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6400800" y="4197096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4" name="Picture 913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320540"/>
            <a:ext cx="310896" cy="310896"/>
          </a:xfrm>
          <a:prstGeom prst="rect">
            <a:avLst/>
          </a:prstGeom>
        </p:spPr>
      </p:pic>
      <p:sp>
        <p:nvSpPr>
          <p:cNvPr id="915" name="TextBox 914"/>
          <p:cNvSpPr txBox="1"/>
          <p:nvPr/>
        </p:nvSpPr>
        <p:spPr>
          <a:xfrm>
            <a:off x="6949440" y="4197096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Vypnout WPS a vzdálenou správu, pokud je nepotřebujete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6400800" y="4864608"/>
            <a:ext cx="5303520" cy="557783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Check_2E9E4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988052"/>
            <a:ext cx="310896" cy="310896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6949440" y="4864608"/>
            <a:ext cx="4663440" cy="55778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Hosté a chytrá zařízení v oddělené síti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Hosting a doména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Doména:</a:t>
            </a:r>
            <a:r>
              <a:rPr sz="1800" b="0" i="0"/>
              <a:t> jméno, které si pronajmete u registrátora</a:t>
            </a:r>
          </a:p>
          <a:p>
            <a:r>
              <a:rPr sz="1800" b="1" i="0"/>
              <a:t>Hosting:</a:t>
            </a:r>
            <a:r>
              <a:rPr sz="1800" b="0" i="0"/>
              <a:t> počítač, na kterém web běží</a:t>
            </a:r>
          </a:p>
          <a:p>
            <a:r>
              <a:rPr sz="1800" b="0" i="0"/>
              <a:t>DNS záznam spojí jméno s hostingem</a:t>
            </a:r>
          </a:p>
          <a:p>
            <a:r>
              <a:rPr sz="1800" b="0" i="0"/>
              <a:t>Statický web zdarma na GitHub Pages – tak běží vaše portfolio</a:t>
            </a:r>
          </a:p>
          <a:p>
            <a:pPr>
              <a:buNone/>
            </a:pPr>
          </a:p>
          <a:p>
            <a:r>
              <a:rPr sz="1800" i="1"/>
              <a:t>Kolik stojí doména .cz na rok?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2823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Doména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42823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jméno, stovky Kč za rok</a:t>
            </a:r>
          </a:p>
        </p:txBody>
      </p:sp>
      <p:pic>
        <p:nvPicPr>
          <p:cNvPr id="905" name="Picture 904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515" y="2414016"/>
            <a:ext cx="201168" cy="201168"/>
          </a:xfrm>
          <a:prstGeom prst="rect">
            <a:avLst/>
          </a:prstGeom>
        </p:spPr>
      </p:pic>
      <p:sp>
        <p:nvSpPr>
          <p:cNvPr id="906" name="Rounded Rectangle 905"/>
          <p:cNvSpPr/>
          <p:nvPr/>
        </p:nvSpPr>
        <p:spPr>
          <a:xfrm>
            <a:off x="779526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782269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DNS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782269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záznam A nebo CNAME</a:t>
            </a:r>
          </a:p>
        </p:txBody>
      </p:sp>
      <p:pic>
        <p:nvPicPr>
          <p:cNvPr id="909" name="Picture 908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976" y="2414016"/>
            <a:ext cx="201168" cy="201168"/>
          </a:xfrm>
          <a:prstGeom prst="rect">
            <a:avLst/>
          </a:prstGeom>
        </p:spPr>
      </p:pic>
      <p:sp>
        <p:nvSpPr>
          <p:cNvPr id="910" name="Rounded Rectangle 909"/>
          <p:cNvSpPr/>
          <p:nvPr/>
        </p:nvSpPr>
        <p:spPr>
          <a:xfrm>
            <a:off x="918972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921715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Hosting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21715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GitHub Pages, webhosting, cloud</a:t>
            </a:r>
          </a:p>
        </p:txBody>
      </p:sp>
      <p:pic>
        <p:nvPicPr>
          <p:cNvPr id="913" name="Picture 912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6436" y="2414016"/>
            <a:ext cx="201168" cy="201168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1058418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10611611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Web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10611611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HTTPS certifikát zdarma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6400800" y="3566160"/>
            <a:ext cx="5303520" cy="118872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8" name="Picture 917" descr="FaGlobe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005072"/>
            <a:ext cx="310896" cy="310896"/>
          </a:xfrm>
          <a:prstGeom prst="rect">
            <a:avLst/>
          </a:prstGeom>
        </p:spPr>
      </p:pic>
      <p:sp>
        <p:nvSpPr>
          <p:cNvPr id="919" name="TextBox 918"/>
          <p:cNvSpPr txBox="1"/>
          <p:nvPr/>
        </p:nvSpPr>
        <p:spPr>
          <a:xfrm>
            <a:off x="6876288" y="3566160"/>
            <a:ext cx="4754880" cy="1188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Vaše portfolio: jmeno.github.io – doména GitHubu, hosting zdarma, HTTPS automaticky. Vlastní doménu připojíte záznamem CNAME.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Soukromí 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Cookies třetích stran vás sledují napříč weby</a:t>
            </a:r>
          </a:p>
          <a:p>
            <a:r>
              <a:rPr sz="1800" b="1" i="0"/>
              <a:t>Otisk prohlížeče:</a:t>
            </a:r>
            <a:r>
              <a:rPr sz="1800" b="0" i="0"/>
              <a:t> rozpozná vás i bez cookies</a:t>
            </a:r>
          </a:p>
          <a:p>
            <a:r>
              <a:rPr sz="1800" b="0" i="0"/>
              <a:t>Poskytovatel internetu vidí, ke kterým serverům se připojujete, obsah HTTPS ne</a:t>
            </a:r>
          </a:p>
          <a:p>
            <a:pPr>
              <a:buNone/>
            </a:pPr>
          </a:p>
          <a:p>
            <a:r>
              <a:rPr sz="1800" i="1"/>
              <a:t>Proč vám reklama nabízí přesně to, co jste včera hledali?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Eye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4520"/>
            <a:ext cx="384048" cy="384048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70225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Co vás sleduje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5836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Rounded Rectangle 905"/>
          <p:cNvSpPr/>
          <p:nvPr/>
        </p:nvSpPr>
        <p:spPr>
          <a:xfrm>
            <a:off x="65836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5836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Cookies třetích stran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65836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9" name="TextBox 908"/>
          <p:cNvSpPr txBox="1"/>
          <p:nvPr/>
        </p:nvSpPr>
        <p:spPr>
          <a:xfrm>
            <a:off x="65836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Otisk prohlížeče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5836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5836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Přihlášení přes Google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5836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3" name="TextBox 912"/>
          <p:cNvSpPr txBox="1"/>
          <p:nvPr/>
        </p:nvSpPr>
        <p:spPr>
          <a:xfrm>
            <a:off x="65836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Aplikace v mobilu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91440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5" name="Picture 914" descr="FaUserShield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874520"/>
            <a:ext cx="384048" cy="384048"/>
          </a:xfrm>
          <a:prstGeom prst="rect">
            <a:avLst/>
          </a:prstGeom>
        </p:spPr>
      </p:pic>
      <p:sp>
        <p:nvSpPr>
          <p:cNvPr id="916" name="TextBox 915"/>
          <p:cNvSpPr txBox="1"/>
          <p:nvPr/>
        </p:nvSpPr>
        <p:spPr>
          <a:xfrm>
            <a:off x="97657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Co pomáhá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93268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Rounded Rectangle 917"/>
          <p:cNvSpPr/>
          <p:nvPr/>
        </p:nvSpPr>
        <p:spPr>
          <a:xfrm>
            <a:off x="93268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93268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Blokování sledování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93268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93268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Odmítnout cookies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93268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93268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Oddělené profily prohlížeče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93268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TextBox 924"/>
          <p:cNvSpPr txBox="1"/>
          <p:nvPr/>
        </p:nvSpPr>
        <p:spPr>
          <a:xfrm>
            <a:off x="93268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Kontrola oprávnění aplikací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VPN: co řeší a co 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VPN:</a:t>
            </a:r>
            <a:r>
              <a:rPr sz="1800" b="0" i="0"/>
              <a:t> šifrovaný tunel k serveru poskytovatele VPN</a:t>
            </a:r>
          </a:p>
          <a:p>
            <a:r>
              <a:rPr sz="1800" b="0" i="0"/>
              <a:t>Chrání na veřejné Wi‑Fi a skryje provoz před poskytovatelem internetu</a:t>
            </a:r>
          </a:p>
          <a:p>
            <a:r>
              <a:rPr sz="1800" b="0" i="0"/>
              <a:t>Provozovatel VPN ale vidí to, co dřív poskytovatel – důvěru jen přesouváte</a:t>
            </a:r>
          </a:p>
          <a:p>
            <a:pPr>
              <a:buNone/>
            </a:pPr>
          </a:p>
          <a:p>
            <a:r>
              <a:rPr sz="1800" i="1"/>
              <a:t>Komu svěřujete svůj provoz, když použijete VPN zdarma?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902" name="Picture 901" descr="FaTimes_D9342B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85800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VPN NEŘEŠÍ</a:t>
            </a:r>
          </a:p>
        </p:txBody>
      </p:sp>
      <p:pic>
        <p:nvPicPr>
          <p:cNvPr id="904" name="Picture 903" descr="FaCheck_2E9E4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691640"/>
            <a:ext cx="274320" cy="274320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950976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VPN ŘEŠÍ</a:t>
            </a:r>
          </a:p>
        </p:txBody>
      </p:sp>
      <p:cxnSp>
        <p:nvCxnSpPr>
          <p:cNvPr id="906" name="Connector 905"/>
          <p:cNvCxnSpPr/>
          <p:nvPr/>
        </p:nvCxnSpPr>
        <p:spPr>
          <a:xfrm>
            <a:off x="9052560" y="1691640"/>
            <a:ext cx="0" cy="3776472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400800" y="2103120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649224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Sledování přes cookies a přihlášení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14400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Odposlech na veřejné Wi‑Fi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400800" y="2944368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9224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Phishing a malware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14400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Skrytí provozu před poskytovatelem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400800" y="3785615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49224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Anonymitu před provozovatelem VPN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14400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Přístup do firemní sítě z domova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400800" y="4626864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649224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Slabé heslo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14400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Skrytí vaší IP adresy před webem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7 · Nástroje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Síť se dá „ohmatat“ z příkazového řádku</a:t>
            </a:r>
          </a:p>
          <a:p>
            <a:r>
              <a:rPr sz="1800" b="0" i="0"/>
              <a:t>Ukáže, kde se komunikace zastavila</a:t>
            </a:r>
          </a:p>
          <a:p>
            <a:r>
              <a:rPr sz="1800" b="0" i="0"/>
              <a:t>Stejné příkazy použijete doma i ve firmě</a:t>
            </a:r>
          </a:p>
          <a:p>
            <a:pPr>
              <a:buNone/>
            </a:pPr>
          </a:p>
          <a:p>
            <a:r>
              <a:rPr sz="1800" i="1"/>
              <a:t>Kudy vede cesta ze školy k serveru v USA?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382012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2382012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PŘÍKAZOVÝ ŘÁDEK (CMD)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48840"/>
            <a:ext cx="5303520" cy="32004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TextBox 904"/>
          <p:cNvSpPr txBox="1"/>
          <p:nvPr/>
        </p:nvSpPr>
        <p:spPr>
          <a:xfrm>
            <a:off x="6492240" y="2194560"/>
            <a:ext cx="5120640" cy="3108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ping hradebni.cz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 → odpovídá server? jak rychle?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tracert google.com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 → přes které routery paket jde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nslookup hradebni.cz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 → jakou IP adresu vrátí DNS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ipconfig /all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 → moje IP, brána, DNS server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Kam to vede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Stroje, budovy i auta jsou dnes v síti</a:t>
            </a:r>
          </a:p>
          <a:p>
            <a:r>
              <a:rPr sz="1800" b="0" i="0"/>
              <a:t>Kdo rozumí síti, rozumí i jejím rizikům</a:t>
            </a:r>
          </a:p>
          <a:p>
            <a:r>
              <a:rPr sz="1800" b="1" i="0"/>
              <a:t>Do portfolia:</a:t>
            </a:r>
            <a:r>
              <a:rPr sz="1800" b="0" i="0"/>
              <a:t> popište, jak běží vaše GitHub Pages, nebo připojte vlastní doménu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Bolt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856232"/>
            <a:ext cx="457200" cy="45720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64008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ELEKTROTECHNIKA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5105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5105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Průmyslové sítě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5105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5105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IoT a chytré budovy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5105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TextBox 909"/>
          <p:cNvSpPr txBox="1"/>
          <p:nvPr/>
        </p:nvSpPr>
        <p:spPr>
          <a:xfrm>
            <a:off x="65105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Telekomunikace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2296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2" name="Picture 911" descr="FaLaptopCode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856232"/>
            <a:ext cx="457200" cy="45720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82296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IT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339327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8339327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Správce sítí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8339327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7" name="TextBox 916"/>
          <p:cNvSpPr txBox="1"/>
          <p:nvPr/>
        </p:nvSpPr>
        <p:spPr>
          <a:xfrm>
            <a:off x="8339327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Kyberbezpečnost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339327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8339327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Cloudový inženýr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100584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Cog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1856232"/>
            <a:ext cx="457200" cy="457200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100584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STROJÍRENSTVÍ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101681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4" name="TextBox 923"/>
          <p:cNvSpPr txBox="1"/>
          <p:nvPr/>
        </p:nvSpPr>
        <p:spPr>
          <a:xfrm>
            <a:off x="101681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Průmysl 4.0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01681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101681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Vzdálená diagnostika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101681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8" name="TextBox 927"/>
          <p:cNvSpPr txBox="1"/>
          <p:nvPr/>
        </p:nvSpPr>
        <p:spPr>
          <a:xfrm>
            <a:off x="101681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Digitální dvojče výroby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 diskuzi: vaše síť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Vezměte svou domácí síť a weby, které denně používáte</a:t>
            </a:r>
          </a:p>
          <a:p>
            <a:r>
              <a:rPr sz="1800" b="0" i="0"/>
              <a:t>Projděte je otázkami vpravo</a:t>
            </a:r>
          </a:p>
          <a:p>
            <a:r>
              <a:rPr sz="1800" b="0" i="0"/>
              <a:t>Diskutujte ve dvojicích, pak krátce sdílejte se třídou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Oval 902"/>
          <p:cNvSpPr/>
          <p:nvPr/>
        </p:nvSpPr>
        <p:spPr>
          <a:xfrm>
            <a:off x="6510528" y="183794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464808" y="183794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949440" y="1691640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Co se děje mezi stiskem Enteru a zobrazením stránky?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2441448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Oval 906"/>
          <p:cNvSpPr/>
          <p:nvPr/>
        </p:nvSpPr>
        <p:spPr>
          <a:xfrm>
            <a:off x="6510528" y="2587752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464808" y="258775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949440" y="2441448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Proč zámeček v prohlížeči k důvěře nestačí?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191256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Oval 910"/>
          <p:cNvSpPr/>
          <p:nvPr/>
        </p:nvSpPr>
        <p:spPr>
          <a:xfrm>
            <a:off x="6510528" y="3337560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TextBox 911"/>
          <p:cNvSpPr txBox="1"/>
          <p:nvPr/>
        </p:nvSpPr>
        <p:spPr>
          <a:xfrm>
            <a:off x="6464808" y="3337560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3191256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Je vaše domácí síť zabezpečená podle kontrolního seznamu?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400800" y="3941064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4087368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408736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41064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Kdo všechno vidí, které weby navštěvujete?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400800" y="4690872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Oval 918"/>
          <p:cNvSpPr/>
          <p:nvPr/>
        </p:nvSpPr>
        <p:spPr>
          <a:xfrm>
            <a:off x="6510528" y="4837175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TextBox 919"/>
          <p:cNvSpPr txBox="1"/>
          <p:nvPr/>
        </p:nvSpPr>
        <p:spPr>
          <a:xfrm>
            <a:off x="6464808" y="4837175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949440" y="4690872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Kdy má VPN smysl a kdy je zbytečná?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Orange Experience</vt:lpstr>
      <vt:lpstr>Práce s daty: etika a důvěryhodnost</vt:lpstr>
      <vt:lpstr>Co nás čeká</vt:lpstr>
      <vt:lpstr>1 · Co dělá data „otevřenými“?</vt:lpstr>
      <vt:lpstr>1 · Kde hledat důvěryhodná data</vt:lpstr>
      <vt:lpstr>2 · Než data otevřete v Excelu</vt:lpstr>
      <vt:lpstr>2 · Pravidla čisté tabulky</vt:lpstr>
      <vt:lpstr>3 · Přímé vs. nepřímé identifikátory</vt:lpstr>
      <vt:lpstr>3 · Příklad: váš vlastní třídní katalog</vt:lpstr>
      <vt:lpstr>4 · Co je „osobní údaj“?</vt:lpstr>
      <vt:lpstr>4 · Kdy se GDPR týká i vašeho projektu?</vt:lpstr>
      <vt:lpstr>5 · GDPR vs. NDA – často se plete</vt:lpstr>
      <vt:lpstr>5 · Praktický scénář: praxe v IT firmě</vt:lpstr>
      <vt:lpstr>6 · Průměr vs. medián</vt:lpstr>
      <vt:lpstr>6 · Procenta, která straší</vt:lpstr>
      <vt:lpstr>6 · Korelace není příčina</vt:lpstr>
      <vt:lpstr>7 · Stejná data, dva úplně jiné dojmy</vt:lpstr>
      <vt:lpstr>7 · Další triky, kterých si všímat</vt:lpstr>
      <vt:lpstr>7 · Jaký graf zvolit?</vt:lpstr>
      <vt:lpstr>K diskuzi: než odevzdáte projekt s daty…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2026-09-02T06:40:14Z</dcterms:created>
  <dcterms:modified xsi:type="dcterms:W3CDTF">2026-09-24T09:50:58Z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