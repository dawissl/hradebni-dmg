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333333"/>
                </a:solidFill>
              </a:rPr>
              <a:t>Kusy na skladě podle kategorií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ED6845"/>
            </a:solidFill>
          </c:spPr>
          <c:cat>
            <c:strRef>
              <c:f>Sheet1!$A$2:$A$4</c:f>
              <c:strCache>
                <c:ptCount val="3"/>
                <c:pt idx="0">
                  <c:v>Elektro</c:v>
                </c:pt>
                <c:pt idx="1">
                  <c:v>Mechanika</c:v>
                </c:pt>
                <c:pt idx="2">
                  <c:v>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580</c:v>
                </c:pt>
                <c:pt idx="1">
                  <c:v>1240</c:v>
                </c:pt>
                <c:pt idx="2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6E3D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Dotazy lze zkoušet v prohlížeči bez instalace (např. sqliteonline.com) nebo v programu DB Browser for SQLite. Navazuje na hodinu Práce s daty – čistá tabulka, průměr vs. medián, poctivé grafy.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Odpověď: SELECT nazev, kusu FROM soucastky WHERE kusu &gt; 100; → Rezistor 220 Ω (500), Šroub M6×20 (1200).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Navazuje na hodinu o datech: průměr 367 vytáhnou nahoru šrouby (1200 ks). Medián je 80. SQLite nemá funkci MEDIAN, v Excelu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Při běžném (INNER) JOIN takový řádek z výsledku zmizí. Proto databáze hlídá cizí klíče – nedovolí odkázat na neexistující kategorii.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Sloupcový graf – porovnání kategorií. Pozor: IT má jen 15 kusů, ale jde o dražší položky. Kusy nejsou hodnota skladu – to je otázka, co vlastně chceme ukázat.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Databáze: ptáme se dat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Tabulky, klíče a normalizaci už znáte z 1. ročníku</a:t>
            </a:r>
          </a:p>
          <a:p>
            <a:r>
              <a:rPr sz="1800" b="0" i="0"/>
              <a:t>Teď se naučíme databáze ptát – jazykem SQL</a:t>
            </a:r>
          </a:p>
          <a:p>
            <a:r>
              <a:rPr sz="1800" b="0" i="0"/>
              <a:t>Celou hodinu pracujeme s jednou ukázkovou databází: sklad školní dílny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Proč databáze</a:t>
            </a:r>
            <a:r>
              <a:rPr sz="1050">
                <a:solidFill>
                  <a:srgbClr val="7A7A7A"/>
                </a:solidFill>
                <a:latin typeface="Arial"/>
              </a:rPr>
              <a:t>  když máme Excel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11226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9456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9456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15798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Tabulka a klíč</a:t>
            </a:r>
            <a:r>
              <a:rPr sz="1050">
                <a:solidFill>
                  <a:srgbClr val="7A7A7A"/>
                </a:solidFill>
                <a:latin typeface="Arial"/>
              </a:rPr>
              <a:t>  ukázková databáze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66090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74320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74320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70662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SELECT a WHERE</a:t>
            </a:r>
            <a:r>
              <a:rPr sz="1050">
                <a:solidFill>
                  <a:srgbClr val="7A7A7A"/>
                </a:solidFill>
                <a:latin typeface="Arial"/>
              </a:rPr>
              <a:t>  vybrat a filtrovat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20954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291839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291839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255263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Agregace</a:t>
            </a:r>
            <a:r>
              <a:rPr sz="1050">
                <a:solidFill>
                  <a:srgbClr val="7A7A7A"/>
                </a:solidFill>
                <a:latin typeface="Arial"/>
              </a:rPr>
              <a:t>  COUNT, SUM, AVG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758183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84048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84048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80390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GROUP BY</a:t>
            </a:r>
            <a:r>
              <a:rPr sz="1050">
                <a:solidFill>
                  <a:srgbClr val="7A7A7A"/>
                </a:solidFill>
                <a:latin typeface="Arial"/>
              </a:rPr>
              <a:t>  souhrny po skupinách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43068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3891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3891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3525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JOIN</a:t>
            </a:r>
            <a:r>
              <a:rPr sz="1050">
                <a:solidFill>
                  <a:srgbClr val="7A7A7A"/>
                </a:solidFill>
                <a:latin typeface="Arial"/>
              </a:rPr>
              <a:t>  spojení tabulek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85546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937759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937759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901183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Od dotazu ke grafu</a:t>
            </a:r>
            <a:r>
              <a:rPr sz="1050">
                <a:solidFill>
                  <a:srgbClr val="7A7A7A"/>
                </a:solidFill>
                <a:latin typeface="Arial"/>
              </a:rPr>
              <a:t>  výstup srozumitelně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Proč databáze, když máme Excel?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Tabulka se hodí na menší data a jednoho uživatele</a:t>
            </a:r>
          </a:p>
          <a:p>
            <a:r>
              <a:rPr sz="1800" b="0" i="0"/>
              <a:t>Databáze zvládne miliony záznamů a mnoho lidí najednou</a:t>
            </a:r>
          </a:p>
          <a:p>
            <a:r>
              <a:rPr sz="1800" b="0" i="0"/>
              <a:t>Hlídá pravidla – nesmysl do dat nepustí</a:t>
            </a:r>
          </a:p>
          <a:p>
            <a:pPr>
              <a:buNone/>
            </a:pPr>
          </a:p>
          <a:p>
            <a:r>
              <a:rPr sz="1800" i="1"/>
              <a:t>Kde jste dnes potkali databázi, aniž byste o tom věděli?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965960"/>
                <a:gridCol w="196596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Vlastnost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Tabulkový procesor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Databáze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Objem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max. ~1 milion řádků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miliony a víc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Více uživatelů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omezeně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současně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Kontrola dat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snadno přepíšete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datové typy a pravidla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Vztahy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SVYHLEDAT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klíče a JOIN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Dotazy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filtry ručně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jazyk SQL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Ukázková databáze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Primární klíč</a:t>
            </a:r>
            <a:r>
              <a:rPr sz="1800" b="0" i="0"/>
              <a:t> (id) jednoznačně určí záznam</a:t>
            </a:r>
          </a:p>
          <a:p>
            <a:r>
              <a:rPr sz="1800" b="1" i="0"/>
              <a:t>Cizí klíč</a:t>
            </a:r>
            <a:r>
              <a:rPr sz="1800" b="0" i="0"/>
              <a:t> (kategorie_id) odkazuje na záznam v jiné tabulce</a:t>
            </a:r>
          </a:p>
          <a:p>
            <a:r>
              <a:rPr sz="1800" b="0" i="0"/>
              <a:t>Název kategorie je uložený jen jednou – normalizace</a:t>
            </a:r>
          </a:p>
          <a:p>
            <a:pPr>
              <a:buNone/>
            </a:pPr>
          </a:p>
          <a:p>
            <a:r>
              <a:rPr sz="1800" i="1"/>
              <a:t>Proč se jako klíč nehodí název součástky?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997964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997964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TABULKA SOUCASTKY</a:t>
            </a:r>
          </a:p>
        </p:txBody>
      </p:sp>
      <p:graphicFrame>
        <p:nvGraphicFramePr>
          <p:cNvPr id="904" name="Table 903"/>
          <p:cNvGraphicFramePr>
            <a:graphicFrameLocks noGrp="1"/>
          </p:cNvGraphicFramePr>
          <p:nvPr/>
        </p:nvGraphicFramePr>
        <p:xfrm>
          <a:off x="6309360" y="2103120"/>
          <a:ext cx="53949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  <a:gridCol w="1463040"/>
                <a:gridCol w="100584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nazev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kategorie_id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kusu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Rezistor 220 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Šroub M6×20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1200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Arduino Uno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Kondenzátor 100 µF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Ložisko 608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5" name="Rounded Rectangle 904"/>
          <p:cNvSpPr/>
          <p:nvPr/>
        </p:nvSpPr>
        <p:spPr>
          <a:xfrm>
            <a:off x="6400800" y="4114800"/>
            <a:ext cx="1997964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00800" y="4114800"/>
            <a:ext cx="1997964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TABULKA KATEGORIE</a:t>
            </a:r>
          </a:p>
        </p:txBody>
      </p:sp>
      <p:graphicFrame>
        <p:nvGraphicFramePr>
          <p:cNvPr id="907" name="Table 906"/>
          <p:cNvGraphicFramePr>
            <a:graphicFrameLocks noGrp="1"/>
          </p:cNvGraphicFramePr>
          <p:nvPr/>
        </p:nvGraphicFramePr>
        <p:xfrm>
          <a:off x="6309360" y="4480560"/>
          <a:ext cx="292608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nazev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Elektro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Mechanika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SELECT a 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SQL se čte skoro jako anglická věta</a:t>
            </a:r>
          </a:p>
          <a:p>
            <a:r>
              <a:rPr sz="1800" b="1" i="0"/>
              <a:t>SELECT</a:t>
            </a:r>
            <a:r>
              <a:rPr sz="1800" b="0" i="0"/>
              <a:t> které sloupce, </a:t>
            </a:r>
            <a:r>
              <a:rPr sz="1800" b="1" i="0"/>
              <a:t>FROM</a:t>
            </a:r>
            <a:r>
              <a:rPr sz="1800" b="0" i="0"/>
              <a:t> z jaké tabulky, </a:t>
            </a:r>
            <a:r>
              <a:rPr sz="1800" b="1" i="0"/>
              <a:t>WHERE</a:t>
            </a:r>
            <a:r>
              <a:rPr sz="1800" b="0" i="0"/>
              <a:t> podmínka</a:t>
            </a:r>
          </a:p>
          <a:p>
            <a:r>
              <a:rPr sz="1800" b="0" i="0"/>
              <a:t>Vyzkoušíte v prohlížeči bez instalace</a:t>
            </a:r>
          </a:p>
          <a:p>
            <a:pPr>
              <a:buNone/>
            </a:pPr>
          </a:p>
          <a:p>
            <a:r>
              <a:rPr sz="1800" i="1"/>
              <a:t>Jak zapíšete „součástky, kterých je víc než 100 kusů“?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84582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8458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DOTAZ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48840"/>
            <a:ext cx="5303520" cy="1014984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extBox 904"/>
          <p:cNvSpPr txBox="1"/>
          <p:nvPr/>
        </p:nvSpPr>
        <p:spPr>
          <a:xfrm>
            <a:off x="6492240" y="2194560"/>
            <a:ext cx="5120640" cy="9235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SELECT nazev, kusu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FROM soucastky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WHERE kusu &lt; 50;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3438144"/>
            <a:ext cx="1133856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400800" y="3438144"/>
            <a:ext cx="1133856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VÝSLEDEK</a:t>
            </a:r>
          </a:p>
        </p:txBody>
      </p:sp>
      <p:graphicFrame>
        <p:nvGraphicFramePr>
          <p:cNvPr id="908" name="Table 907"/>
          <p:cNvGraphicFramePr>
            <a:graphicFrameLocks noGrp="1"/>
          </p:cNvGraphicFramePr>
          <p:nvPr/>
        </p:nvGraphicFramePr>
        <p:xfrm>
          <a:off x="6309360" y="3895344"/>
          <a:ext cx="5394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9456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nazev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kusu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Arduino Uno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Ložisko 608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Agregace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Agregační funkce shrnou mnoho řádků do jednoho čísla</a:t>
            </a:r>
          </a:p>
          <a:p>
            <a:r>
              <a:rPr sz="1800" b="0" i="0"/>
              <a:t>Stejné funkce znáte z Excelu: POČET, SUMA, PRŮMĚR</a:t>
            </a:r>
          </a:p>
          <a:p>
            <a:r>
              <a:rPr sz="1800" b="1" i="0"/>
              <a:t>ORDER BY</a:t>
            </a:r>
            <a:r>
              <a:rPr sz="1800" b="0" i="0"/>
              <a:t> výsledek seřadí (ASC vzestupně, DESC sestupně)</a:t>
            </a:r>
          </a:p>
          <a:p>
            <a:pPr>
              <a:buNone/>
            </a:pPr>
          </a:p>
          <a:p>
            <a:r>
              <a:rPr sz="1800" i="1"/>
              <a:t>Popisuje průměr sklad poctivě?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84582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8458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DOTAZ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48840"/>
            <a:ext cx="5303520" cy="1261872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extBox 904"/>
          <p:cNvSpPr txBox="1"/>
          <p:nvPr/>
        </p:nvSpPr>
        <p:spPr>
          <a:xfrm>
            <a:off x="6492240" y="2194560"/>
            <a:ext cx="5120640" cy="11704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SELECT COUNT(*)  AS druhu,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     SUM(kusu) AS celkem,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     AVG(kusu) AS prumer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FROM soucastky;</a:t>
            </a:r>
          </a:p>
        </p:txBody>
      </p:sp>
      <p:graphicFrame>
        <p:nvGraphicFramePr>
          <p:cNvPr id="906" name="Table 905"/>
          <p:cNvGraphicFramePr>
            <a:graphicFrameLocks noGrp="1"/>
          </p:cNvGraphicFramePr>
          <p:nvPr/>
        </p:nvGraphicFramePr>
        <p:xfrm>
          <a:off x="6309360" y="3639312"/>
          <a:ext cx="539496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druhu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celkem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prumer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1835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7" name="Rounded Rectangle 906"/>
          <p:cNvSpPr/>
          <p:nvPr/>
        </p:nvSpPr>
        <p:spPr>
          <a:xfrm>
            <a:off x="6400800" y="4553712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8" name="Picture 907" descr="FaExclamation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786884"/>
            <a:ext cx="310896" cy="310896"/>
          </a:xfrm>
          <a:prstGeom prst="rect">
            <a:avLst/>
          </a:prstGeom>
        </p:spPr>
      </p:pic>
      <p:sp>
        <p:nvSpPr>
          <p:cNvPr id="909" name="TextBox 908"/>
          <p:cNvSpPr txBox="1"/>
          <p:nvPr/>
        </p:nvSpPr>
        <p:spPr>
          <a:xfrm>
            <a:off x="6876288" y="4553712"/>
            <a:ext cx="4754880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Průměr 367 kusů – medián je ale jen 80. Šrouby táhnou průměr nahoru.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GROUP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GROUP BY</a:t>
            </a:r>
            <a:r>
              <a:rPr sz="1800" b="0" i="0"/>
              <a:t> rozdělí řádky do skupin, agregace počítá každou zvlášť</a:t>
            </a:r>
          </a:p>
          <a:p>
            <a:r>
              <a:rPr sz="1800" b="0" i="0"/>
              <a:t>Totéž dělá kontingenční tabulka v Excelu</a:t>
            </a:r>
          </a:p>
          <a:p>
            <a:r>
              <a:rPr sz="1800" b="0" i="0"/>
              <a:t>Výsledek je hotový podklad pro graf</a:t>
            </a:r>
          </a:p>
          <a:p>
            <a:pPr>
              <a:buNone/>
            </a:pPr>
          </a:p>
          <a:p>
            <a:r>
              <a:rPr sz="1800" i="1"/>
              <a:t>Ve které kategorii máme nejvíc kusů?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84582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8458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DOTAZ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48840"/>
            <a:ext cx="5303520" cy="1261872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extBox 904"/>
          <p:cNvSpPr txBox="1"/>
          <p:nvPr/>
        </p:nvSpPr>
        <p:spPr>
          <a:xfrm>
            <a:off x="6492240" y="2194560"/>
            <a:ext cx="5120640" cy="11704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SELECT kategorie_id,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     SUM(kusu) AS celkem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FROM soucastky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GROUP BY kategorie_id;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3639312"/>
            <a:ext cx="1133856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400800" y="3639312"/>
            <a:ext cx="1133856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VÝSLEDEK</a:t>
            </a:r>
          </a:p>
        </p:txBody>
      </p:sp>
      <p:graphicFrame>
        <p:nvGraphicFramePr>
          <p:cNvPr id="908" name="Table 907"/>
          <p:cNvGraphicFramePr>
            <a:graphicFrameLocks noGrp="1"/>
          </p:cNvGraphicFramePr>
          <p:nvPr/>
        </p:nvGraphicFramePr>
        <p:xfrm>
          <a:off x="6309360" y="4050792"/>
          <a:ext cx="5394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kategorie_id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celkem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1240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JOIN: spojení tabulek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Data rozdělená normalizací chceme zase vidět dohromady</a:t>
            </a:r>
          </a:p>
          <a:p>
            <a:r>
              <a:rPr sz="1800" b="1" i="0"/>
              <a:t>JOIN</a:t>
            </a:r>
            <a:r>
              <a:rPr sz="1800" b="0" i="0"/>
              <a:t> spojí řádky podle shodného klíče</a:t>
            </a:r>
          </a:p>
          <a:p>
            <a:r>
              <a:rPr sz="1800" b="0" i="0"/>
              <a:t>Místo čísla kategorie vidíme její název</a:t>
            </a:r>
          </a:p>
          <a:p>
            <a:pPr>
              <a:buNone/>
            </a:pPr>
          </a:p>
          <a:p>
            <a:r>
              <a:rPr sz="1800" i="1"/>
              <a:t>Co se stane se součástkou, jejíž kategorie neexistuje?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84582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8458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DOTAZ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48840"/>
            <a:ext cx="5303520" cy="1261872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TextBox 904"/>
          <p:cNvSpPr txBox="1"/>
          <p:nvPr/>
        </p:nvSpPr>
        <p:spPr>
          <a:xfrm>
            <a:off x="6492240" y="2194560"/>
            <a:ext cx="5120640" cy="11704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SELECT s.nazev, k.nazev AS kategorie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FROM soucastky s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JOIN kategorie k</a:t>
            </a:r>
          </a:p>
          <a:p>
            <a:pPr algn="l"/>
            <a:r>
              <a:rPr sz="1100" b="0" i="0">
                <a:solidFill>
                  <a:srgbClr val="F2F2F2"/>
                </a:solidFill>
                <a:latin typeface="Courier New"/>
              </a:rPr>
              <a:t>  ON s.kategorie_id = k.id;</a:t>
            </a:r>
          </a:p>
        </p:txBody>
      </p:sp>
      <p:graphicFrame>
        <p:nvGraphicFramePr>
          <p:cNvPr id="906" name="Table 905"/>
          <p:cNvGraphicFramePr>
            <a:graphicFrameLocks noGrp="1"/>
          </p:cNvGraphicFramePr>
          <p:nvPr/>
        </p:nvGraphicFramePr>
        <p:xfrm>
          <a:off x="6309360" y="3639312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4688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nazev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kategorie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Rezistor 220 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Elektro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Šroub M6×20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Mechanika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Arduino Uno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…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…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Od dotazu ke grafu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Výsledek dotazu exportujte do CSV a otevřete v Excelu</a:t>
            </a:r>
          </a:p>
          <a:p>
            <a:r>
              <a:rPr sz="1800" b="0" i="0"/>
              <a:t>Výstup z GROUP BY je přímo podklad pro graf</a:t>
            </a:r>
          </a:p>
          <a:p>
            <a:r>
              <a:rPr sz="1800" b="0" i="0"/>
              <a:t>Platí pravidla poctivých grafů z hodiny o datech</a:t>
            </a:r>
          </a:p>
          <a:p>
            <a:pPr>
              <a:buNone/>
            </a:pPr>
          </a:p>
          <a:p>
            <a:r>
              <a:rPr sz="1800" i="1"/>
              <a:t>Jaký typ grafu se hodí pro kusy podle kategorií?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902" name="Chart 901"/>
          <p:cNvGraphicFramePr>
            <a:graphicFrameLocks noGrp="1"/>
          </p:cNvGraphicFramePr>
          <p:nvPr/>
        </p:nvGraphicFramePr>
        <p:xfrm>
          <a:off x="6400800" y="1691640"/>
          <a:ext cx="53035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03" name="Rounded Rectangle 902"/>
          <p:cNvSpPr/>
          <p:nvPr/>
        </p:nvSpPr>
        <p:spPr>
          <a:xfrm>
            <a:off x="6400800" y="4572000"/>
            <a:ext cx="1120140" cy="96012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28232" y="4645152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SQL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428232" y="5074920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GROUP BY</a:t>
            </a:r>
          </a:p>
        </p:txBody>
      </p:sp>
      <p:pic>
        <p:nvPicPr>
          <p:cNvPr id="906" name="Picture 905" descr="FaArrowRight_ED684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515" y="4951476"/>
            <a:ext cx="201168" cy="201168"/>
          </a:xfrm>
          <a:prstGeom prst="rect">
            <a:avLst/>
          </a:prstGeom>
        </p:spPr>
      </p:pic>
      <p:sp>
        <p:nvSpPr>
          <p:cNvPr id="907" name="Rounded Rectangle 906"/>
          <p:cNvSpPr/>
          <p:nvPr/>
        </p:nvSpPr>
        <p:spPr>
          <a:xfrm>
            <a:off x="7795260" y="4572000"/>
            <a:ext cx="1120140" cy="96012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7822692" y="4645152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CSV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7822692" y="5074920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export</a:t>
            </a:r>
          </a:p>
        </p:txBody>
      </p:sp>
      <p:pic>
        <p:nvPicPr>
          <p:cNvPr id="910" name="Picture 909" descr="FaArrowRight_ED684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976" y="4951476"/>
            <a:ext cx="201168" cy="201168"/>
          </a:xfrm>
          <a:prstGeom prst="rect">
            <a:avLst/>
          </a:prstGeom>
        </p:spPr>
      </p:pic>
      <p:sp>
        <p:nvSpPr>
          <p:cNvPr id="911" name="Rounded Rectangle 910"/>
          <p:cNvSpPr/>
          <p:nvPr/>
        </p:nvSpPr>
        <p:spPr>
          <a:xfrm>
            <a:off x="9189720" y="4572000"/>
            <a:ext cx="1120140" cy="96012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9217152" y="4645152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Excel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9217152" y="5074920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import dat</a:t>
            </a:r>
          </a:p>
        </p:txBody>
      </p:sp>
      <p:pic>
        <p:nvPicPr>
          <p:cNvPr id="914" name="Picture 913" descr="FaArrowRight_ED684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6436" y="4951476"/>
            <a:ext cx="201168" cy="201168"/>
          </a:xfrm>
          <a:prstGeom prst="rect">
            <a:avLst/>
          </a:prstGeom>
        </p:spPr>
      </p:pic>
      <p:sp>
        <p:nvSpPr>
          <p:cNvPr id="915" name="Rounded Rectangle 914"/>
          <p:cNvSpPr/>
          <p:nvPr/>
        </p:nvSpPr>
        <p:spPr>
          <a:xfrm>
            <a:off x="10584180" y="4572000"/>
            <a:ext cx="1120140" cy="96012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10611611" y="4645152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Graf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10611611" y="5074920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osa od nuly, zdroj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Každá firma má data ve skladu, výrobě i účetnictví</a:t>
            </a:r>
          </a:p>
          <a:p>
            <a:r>
              <a:rPr sz="1800" b="0" i="0"/>
              <a:t>SQL se používá přes 50 let – vyplatí se ho umět</a:t>
            </a:r>
          </a:p>
          <a:p>
            <a:r>
              <a:rPr sz="1800" b="1" i="0"/>
              <a:t>Do portfolia:</a:t>
            </a:r>
            <a:r>
              <a:rPr sz="1800" b="0" i="0"/>
              <a:t> navrhněte databázi pro data ze svého odborného bloku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Data ze senzorů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Energetické systémy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Měření a diagnostika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Databázový specialista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Datový analytik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Backend vývojář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Výrobní systémy (ERP)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Správa výkresů (PDM)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Řízení kvality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vaše databáze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Navrhněte tabulky pro data ze svého projektu</a:t>
            </a:r>
          </a:p>
          <a:p>
            <a:r>
              <a:rPr sz="1800" b="0" i="0"/>
              <a:t>Projděte návrh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Má každá tabulka primární klíč?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Neopakují se data zbytečně ve více řádcích?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Umíte slovy popsat, co váš dotaz vrátí?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 průměr ve výsledku poctivý, nebo potřebujete medián?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Odpovídá graf tomu, co dotaz opravdu spočítal?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