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Rešerše z této hodiny je přímý podklad pro odborný článek (LaTeX) ve druhém pololetí.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Výzkum Stanfordu (Wineburg, McGrew): profesionální fact-checkeři hodnotili weby rychleji a přesněji než studenti i historici – protože web brzy opustili a ověřovali ho jinde.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Ukázka je ilustrativní. Orientačně: PLA měkne kolem 55–60 °C, PETG kolem 75–80 °C. Rozdíly mezi zdroji často vysvětlí podmínky tisku (teplota, výplň, orientace).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Navazuje na Reklamu a manipulaci v médiích z 1. ročníku a na mediální výchovu v ČJD.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Navazuje na profil @lyceum.hradebni: žáci jsou v roli autorů sdělení. Nechte je přepsat přehnaný slogan na konkrétní, ověřitelné tvrzení.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Informace: rešerše a kritické čtení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Vyhledávání a reklamu v médiích už znáte z 1. ročníku</a:t>
            </a:r>
          </a:p>
          <a:p>
            <a:r>
              <a:rPr sz="1800" b="0" i="0"/>
              <a:t>Dnes: jak najít odborné zdroje, ověřit je a poskládat z nich vlastní text</a:t>
            </a:r>
          </a:p>
          <a:p>
            <a:r>
              <a:rPr sz="1800" b="0" i="0"/>
              <a:t>Základ pro odborné články ve 2. pololetí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Laterální čtení</a:t>
            </a:r>
            <a:r>
              <a:rPr sz="1050">
                <a:solidFill>
                  <a:srgbClr val="7A7A7A"/>
                </a:solidFill>
                <a:latin typeface="Arial"/>
              </a:rPr>
              <a:t>  jak ověřují profesionálové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0493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316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316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095118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Odborné zdroje</a:t>
            </a:r>
            <a:r>
              <a:rPr sz="1050">
                <a:solidFill>
                  <a:srgbClr val="7A7A7A"/>
                </a:solidFill>
                <a:latin typeface="Arial"/>
              </a:rPr>
              <a:t>  Scholar, normy, datasheety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5351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6174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6174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5808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Hodnocení zdroje</a:t>
            </a:r>
            <a:r>
              <a:rPr sz="1050">
                <a:solidFill>
                  <a:srgbClr val="7A7A7A"/>
                </a:solidFill>
                <a:latin typeface="Arial"/>
              </a:rPr>
              <a:t>  kdo, kdy, proč, z čeho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0209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1032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1032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0666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Syntéza</a:t>
            </a:r>
            <a:r>
              <a:rPr sz="1050">
                <a:solidFill>
                  <a:srgbClr val="7A7A7A"/>
                </a:solidFill>
                <a:latin typeface="Arial"/>
              </a:rPr>
              <a:t>  z deseti zdrojů jeden text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5067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5890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5890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5524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Kritické čtení zpráv</a:t>
            </a:r>
            <a:r>
              <a:rPr sz="1050">
                <a:solidFill>
                  <a:srgbClr val="7A7A7A"/>
                </a:solidFill>
                <a:latin typeface="Arial"/>
              </a:rPr>
              <a:t>  titulek, rámování, výběr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39924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0747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0747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03821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Algoritmy a bubliny</a:t>
            </a:r>
            <a:r>
              <a:rPr sz="1050">
                <a:solidFill>
                  <a:srgbClr val="7A7A7A"/>
                </a:solidFill>
                <a:latin typeface="Arial"/>
              </a:rPr>
              <a:t>  proč vidíte, co vidíte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4782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5605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5605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5239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AI při rešerši</a:t>
            </a:r>
            <a:r>
              <a:rPr sz="1050">
                <a:solidFill>
                  <a:srgbClr val="7A7A7A"/>
                </a:solidFill>
                <a:latin typeface="Arial"/>
              </a:rPr>
              <a:t>  pomocník, ne zdroj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6903720" y="49640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Oval 929"/>
          <p:cNvSpPr/>
          <p:nvPr/>
        </p:nvSpPr>
        <p:spPr>
          <a:xfrm>
            <a:off x="6400800" y="50463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1" name="TextBox 930"/>
          <p:cNvSpPr txBox="1"/>
          <p:nvPr/>
        </p:nvSpPr>
        <p:spPr>
          <a:xfrm>
            <a:off x="6355080" y="50463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903720" y="50097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PR a propagace</a:t>
            </a:r>
            <a:r>
              <a:rPr sz="1050">
                <a:solidFill>
                  <a:srgbClr val="7A7A7A"/>
                </a:solidFill>
                <a:latin typeface="Arial"/>
              </a:rPr>
              <a:t>  když sdělení tvoříte vy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Laterální čtení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Začátečník čte web shora dolů a věří vzhledu</a:t>
            </a:r>
          </a:p>
          <a:p>
            <a:r>
              <a:rPr sz="1800" b="0" i="0"/>
              <a:t>Ověřovatel hned otevře nové záložky a zjišťuje, kdo za webem stojí</a:t>
            </a:r>
          </a:p>
          <a:p>
            <a:r>
              <a:rPr sz="1800" b="0" i="0"/>
              <a:t>Za minutu ví víc než po deseti minutách na samotném webu</a:t>
            </a:r>
          </a:p>
          <a:p>
            <a:pPr>
              <a:buNone/>
            </a:pPr>
          </a:p>
          <a:p>
            <a:r>
              <a:rPr sz="1800" i="1"/>
              <a:t>Jak ověříte web, který jste nikdy neviděli?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ČTENÍ SVISLE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LATERÁLNÍ ČTENÍ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Čtu web od začátku do konce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Nejdřív zjistím, kdo za webem stojí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Věřím profesionálnímu vzhledu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Hledám, co o webu píší jiní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Hodnotím podle sekce „O nás“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Ověřím autora mimo web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Trvá dlouho, výsledek nejistý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Za minutu mám první závěr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Kde hledat odborné zdroje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Odborný text stojí na ověřitelných zdrojích, ne na prvním odkazu</a:t>
            </a:r>
          </a:p>
          <a:p>
            <a:r>
              <a:rPr sz="1800" b="0" i="0"/>
              <a:t>Technika se píše hlavně anglicky – přesah do angličtiny</a:t>
            </a:r>
          </a:p>
          <a:p>
            <a:r>
              <a:rPr sz="1800" b="0" i="0"/>
              <a:t>Wikipedie je dobrý začátek, ne zdroj do citace</a:t>
            </a:r>
          </a:p>
          <a:p>
            <a:pPr>
              <a:buNone/>
            </a:pPr>
          </a:p>
          <a:p>
            <a:r>
              <a:rPr sz="1800" i="1"/>
              <a:t>Kde najdete parametry konkrétního motoru nebo čidla?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70992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70992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ODBORNÉ ZDROJE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GraduationCap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Google Scholar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Odborné články a citace – kdo na koho navazuje.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RulerCombined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Normy ČSN, ISO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Závazná technická pravidla. Přístup přes školu nebo knihovnu.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FileAlt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Datasheety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Parametry součástek, materiálů a strojů přímo od výrobce.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University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Knihovny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Národní technická knihovna, univerzity, patenty v Espacenet.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Hodnocení zdroje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Čtyři otázky pro každý zdroj</a:t>
            </a:r>
          </a:p>
          <a:p>
            <a:r>
              <a:rPr sz="1800" b="0" i="0"/>
              <a:t>Žádný zdroj není dokonalý – jde o to vědět, jak moc mu věřit</a:t>
            </a:r>
          </a:p>
          <a:p>
            <a:r>
              <a:rPr sz="1800" b="0" i="0"/>
              <a:t>Odpovědi si zapisujte, při syntéze je využijete</a:t>
            </a:r>
          </a:p>
          <a:p>
            <a:pPr>
              <a:buNone/>
            </a:pPr>
          </a:p>
          <a:p>
            <a:r>
              <a:rPr sz="1800" i="1"/>
              <a:t>Projde Wikipedie těmito otázkami?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80594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80594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KONTROLA ZDROJE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User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01443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Kdo: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autor, instituce, odbornost?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302895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CalendarAlt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235833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302895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Kdy: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je informace aktuální? U techniky rozhoduje rok.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863339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Bullseye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070223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863339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Proč: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chce informovat, prodat, nebo přesvědčit?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697730"/>
            <a:ext cx="5303520" cy="72466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Link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904613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697730"/>
            <a:ext cx="4663440" cy="7246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Z čeho: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uvádí data, měření, další zdroje?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Syntéza: z deseti zdrojů jeden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Syntéza ≠ výpisky za sebou – hledáte shody a rozpory</a:t>
            </a:r>
          </a:p>
          <a:p>
            <a:r>
              <a:rPr sz="1800" b="0" i="0"/>
              <a:t>Srovnávací tabulka ukáže, v čem se zdroje shodují</a:t>
            </a:r>
          </a:p>
          <a:p>
            <a:r>
              <a:rPr sz="1800" b="0" i="0"/>
              <a:t>Rozpor nemažte – vysvětlete, proč vzniká</a:t>
            </a:r>
          </a:p>
          <a:p>
            <a:pPr>
              <a:buNone/>
            </a:pPr>
          </a:p>
          <a:p>
            <a:r>
              <a:rPr sz="1800" i="1"/>
              <a:t>Co uděláte, když se dva zdroje neshodnou?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74036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574036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UKÁZKA: PLA, NEBO PETG?</a:t>
            </a:r>
          </a:p>
        </p:txBody>
      </p:sp>
      <p:graphicFrame>
        <p:nvGraphicFramePr>
          <p:cNvPr id="904" name="Table 903"/>
          <p:cNvGraphicFramePr>
            <a:graphicFrameLocks noGrp="1"/>
          </p:cNvGraphicFramePr>
          <p:nvPr/>
        </p:nvGraphicFramePr>
        <p:xfrm>
          <a:off x="6309360" y="2148840"/>
          <a:ext cx="539496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25880"/>
                <a:gridCol w="1325880"/>
                <a:gridCol w="11887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Typ zdroje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Houževnatost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Měknutí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Důkaz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Arial"/>
                        </a:rPr>
                        <a:t>Datasheet výrobce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PETG vyšší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PETG ~80 °C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měření výrobce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Arial"/>
                        </a:rPr>
                        <a:t>Odborný článek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PETG vyšší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PLA ~60 °C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laboratorní test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Arial"/>
                        </a:rPr>
                        <a:t>Diskuzní fórum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„záleží na tisku“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„PLA v autě teče“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zkušenost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5" name="Rounded Rectangle 904"/>
          <p:cNvSpPr/>
          <p:nvPr/>
        </p:nvSpPr>
        <p:spPr>
          <a:xfrm>
            <a:off x="6400800" y="4572000"/>
            <a:ext cx="5303520" cy="9601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6" name="Picture 905" descr="FaBalanceScale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896612"/>
            <a:ext cx="310896" cy="310896"/>
          </a:xfrm>
          <a:prstGeom prst="rect">
            <a:avLst/>
          </a:prstGeom>
        </p:spPr>
      </p:pic>
      <p:sp>
        <p:nvSpPr>
          <p:cNvPr id="907" name="TextBox 906"/>
          <p:cNvSpPr txBox="1"/>
          <p:nvPr/>
        </p:nvSpPr>
        <p:spPr>
          <a:xfrm>
            <a:off x="6876288" y="4572000"/>
            <a:ext cx="4754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Shoda: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PETG je odolnější.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Rozdíly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vysvětlí podmínky tisku – i to patří do textu.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Kritické čtení zpráv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Titulek často slibuje víc, než článek obsahuje</a:t>
            </a:r>
          </a:p>
          <a:p>
            <a:r>
              <a:rPr sz="1800" b="1" i="0"/>
              <a:t>Rámování:</a:t>
            </a:r>
            <a:r>
              <a:rPr sz="1800" b="0" i="0"/>
              <a:t> stejný fakt jako úspěch, nebo jako selhání</a:t>
            </a:r>
          </a:p>
          <a:p>
            <a:r>
              <a:rPr sz="1800" b="0" i="0"/>
              <a:t>Co ve zprávě chybí, je stejně důležité jako to, co v ní je</a:t>
            </a:r>
          </a:p>
          <a:p>
            <a:pPr>
              <a:buNone/>
            </a:pPr>
          </a:p>
          <a:p>
            <a:r>
              <a:rPr sz="1800" i="1"/>
              <a:t>Najděte jednu zprávu ve dvou médiích – v čem se liší?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70992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70992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NA CO SE DÍVAT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Heading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Titulek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Odpovídá obsahu článku? Clickbait láká na emoci.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CropAlt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Rámování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„Nezaměstnanost klesla na 3 %“ vs. „stále 3 % lidí bez práce“.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Filter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Výběr faktů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Komu dal článek slovo a koho vynechal?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Search_ED6845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Původ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Vlastní zjištění média, nebo převzatá tisková zpráva?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Algoritmy a bubliny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Sítě řadí obsah podle toho, co vás udrží nejdéle</a:t>
            </a:r>
          </a:p>
          <a:p>
            <a:r>
              <a:rPr sz="1800" b="0" i="0"/>
              <a:t>Víc vidíte to, s čím souhlasíte, a to, co vás rozčílí</a:t>
            </a:r>
          </a:p>
          <a:p>
            <a:r>
              <a:rPr sz="1800" b="1" i="0"/>
              <a:t>Bublina:</a:t>
            </a:r>
            <a:r>
              <a:rPr sz="1800" b="0" i="0"/>
              <a:t> svět vypadá jednotněji, než je</a:t>
            </a:r>
          </a:p>
          <a:p>
            <a:pPr>
              <a:buNone/>
            </a:pPr>
          </a:p>
          <a:p>
            <a:r>
              <a:rPr sz="1800" i="1"/>
              <a:t>Kdy jste naposledy viděli názor, se kterým nesouhlasíte?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2823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Reagujete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2823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lajk, komentář, doba sledování</a:t>
            </a:r>
          </a:p>
        </p:txBody>
      </p:sp>
      <p:pic>
        <p:nvPicPr>
          <p:cNvPr id="905" name="Picture 904" descr="FaArrowRight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15" y="2414016"/>
            <a:ext cx="201168" cy="201168"/>
          </a:xfrm>
          <a:prstGeom prst="rect">
            <a:avLst/>
          </a:prstGeom>
        </p:spPr>
      </p:pic>
      <p:sp>
        <p:nvSpPr>
          <p:cNvPr id="906" name="Rounded Rectangle 905"/>
          <p:cNvSpPr/>
          <p:nvPr/>
        </p:nvSpPr>
        <p:spPr>
          <a:xfrm>
            <a:off x="779526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782269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Algoritmus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82269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se učí, co vás udrží</a:t>
            </a:r>
          </a:p>
        </p:txBody>
      </p:sp>
      <p:pic>
        <p:nvPicPr>
          <p:cNvPr id="909" name="Picture 908" descr="FaArrowRight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76" y="2414016"/>
            <a:ext cx="201168" cy="201168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918972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921715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Podobný obsah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21715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a víc emocí</a:t>
            </a:r>
          </a:p>
        </p:txBody>
      </p:sp>
      <p:pic>
        <p:nvPicPr>
          <p:cNvPr id="913" name="Picture 912" descr="FaArrowRight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6436" y="2414016"/>
            <a:ext cx="201168" cy="201168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1058418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10611611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Bublina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10611611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vidíte jen výsek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6400800" y="356616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8" name="Picture 917" descr="FaLightbulb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005072"/>
            <a:ext cx="310896" cy="310896"/>
          </a:xfrm>
          <a:prstGeom prst="rect">
            <a:avLst/>
          </a:prstGeom>
        </p:spPr>
      </p:pic>
      <p:sp>
        <p:nvSpPr>
          <p:cNvPr id="919" name="TextBox 918"/>
          <p:cNvSpPr txBox="1"/>
          <p:nvPr/>
        </p:nvSpPr>
        <p:spPr>
          <a:xfrm>
            <a:off x="6876288" y="3566160"/>
            <a:ext cx="4754880" cy="1188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Ven z bubliny: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sledujte zdroje s jiným pohledem, zapněte chronologický feed, čtěte zprávy přímo na webu médií.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AI při rešerši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Jazykový model předpovídá pravděpodobný text, nehledá pravdu</a:t>
            </a:r>
          </a:p>
          <a:p>
            <a:r>
              <a:rPr sz="1800" b="1" i="0"/>
              <a:t>Halucinace:</a:t>
            </a:r>
            <a:r>
              <a:rPr sz="1800" b="0" i="0"/>
              <a:t> smyšlené citace, čísla i zdroje, napsané sebejistě</a:t>
            </a:r>
          </a:p>
          <a:p>
            <a:r>
              <a:rPr sz="1800" b="0" i="0"/>
              <a:t>AI je dobrý pomocník na osnovu a vysvětlení, ne zdroj do citace</a:t>
            </a:r>
          </a:p>
          <a:p>
            <a:pPr>
              <a:buNone/>
            </a:pPr>
          </a:p>
          <a:p>
            <a:r>
              <a:rPr sz="1800" i="1"/>
              <a:t>Jak ověříte citaci, kterou vám AI doporučila?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NEDĚLAT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DĚLAT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Citovat AI jako zdroj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Dohledat a citovat původní zdroj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Věřit číslům bez ověření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Ověřit čísla v primárním zdroji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Nechat AI napsat celou práci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Použít AI na osnovu a vysvětlení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Zamlčet použití AI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Uvést, k čemu jste AI použili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8 · Na druhé straně: PR a propagace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PR</a:t>
            </a:r>
            <a:r>
              <a:rPr sz="1800" b="0" i="0"/>
              <a:t> buduje dobré jméno a důvěru, </a:t>
            </a:r>
            <a:r>
              <a:rPr sz="1800" b="1" i="0"/>
              <a:t>reklama</a:t>
            </a:r>
            <a:r>
              <a:rPr sz="1800" b="0" i="0"/>
              <a:t> prodává konkrétní věc</a:t>
            </a:r>
          </a:p>
          <a:p>
            <a:r>
              <a:rPr sz="1800" b="0" i="0"/>
              <a:t>Propagace školy je v pořádku – nesmí ale zkreslovat</a:t>
            </a:r>
          </a:p>
          <a:p>
            <a:r>
              <a:rPr sz="1800" b="0" i="0"/>
              <a:t>Pravidla, podle kterých hodnotíte média, platí i pro vaše příspěvky</a:t>
            </a:r>
          </a:p>
          <a:p>
            <a:pPr>
              <a:buNone/>
            </a:pPr>
          </a:p>
          <a:p>
            <a:r>
              <a:rPr sz="1800" i="1"/>
              <a:t>Jak propagovat lyceum, aniž byste přeháněli?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ZKRESLUJÍCÍ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POCTIVÁ PROPAGACE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„Nejlepší škola v kraji!“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„Navrhli jsme a vytiskli vlastní dron“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Stockové fotky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Skutečné fotky z výuky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Jen úspěchy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I to, co nevyšlo, a jak jsme to řešili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Čísla bez zdroje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Ověřená fakta o škole a oboru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Rešerše je první krok každého projektu i odborného článku</a:t>
            </a:r>
          </a:p>
          <a:p>
            <a:r>
              <a:rPr sz="1800" b="0" i="0"/>
              <a:t>Kdo umí ověřovat, nenaletí – v práci ani mimo ni</a:t>
            </a:r>
          </a:p>
          <a:p>
            <a:r>
              <a:rPr sz="1800" b="1" i="0"/>
              <a:t>Do portfolia:</a:t>
            </a:r>
            <a:r>
              <a:rPr sz="1800" b="0" i="0"/>
              <a:t> ke každému bloku uveďte ověřené zdroje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Technická dokumentace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Normy a certifikace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Výzkum a vývoj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Datová analýza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Bezpečnostní analýza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Práce s AI nástroji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Konstrukce podle norem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Patentová rešerše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Řízení kvality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vaše rešerše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Vezměte zdroje ke svému poslednímu projektu</a:t>
            </a:r>
          </a:p>
          <a:p>
            <a:r>
              <a:rPr sz="1800" b="0" i="0"/>
              <a:t>Projděte je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Ověřili jste autora a instituci zdroje mimo samotný web?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Máte aspoň jeden odborný nebo primární zdroj?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Ukazuje vaše srovnání shody i rozpory mezi zdroji?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 každé číslo z AI ověřené v původním zdroji?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Uvádíte, k čemu jste AI použili?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