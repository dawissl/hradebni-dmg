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AF137-F5E4-6CD0-2C72-90489443E9F6}" v="2" dt="2026-09-24T09:50:57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3B7AF137-F5E4-6CD0-2C72-90489443E9F6}"/>
    <pc:docChg chg="modSld">
      <pc:chgData name="Sládeček David" userId="S::sladecek@hradebni.cz::474d93f0-3a32-49cc-b837-47806091b590" providerId="AD" clId="Web-{3B7AF137-F5E4-6CD0-2C72-90489443E9F6}" dt="2026-09-24T09:50:57.569" v="1" actId="20577"/>
      <pc:docMkLst>
        <pc:docMk/>
      </pc:docMkLst>
      <pc:sldChg chg="modSp">
        <pc:chgData name="Sládeček David" userId="S::sladecek@hradebni.cz::474d93f0-3a32-49cc-b837-47806091b590" providerId="AD" clId="Web-{3B7AF137-F5E4-6CD0-2C72-90489443E9F6}" dt="2026-09-24T09:50:57.569" v="1" actId="20577"/>
        <pc:sldMkLst>
          <pc:docMk/>
          <pc:sldMk cId="0" sldId="274"/>
        </pc:sldMkLst>
        <pc:spChg chg="mod">
          <ac:chgData name="Sládeček David" userId="S::sladecek@hradebni.cz::474d93f0-3a32-49cc-b837-47806091b590" providerId="AD" clId="Web-{3B7AF137-F5E4-6CD0-2C72-90489443E9F6}" dt="2026-09-24T09:50:57.569" v="1" actId="20577"/>
          <ac:spMkLst>
            <pc:docMk/>
            <pc:sldMk cId="0" sldId="274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5D27F-1F31-4BE3-8CDF-23166E820B30}" type="datetimeFigureOut">
              <a:t>24.09.2026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165A1-8B5C-4998-B327-EB8D7614E2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7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Nástroje: Trello, GitHub Projects, Microsoft Planner – nebo papírová tabule a lepíky. Ukázka je projekt robotického ramene, kde se potkají všechny tři směry.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Navazuje na revize v textovém editoru. Ve Wordu Revize → Sledovat změny, v Google Dokumentech režim Návrhy.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Navazuje na vrstevnické hodnocení ze ŠVP. Vyzkoušejte na portfoliích: dvojice si vymění odkazy a napíšou zpětnou vazbu podle čtyř kroků.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Cíl: aby nápady, materiál a edit nedělal jeden člověk. Rozdělte role na pololetí (nápady, foto/video, edit, popisky, plán) a veďte příspěvky na kanbanu stejně jako projekt.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9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1555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23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4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8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87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3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3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0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1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8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6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3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0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9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528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39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68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41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02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546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07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64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44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40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24.09.2026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653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2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Spolupráce: jak pracuje tým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Digitální a mediální gramotnost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Co nás čeká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Cloudové nástroje, sdílení a git už znáte z 1. ročníku</a:t>
            </a:r>
          </a:p>
          <a:p>
            <a:r>
              <a:rPr sz="1800" b="0" i="0"/>
              <a:t>Dnes: jak se v týmu domluvit, rozdělit práci a neztratit se v souborech</a:t>
            </a:r>
          </a:p>
          <a:p>
            <a:r>
              <a:rPr sz="1800" b="0" i="0"/>
              <a:t>Platí pro projekt v odborném bloku i pro praxi ve firmě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902" name="Oval 901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355080" y="16459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903720" y="16093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Role v týmu</a:t>
            </a:r>
            <a:r>
              <a:rPr sz="1050">
                <a:solidFill>
                  <a:srgbClr val="7A7A7A"/>
                </a:solidFill>
                <a:latin typeface="Arial"/>
              </a:rPr>
              <a:t>  kdo za co odpovídá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903720" y="204939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Oval 905"/>
          <p:cNvSpPr/>
          <p:nvPr/>
        </p:nvSpPr>
        <p:spPr>
          <a:xfrm>
            <a:off x="6400800" y="213169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355080" y="213169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6903720" y="2095118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Plánování</a:t>
            </a:r>
            <a:r>
              <a:rPr sz="1050">
                <a:solidFill>
                  <a:srgbClr val="7A7A7A"/>
                </a:solidFill>
                <a:latin typeface="Arial"/>
              </a:rPr>
              <a:t>  kanban a rozdělení práce</a:t>
            </a:r>
          </a:p>
        </p:txBody>
      </p:sp>
      <p:cxnSp>
        <p:nvCxnSpPr>
          <p:cNvPr id="909" name="Connector 908"/>
          <p:cNvCxnSpPr/>
          <p:nvPr/>
        </p:nvCxnSpPr>
        <p:spPr>
          <a:xfrm>
            <a:off x="6903720" y="253517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0" name="Oval 909"/>
          <p:cNvSpPr/>
          <p:nvPr/>
        </p:nvSpPr>
        <p:spPr>
          <a:xfrm>
            <a:off x="6400800" y="261747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355080" y="261747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03720" y="258089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Sdílený dokument</a:t>
            </a:r>
            <a:r>
              <a:rPr sz="1050">
                <a:solidFill>
                  <a:srgbClr val="7A7A7A"/>
                </a:solidFill>
                <a:latin typeface="Arial"/>
              </a:rPr>
              <a:t>  komentáře, návrhy, revize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903720" y="302094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Oval 913"/>
          <p:cNvSpPr/>
          <p:nvPr/>
        </p:nvSpPr>
        <p:spPr>
          <a:xfrm>
            <a:off x="6400800" y="310324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6355080" y="310324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903720" y="3066669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Verze souborů</a:t>
            </a:r>
            <a:r>
              <a:rPr sz="1050">
                <a:solidFill>
                  <a:srgbClr val="7A7A7A"/>
                </a:solidFill>
                <a:latin typeface="Arial"/>
              </a:rPr>
              <a:t>  jak se neztratit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6903720" y="35067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Oval 917"/>
          <p:cNvSpPr/>
          <p:nvPr/>
        </p:nvSpPr>
        <p:spPr>
          <a:xfrm>
            <a:off x="6400800" y="35890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6355080" y="35890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903720" y="35524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Oprávnění</a:t>
            </a:r>
            <a:r>
              <a:rPr sz="1050">
                <a:solidFill>
                  <a:srgbClr val="7A7A7A"/>
                </a:solidFill>
                <a:latin typeface="Arial"/>
              </a:rPr>
              <a:t>  kdo co vidí a smí</a:t>
            </a:r>
          </a:p>
        </p:txBody>
      </p:sp>
      <p:cxnSp>
        <p:nvCxnSpPr>
          <p:cNvPr id="921" name="Connector 920"/>
          <p:cNvCxnSpPr/>
          <p:nvPr/>
        </p:nvCxnSpPr>
        <p:spPr>
          <a:xfrm>
            <a:off x="6903720" y="399249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" name="Oval 921"/>
          <p:cNvSpPr/>
          <p:nvPr/>
        </p:nvSpPr>
        <p:spPr>
          <a:xfrm>
            <a:off x="6400800" y="407479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6355080" y="407479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903720" y="4038219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Asynchronní komunikace</a:t>
            </a:r>
            <a:r>
              <a:rPr sz="1050">
                <a:solidFill>
                  <a:srgbClr val="7A7A7A"/>
                </a:solidFill>
                <a:latin typeface="Arial"/>
              </a:rPr>
              <a:t>  zpráva, která funguje</a:t>
            </a:r>
          </a:p>
        </p:txBody>
      </p:sp>
      <p:cxnSp>
        <p:nvCxnSpPr>
          <p:cNvPr id="925" name="Connector 924"/>
          <p:cNvCxnSpPr/>
          <p:nvPr/>
        </p:nvCxnSpPr>
        <p:spPr>
          <a:xfrm>
            <a:off x="6903720" y="447827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6" name="Oval 925"/>
          <p:cNvSpPr/>
          <p:nvPr/>
        </p:nvSpPr>
        <p:spPr>
          <a:xfrm>
            <a:off x="6400800" y="456057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7" name="TextBox 926"/>
          <p:cNvSpPr txBox="1"/>
          <p:nvPr/>
        </p:nvSpPr>
        <p:spPr>
          <a:xfrm>
            <a:off x="6355080" y="456057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6903720" y="452399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Zpětná vazba</a:t>
            </a:r>
            <a:r>
              <a:rPr sz="1050">
                <a:solidFill>
                  <a:srgbClr val="7A7A7A"/>
                </a:solidFill>
                <a:latin typeface="Arial"/>
              </a:rPr>
              <a:t>  jak ji dávat a přijímat</a:t>
            </a:r>
          </a:p>
        </p:txBody>
      </p:sp>
      <p:cxnSp>
        <p:nvCxnSpPr>
          <p:cNvPr id="929" name="Connector 928"/>
          <p:cNvCxnSpPr/>
          <p:nvPr/>
        </p:nvCxnSpPr>
        <p:spPr>
          <a:xfrm>
            <a:off x="6903720" y="4964049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0" name="Oval 929"/>
          <p:cNvSpPr/>
          <p:nvPr/>
        </p:nvSpPr>
        <p:spPr>
          <a:xfrm>
            <a:off x="6400800" y="5046345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1" name="TextBox 930"/>
          <p:cNvSpPr txBox="1"/>
          <p:nvPr/>
        </p:nvSpPr>
        <p:spPr>
          <a:xfrm>
            <a:off x="6355080" y="5046345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6903720" y="5009769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Redakce profilu</a:t>
            </a:r>
            <a:r>
              <a:rPr sz="1050">
                <a:solidFill>
                  <a:srgbClr val="7A7A7A"/>
                </a:solidFill>
                <a:latin typeface="Arial"/>
              </a:rPr>
              <a:t>  spolupráce naostro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1 · Role v týmu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Bez rolí dělají všichni všechno – nebo nikdo nic</a:t>
            </a:r>
          </a:p>
          <a:p>
            <a:r>
              <a:rPr sz="1800" b="0" i="0"/>
              <a:t>Role ≠ hierarchie: každý odpovídá za svou část</a:t>
            </a:r>
          </a:p>
          <a:p>
            <a:r>
              <a:rPr sz="1800" b="0" i="0"/>
              <a:t>V malém týmu má jeden člověk i víc rolí</a:t>
            </a:r>
          </a:p>
          <a:p>
            <a:pPr>
              <a:buNone/>
            </a:pPr>
          </a:p>
          <a:p>
            <a:r>
              <a:rPr sz="1800" i="1"/>
              <a:t>Jakou roli přirozeně přebíráte vy?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805940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80594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ROLE V PROJEKTU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UserTie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395728"/>
            <a:ext cx="347472" cy="347472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67728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Koordinátor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510528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Hlídá termíny a celek, svolává domluvu.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9125712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9" name="Picture 908" descr="FaTools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4" y="2395728"/>
            <a:ext cx="347472" cy="347472"/>
          </a:xfrm>
          <a:prstGeom prst="rect">
            <a:avLst/>
          </a:prstGeom>
        </p:spPr>
      </p:pic>
      <p:sp>
        <p:nvSpPr>
          <p:cNvPr id="910" name="TextBox 909"/>
          <p:cNvSpPr txBox="1"/>
          <p:nvPr/>
        </p:nvSpPr>
        <p:spPr>
          <a:xfrm>
            <a:off x="9692640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Odborník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9235440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Řeší technickou část – konstrukci, zapojení, kód.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400800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3" name="Picture 912" descr="FaFileAlt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133087"/>
            <a:ext cx="347472" cy="347472"/>
          </a:xfrm>
          <a:prstGeom prst="rect">
            <a:avLst/>
          </a:prstGeom>
        </p:spPr>
      </p:pic>
      <p:sp>
        <p:nvSpPr>
          <p:cNvPr id="914" name="TextBox 913"/>
          <p:cNvSpPr txBox="1"/>
          <p:nvPr/>
        </p:nvSpPr>
        <p:spPr>
          <a:xfrm>
            <a:off x="6967728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Dokumentarista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510528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Fotí, zapisuje postup, spravuje sdílené soubory.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125712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Bullhorn_ED684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4133087"/>
            <a:ext cx="347472" cy="347472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9692640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Prezentující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9235440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Připravuje výstup a obhajobu projektu.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2 · Plánování: kanban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Kanban:</a:t>
            </a:r>
            <a:r>
              <a:rPr sz="1800" b="0" i="0"/>
              <a:t> tabule se sloupci Udělat, Rozpracováno, Hotovo</a:t>
            </a:r>
          </a:p>
          <a:p>
            <a:r>
              <a:rPr sz="1800" b="0" i="0"/>
              <a:t>Každý úkol má jednoho zodpovědného a termín</a:t>
            </a:r>
          </a:p>
          <a:p>
            <a:r>
              <a:rPr sz="1800" b="0" i="0"/>
              <a:t>Omezte rozpracované úkoly – víc dokončit, míň začínat</a:t>
            </a:r>
          </a:p>
          <a:p>
            <a:pPr>
              <a:buNone/>
            </a:pPr>
          </a:p>
          <a:p>
            <a:r>
              <a:rPr sz="1800" i="1"/>
              <a:t>Kolik úkolů máte teď rozpracovaných?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Rounded Rectangle 902"/>
          <p:cNvSpPr/>
          <p:nvPr/>
        </p:nvSpPr>
        <p:spPr>
          <a:xfrm>
            <a:off x="6537960" y="1828800"/>
            <a:ext cx="1371600" cy="329184"/>
          </a:xfrm>
          <a:prstGeom prst="roundRect">
            <a:avLst>
              <a:gd name="adj" fmla="val 17000"/>
            </a:avLst>
          </a:prstGeom>
          <a:solidFill>
            <a:srgbClr val="6E7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4" name="TextBox 903"/>
          <p:cNvSpPr txBox="1"/>
          <p:nvPr/>
        </p:nvSpPr>
        <p:spPr>
          <a:xfrm>
            <a:off x="6537960" y="1828800"/>
            <a:ext cx="137160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UDĚLAT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6537960" y="2331720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565392" y="2350008"/>
            <a:ext cx="1316736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333333"/>
                </a:solidFill>
                <a:latin typeface="Arial"/>
              </a:rPr>
              <a:t>Výkres držáku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565392" y="2715768"/>
            <a:ext cx="131673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7A7A7A"/>
                </a:solidFill>
                <a:latin typeface="Arial"/>
              </a:rPr>
              <a:t>Petr · pá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6537960" y="3108960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9" name="TextBox 908"/>
          <p:cNvSpPr txBox="1"/>
          <p:nvPr/>
        </p:nvSpPr>
        <p:spPr>
          <a:xfrm>
            <a:off x="6565392" y="3127248"/>
            <a:ext cx="1316736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333333"/>
                </a:solidFill>
                <a:latin typeface="Arial"/>
              </a:rPr>
              <a:t>Rozpočet dílů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6565392" y="3493008"/>
            <a:ext cx="131673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7A7A7A"/>
                </a:solidFill>
                <a:latin typeface="Arial"/>
              </a:rPr>
              <a:t>Eva · út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2296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2" name="Rounded Rectangle 911"/>
          <p:cNvSpPr/>
          <p:nvPr/>
        </p:nvSpPr>
        <p:spPr>
          <a:xfrm>
            <a:off x="8366760" y="1828800"/>
            <a:ext cx="1371600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3" name="TextBox 912"/>
          <p:cNvSpPr txBox="1"/>
          <p:nvPr/>
        </p:nvSpPr>
        <p:spPr>
          <a:xfrm>
            <a:off x="8366760" y="1828800"/>
            <a:ext cx="137160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ROZPRACOVÁNO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8366760" y="2331720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8394192" y="2350008"/>
            <a:ext cx="1316736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333333"/>
                </a:solidFill>
                <a:latin typeface="Arial"/>
              </a:rPr>
              <a:t>Zapojení motorů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8394192" y="2715768"/>
            <a:ext cx="131673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7A7A7A"/>
                </a:solidFill>
                <a:latin typeface="Arial"/>
              </a:rPr>
              <a:t>Jana · čt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8366760" y="3108960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8" name="TextBox 917"/>
          <p:cNvSpPr txBox="1"/>
          <p:nvPr/>
        </p:nvSpPr>
        <p:spPr>
          <a:xfrm>
            <a:off x="8394192" y="3127248"/>
            <a:ext cx="1316736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333333"/>
                </a:solidFill>
                <a:latin typeface="Arial"/>
              </a:rPr>
              <a:t>Program pohybu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8394192" y="3493008"/>
            <a:ext cx="131673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7A7A7A"/>
                </a:solidFill>
                <a:latin typeface="Arial"/>
              </a:rPr>
              <a:t>Tomáš · pá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100584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Rounded Rectangle 920"/>
          <p:cNvSpPr/>
          <p:nvPr/>
        </p:nvSpPr>
        <p:spPr>
          <a:xfrm>
            <a:off x="10195560" y="1828800"/>
            <a:ext cx="1371600" cy="329184"/>
          </a:xfrm>
          <a:prstGeom prst="roundRect">
            <a:avLst>
              <a:gd name="adj" fmla="val 17000"/>
            </a:avLst>
          </a:prstGeom>
          <a:solidFill>
            <a:srgbClr val="6E7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2" name="TextBox 921"/>
          <p:cNvSpPr txBox="1"/>
          <p:nvPr/>
        </p:nvSpPr>
        <p:spPr>
          <a:xfrm>
            <a:off x="10195560" y="1828800"/>
            <a:ext cx="137160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HOTOVO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10195560" y="2331720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4" name="TextBox 923"/>
          <p:cNvSpPr txBox="1"/>
          <p:nvPr/>
        </p:nvSpPr>
        <p:spPr>
          <a:xfrm>
            <a:off x="10222992" y="2350008"/>
            <a:ext cx="1316736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333333"/>
                </a:solidFill>
                <a:latin typeface="Arial"/>
              </a:rPr>
              <a:t>Výběr serv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10222992" y="2715768"/>
            <a:ext cx="131673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7A7A7A"/>
                </a:solidFill>
                <a:latin typeface="Arial"/>
              </a:rPr>
              <a:t>Jana</a:t>
            </a:r>
          </a:p>
        </p:txBody>
      </p:sp>
      <p:sp>
        <p:nvSpPr>
          <p:cNvPr id="926" name="Rounded Rectangle 925"/>
          <p:cNvSpPr/>
          <p:nvPr/>
        </p:nvSpPr>
        <p:spPr>
          <a:xfrm>
            <a:off x="10195560" y="3108960"/>
            <a:ext cx="13716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7" name="TextBox 926"/>
          <p:cNvSpPr txBox="1"/>
          <p:nvPr/>
        </p:nvSpPr>
        <p:spPr>
          <a:xfrm>
            <a:off x="10222992" y="3127248"/>
            <a:ext cx="1316736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333333"/>
                </a:solidFill>
                <a:latin typeface="Arial"/>
              </a:rPr>
              <a:t>Zadání projektu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10222992" y="3493008"/>
            <a:ext cx="131673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7A7A7A"/>
                </a:solidFill>
                <a:latin typeface="Arial"/>
              </a:rPr>
              <a:t>všichni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3 · Sdílený dokument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Jeden soubor v cloudu místo deseti verzí v e-mailu</a:t>
            </a:r>
          </a:p>
          <a:p>
            <a:r>
              <a:rPr sz="1800" b="1" i="0"/>
              <a:t>Komentář</a:t>
            </a:r>
            <a:r>
              <a:rPr sz="1800" b="0" i="0"/>
              <a:t> = otázka nebo poznámka, </a:t>
            </a:r>
            <a:r>
              <a:rPr sz="1800" b="1" i="0"/>
              <a:t>návrh</a:t>
            </a:r>
            <a:r>
              <a:rPr sz="1800" b="0" i="0"/>
              <a:t> = konkrétní úprava</a:t>
            </a:r>
          </a:p>
          <a:p>
            <a:r>
              <a:rPr sz="1800" b="0" i="0"/>
              <a:t>Autor návrh přijme, nebo odmítne – rozhodnutí zůstává u něj</a:t>
            </a:r>
          </a:p>
          <a:p>
            <a:pPr>
              <a:buNone/>
            </a:pPr>
          </a:p>
          <a:p>
            <a:r>
              <a:rPr sz="1800" i="1"/>
              <a:t>Kdy použít komentář a kdy rovnou opravit?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902" name="Picture 901" descr="FaTimes_D9342B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91640"/>
            <a:ext cx="274320" cy="274320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685800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ŠPATNĚ</a:t>
            </a:r>
          </a:p>
        </p:txBody>
      </p:sp>
      <p:pic>
        <p:nvPicPr>
          <p:cNvPr id="904" name="Picture 903" descr="FaCheck_2E9E4F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691640"/>
            <a:ext cx="274320" cy="274320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950976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SPRÁVNĚ</a:t>
            </a:r>
          </a:p>
        </p:txBody>
      </p:sp>
      <p:cxnSp>
        <p:nvCxnSpPr>
          <p:cNvPr id="906" name="Connector 905"/>
          <p:cNvCxnSpPr/>
          <p:nvPr/>
        </p:nvCxnSpPr>
        <p:spPr>
          <a:xfrm>
            <a:off x="9052560" y="1691640"/>
            <a:ext cx="0" cy="3776472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6400800" y="2103120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649224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Posílat soubor e-mailem tam a zpět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914400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Jeden sdílený soubor s odkazem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6400800" y="2944368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649224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Přepsat cizí text bez upozornění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14400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Návrh změny nebo komentář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400800" y="3785615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649224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Komentář „tohle je špatně“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914400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Komentář s důvodem a návrhem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6400800" y="4626864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TextBox 916"/>
          <p:cNvSpPr txBox="1"/>
          <p:nvPr/>
        </p:nvSpPr>
        <p:spPr>
          <a:xfrm>
            <a:off x="649224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Nechat komentáře viset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14400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Vyřešené komentáře uzavřít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4 · Verze souborů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Cloud (OneDrive, Google Disk) ukládá historii verzí sám</a:t>
            </a:r>
          </a:p>
          <a:p>
            <a:r>
              <a:rPr sz="1800" b="0" i="0"/>
              <a:t>Git z 1. ročníku dělá totéž přesněji – hlavně pro text a kód</a:t>
            </a:r>
          </a:p>
          <a:p>
            <a:r>
              <a:rPr sz="1800" b="0" i="0"/>
              <a:t>U výkresů je verzování revize – index v rohovém razítku</a:t>
            </a:r>
          </a:p>
          <a:p>
            <a:pPr>
              <a:buNone/>
            </a:pPr>
          </a:p>
          <a:p>
            <a:r>
              <a:rPr sz="1800" i="1"/>
              <a:t>Jak poznáte, která verze souboru je poslední?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Times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74520"/>
            <a:ext cx="384048" cy="384048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7022592" y="1874520"/>
            <a:ext cx="187451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Chaos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583680" y="2423160"/>
            <a:ext cx="219456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Rounded Rectangle 905"/>
          <p:cNvSpPr/>
          <p:nvPr/>
        </p:nvSpPr>
        <p:spPr>
          <a:xfrm>
            <a:off x="6583680" y="256032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583680" y="256032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projekt_final.docx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6583680" y="326898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9" name="TextBox 908"/>
          <p:cNvSpPr txBox="1"/>
          <p:nvPr/>
        </p:nvSpPr>
        <p:spPr>
          <a:xfrm>
            <a:off x="6583680" y="326898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projekt_final2.docx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583680" y="3977639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583680" y="3977639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projekt_final_opravdu.docx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583680" y="468630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3" name="TextBox 912"/>
          <p:cNvSpPr txBox="1"/>
          <p:nvPr/>
        </p:nvSpPr>
        <p:spPr>
          <a:xfrm>
            <a:off x="6583680" y="468630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projekt_NOVY_Kamil.docx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9144000" y="169164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5" name="Picture 914" descr="FaCheck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874520"/>
            <a:ext cx="384048" cy="384048"/>
          </a:xfrm>
          <a:prstGeom prst="rect">
            <a:avLst/>
          </a:prstGeom>
        </p:spPr>
      </p:pic>
      <p:sp>
        <p:nvSpPr>
          <p:cNvPr id="916" name="TextBox 915"/>
          <p:cNvSpPr txBox="1"/>
          <p:nvPr/>
        </p:nvSpPr>
        <p:spPr>
          <a:xfrm>
            <a:off x="9765792" y="1874520"/>
            <a:ext cx="187451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Pořádek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9326880" y="2423160"/>
            <a:ext cx="219456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Rounded Rectangle 917"/>
          <p:cNvSpPr/>
          <p:nvPr/>
        </p:nvSpPr>
        <p:spPr>
          <a:xfrm>
            <a:off x="9326880" y="256032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9326880" y="256032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Jeden soubor + historie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9326880" y="326898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9326880" y="326898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Datum v názvu: 2026-10-02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9326880" y="3977639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9326880" y="3977639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Revize výkresu A, B, C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9326880" y="468630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5" name="TextBox 924"/>
          <p:cNvSpPr txBox="1"/>
          <p:nvPr/>
        </p:nvSpPr>
        <p:spPr>
          <a:xfrm>
            <a:off x="9326880" y="468630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Popis změny u každé verze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5 · Oprávnění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„Kdokoli s odkazem“ = veřejné, i když to nikdo nehledá</a:t>
            </a:r>
          </a:p>
          <a:p>
            <a:r>
              <a:rPr sz="1800" b="0" i="0"/>
              <a:t>Dávejte nejnižší potřebné oprávnění</a:t>
            </a:r>
          </a:p>
          <a:p>
            <a:r>
              <a:rPr sz="1800" b="0" i="0"/>
              <a:t>Když člen týmu odejde nebo projekt skončí, oprávnění odeberte</a:t>
            </a:r>
          </a:p>
          <a:p>
            <a:pPr>
              <a:buNone/>
            </a:pPr>
          </a:p>
          <a:p>
            <a:r>
              <a:rPr sz="1800" i="1"/>
              <a:t>Kdo všechno má přístup k vašemu sdílenému disku?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902" name="Table 901"/>
          <p:cNvGraphicFramePr>
            <a:graphicFrameLocks noGrp="1"/>
          </p:cNvGraphicFramePr>
          <p:nvPr/>
        </p:nvGraphicFramePr>
        <p:xfrm>
          <a:off x="6309360" y="1737360"/>
          <a:ext cx="53949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56616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Oprávnění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Kdy použít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Zobrazit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výsledky, prezentace pro třídu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Komentovat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oponent, učitel, kontrola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Upravit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členové týmu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Vlastník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jeden člověk, odpovídá za soubor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  <p:sp>
        <p:nvSpPr>
          <p:cNvPr id="903" name="Rounded Rectangle 902"/>
          <p:cNvSpPr/>
          <p:nvPr/>
        </p:nvSpPr>
        <p:spPr>
          <a:xfrm>
            <a:off x="6400800" y="4754880"/>
            <a:ext cx="5303520" cy="77724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4" name="Picture 903" descr="FaUserShield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4988052"/>
            <a:ext cx="310896" cy="310896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6876288" y="4754880"/>
            <a:ext cx="4754880" cy="7772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Pozor na osobní údaje a firemní data – GDPR a NDA z hodiny o datech.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6 · Asynchronní komunikace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Tým nečte zprávy ve stejnou chvíli – zpráva musí obstát sama</a:t>
            </a:r>
          </a:p>
          <a:p>
            <a:r>
              <a:rPr sz="1800" b="0" i="0"/>
              <a:t>Jedna zpráva = kontext + co potřebuji + do kdy</a:t>
            </a:r>
          </a:p>
          <a:p>
            <a:r>
              <a:rPr sz="1800" b="0" i="0"/>
              <a:t>Rozhodnutí zapište tam, kde je najdou všichni</a:t>
            </a:r>
          </a:p>
          <a:p>
            <a:pPr>
              <a:buNone/>
            </a:pPr>
          </a:p>
          <a:p>
            <a:r>
              <a:rPr sz="1800" i="1"/>
              <a:t>Jakou nejhorší týmovou zprávu jste dostali?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902" name="Picture 901" descr="FaTimes_D9342B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91640"/>
            <a:ext cx="274320" cy="274320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685800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ŠPATNĚ</a:t>
            </a:r>
          </a:p>
        </p:txBody>
      </p:sp>
      <p:pic>
        <p:nvPicPr>
          <p:cNvPr id="904" name="Picture 903" descr="FaCheck_2E9E4F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691640"/>
            <a:ext cx="274320" cy="274320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950976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SPRÁVNĚ</a:t>
            </a:r>
          </a:p>
        </p:txBody>
      </p:sp>
      <p:cxnSp>
        <p:nvCxnSpPr>
          <p:cNvPr id="906" name="Connector 905"/>
          <p:cNvCxnSpPr/>
          <p:nvPr/>
        </p:nvCxnSpPr>
        <p:spPr>
          <a:xfrm>
            <a:off x="9052560" y="1691640"/>
            <a:ext cx="0" cy="3776472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6400800" y="2103120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649224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„Ahoj“ … a čekat na odpověď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914400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Pozdrav i dotaz v jedné zprávě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6400800" y="2944368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649224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„Nefunguje to“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14400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„Model se nevytiskne, chyba X, zkusil jsem Y“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400800" y="3785615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649224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„Udělej to nějak“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914400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„Pošli fotky postupu do pátku 18:00“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6400800" y="4626864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TextBox 916"/>
          <p:cNvSpPr txBox="1"/>
          <p:nvPr/>
        </p:nvSpPr>
        <p:spPr>
          <a:xfrm>
            <a:off x="649224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Rozhodnutí v soukromém chatu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14400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Rozhodnutí v týmovém kanálu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7 · Zpětná vazba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Zpětná vazba se týká práce, ne člověka</a:t>
            </a:r>
          </a:p>
          <a:p>
            <a:r>
              <a:rPr sz="1800" b="0" i="0"/>
              <a:t>Konkrétní a s návrhem, co zlepšit</a:t>
            </a:r>
          </a:p>
          <a:p>
            <a:r>
              <a:rPr sz="1800" b="0" i="0"/>
              <a:t>Přijímat: poslechnout, doptat se, rozhodnout – nemusíte souhlasit se vším</a:t>
            </a:r>
          </a:p>
          <a:p>
            <a:pPr>
              <a:buNone/>
            </a:pPr>
          </a:p>
          <a:p>
            <a:r>
              <a:rPr sz="1800" i="1"/>
              <a:t>Jaká zpětná vazba vám naposledy opravdu pomohla?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783080"/>
            <a:ext cx="1120140" cy="137160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2823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ED6845"/>
                </a:solidFill>
                <a:latin typeface="Arial"/>
              </a:rPr>
              <a:t>Co vidím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428232" y="2286000"/>
            <a:ext cx="1065276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konkrétní pozorování</a:t>
            </a:r>
          </a:p>
        </p:txBody>
      </p:sp>
      <p:pic>
        <p:nvPicPr>
          <p:cNvPr id="905" name="Picture 904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515" y="2368296"/>
            <a:ext cx="201168" cy="201168"/>
          </a:xfrm>
          <a:prstGeom prst="rect">
            <a:avLst/>
          </a:prstGeom>
        </p:spPr>
      </p:pic>
      <p:sp>
        <p:nvSpPr>
          <p:cNvPr id="906" name="Rounded Rectangle 905"/>
          <p:cNvSpPr/>
          <p:nvPr/>
        </p:nvSpPr>
        <p:spPr>
          <a:xfrm>
            <a:off x="7795260" y="1783080"/>
            <a:ext cx="1120140" cy="137160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782269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E7868"/>
                </a:solidFill>
                <a:latin typeface="Arial"/>
              </a:rPr>
              <a:t>Dopad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7822692" y="2286000"/>
            <a:ext cx="1065276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na čtenáře nebo funkci</a:t>
            </a:r>
          </a:p>
        </p:txBody>
      </p:sp>
      <p:pic>
        <p:nvPicPr>
          <p:cNvPr id="909" name="Picture 908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976" y="2368296"/>
            <a:ext cx="201168" cy="201168"/>
          </a:xfrm>
          <a:prstGeom prst="rect">
            <a:avLst/>
          </a:prstGeom>
        </p:spPr>
      </p:pic>
      <p:sp>
        <p:nvSpPr>
          <p:cNvPr id="910" name="Rounded Rectangle 909"/>
          <p:cNvSpPr/>
          <p:nvPr/>
        </p:nvSpPr>
        <p:spPr>
          <a:xfrm>
            <a:off x="9189720" y="1783080"/>
            <a:ext cx="1120140" cy="137160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921715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ED6845"/>
                </a:solidFill>
                <a:latin typeface="Arial"/>
              </a:rPr>
              <a:t>Návrh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217152" y="2286000"/>
            <a:ext cx="1065276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co zkusit jinak</a:t>
            </a:r>
          </a:p>
        </p:txBody>
      </p:sp>
      <p:pic>
        <p:nvPicPr>
          <p:cNvPr id="913" name="Picture 912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6436" y="2368296"/>
            <a:ext cx="201168" cy="201168"/>
          </a:xfrm>
          <a:prstGeom prst="rect">
            <a:avLst/>
          </a:prstGeom>
        </p:spPr>
      </p:pic>
      <p:sp>
        <p:nvSpPr>
          <p:cNvPr id="914" name="Rounded Rectangle 913"/>
          <p:cNvSpPr/>
          <p:nvPr/>
        </p:nvSpPr>
        <p:spPr>
          <a:xfrm>
            <a:off x="10584180" y="1783080"/>
            <a:ext cx="1120140" cy="137160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10611611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E7868"/>
                </a:solidFill>
                <a:latin typeface="Arial"/>
              </a:rPr>
              <a:t>Ocenění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10611611" y="2286000"/>
            <a:ext cx="1065276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co funguje dobře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6400800" y="347472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8" name="Picture 917" descr="FaComments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005072"/>
            <a:ext cx="310896" cy="310896"/>
          </a:xfrm>
          <a:prstGeom prst="rect">
            <a:avLst/>
          </a:prstGeom>
        </p:spPr>
      </p:pic>
      <p:sp>
        <p:nvSpPr>
          <p:cNvPr id="919" name="TextBox 918"/>
          <p:cNvSpPr txBox="1"/>
          <p:nvPr/>
        </p:nvSpPr>
        <p:spPr>
          <a:xfrm>
            <a:off x="6876288" y="3474720"/>
            <a:ext cx="4754880" cy="13716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„V portfoliu chybí fotky postupu, nevím, jak vypadal výsledek. Přidej fotku po každém kroku. Popis problémů a jejich řešení je super.“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8 · Redakce profilu lycea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Profil lycea je týmový projekt se skutečným publikem</a:t>
            </a:r>
          </a:p>
          <a:p>
            <a:r>
              <a:rPr sz="1800" b="0" i="0"/>
              <a:t>Každý příspěvek projde stejnou cestou</a:t>
            </a:r>
          </a:p>
          <a:p>
            <a:r>
              <a:rPr sz="1800" b="0" i="0"/>
              <a:t>Schválení je pojistka, ne cenzura</a:t>
            </a:r>
          </a:p>
          <a:p>
            <a:pPr>
              <a:buNone/>
            </a:pPr>
          </a:p>
          <a:p>
            <a:r>
              <a:rPr sz="1800" i="1"/>
              <a:t>Kterou roli v redakci byste zvládli?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805940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80594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CESTA PŘÍSPĚVKU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Oval 904"/>
          <p:cNvSpPr/>
          <p:nvPr/>
        </p:nvSpPr>
        <p:spPr>
          <a:xfrm>
            <a:off x="6510528" y="222656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464808" y="222656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949440" y="2194560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Nápad: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návrh do sdíleného seznamu – kdokoli</a:t>
            </a:r>
          </a:p>
        </p:txBody>
      </p:sp>
      <p:pic>
        <p:nvPicPr>
          <p:cNvPr id="908" name="Picture 907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2615184"/>
            <a:ext cx="219456" cy="219456"/>
          </a:xfrm>
          <a:prstGeom prst="rect">
            <a:avLst/>
          </a:prstGeom>
        </p:spPr>
      </p:pic>
      <p:sp>
        <p:nvSpPr>
          <p:cNvPr id="909" name="Rounded Rectangle 908"/>
          <p:cNvSpPr/>
          <p:nvPr/>
        </p:nvSpPr>
        <p:spPr>
          <a:xfrm>
            <a:off x="6400800" y="2862072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Oval 909"/>
          <p:cNvSpPr/>
          <p:nvPr/>
        </p:nvSpPr>
        <p:spPr>
          <a:xfrm>
            <a:off x="6510528" y="2894076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464808" y="2894076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49440" y="2862072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Materiál: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fotky a video do sdílené složky</a:t>
            </a:r>
          </a:p>
        </p:txBody>
      </p:sp>
      <p:pic>
        <p:nvPicPr>
          <p:cNvPr id="913" name="Picture 912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3282696"/>
            <a:ext cx="219456" cy="219456"/>
          </a:xfrm>
          <a:prstGeom prst="rect">
            <a:avLst/>
          </a:prstGeom>
        </p:spPr>
      </p:pic>
      <p:sp>
        <p:nvSpPr>
          <p:cNvPr id="914" name="Rounded Rectangle 913"/>
          <p:cNvSpPr/>
          <p:nvPr/>
        </p:nvSpPr>
        <p:spPr>
          <a:xfrm>
            <a:off x="6400800" y="3529584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3561588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356158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529584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Edit a popisek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podle šablony profilu</a:t>
            </a:r>
          </a:p>
        </p:txBody>
      </p:sp>
      <p:pic>
        <p:nvPicPr>
          <p:cNvPr id="918" name="Picture 917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3950208"/>
            <a:ext cx="219456" cy="219456"/>
          </a:xfrm>
          <a:prstGeom prst="rect">
            <a:avLst/>
          </a:prstGeom>
        </p:spPr>
      </p:pic>
      <p:sp>
        <p:nvSpPr>
          <p:cNvPr id="919" name="Rounded Rectangle 918"/>
          <p:cNvSpPr/>
          <p:nvPr/>
        </p:nvSpPr>
        <p:spPr>
          <a:xfrm>
            <a:off x="6400800" y="4197096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Oval 919"/>
          <p:cNvSpPr/>
          <p:nvPr/>
        </p:nvSpPr>
        <p:spPr>
          <a:xfrm>
            <a:off x="6510528" y="4229099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6464808" y="4229099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6949440" y="4197096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Schválení: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správce profilu</a:t>
            </a:r>
          </a:p>
        </p:txBody>
      </p:sp>
      <p:pic>
        <p:nvPicPr>
          <p:cNvPr id="923" name="Picture 922" descr="FaChevronDown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4617720"/>
            <a:ext cx="219456" cy="219456"/>
          </a:xfrm>
          <a:prstGeom prst="rect">
            <a:avLst/>
          </a:prstGeom>
        </p:spPr>
      </p:pic>
      <p:sp>
        <p:nvSpPr>
          <p:cNvPr id="924" name="Rounded Rectangle 923"/>
          <p:cNvSpPr/>
          <p:nvPr/>
        </p:nvSpPr>
        <p:spPr>
          <a:xfrm>
            <a:off x="6400800" y="4864608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5" name="Oval 924"/>
          <p:cNvSpPr/>
          <p:nvPr/>
        </p:nvSpPr>
        <p:spPr>
          <a:xfrm>
            <a:off x="6510528" y="4896612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6464808" y="489661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6949440" y="4864608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Zveřejnění a vyhodnocení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– za týden se podíváme na čísla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Kam to vede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 technické praxi se skoro vše dělá v týmu</a:t>
            </a:r>
          </a:p>
          <a:p>
            <a:r>
              <a:rPr sz="1800" b="0" i="0"/>
              <a:t>Umět spolupracovat je stejně důležité jako odbornost</a:t>
            </a:r>
          </a:p>
          <a:p>
            <a:r>
              <a:rPr sz="1800" b="1" i="0"/>
              <a:t>Do portfolia:</a:t>
            </a:r>
            <a:r>
              <a:rPr sz="1800" b="0" i="0"/>
              <a:t> u týmových projektů uveďte svou roli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Bolt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856232"/>
            <a:ext cx="457200" cy="457200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64008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ELEKTROTECHNIKA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65105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5105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Projektový inženýr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5105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5105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Servisní tým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65105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TextBox 909"/>
          <p:cNvSpPr txBox="1"/>
          <p:nvPr/>
        </p:nvSpPr>
        <p:spPr>
          <a:xfrm>
            <a:off x="65105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Uvádění do provozu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2296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2" name="Picture 911" descr="FaLaptopCode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856232"/>
            <a:ext cx="457200" cy="457200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82296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IT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8339327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8339327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Scrum master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8339327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7" name="TextBox 916"/>
          <p:cNvSpPr txBox="1"/>
          <p:nvPr/>
        </p:nvSpPr>
        <p:spPr>
          <a:xfrm>
            <a:off x="8339327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Vývojový tým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8339327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8339327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IT podpora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100584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1" name="Picture 920" descr="FaCog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1856232"/>
            <a:ext cx="457200" cy="457200"/>
          </a:xfrm>
          <a:prstGeom prst="rect">
            <a:avLst/>
          </a:prstGeom>
        </p:spPr>
      </p:pic>
      <p:sp>
        <p:nvSpPr>
          <p:cNvPr id="922" name="TextBox 921"/>
          <p:cNvSpPr txBox="1"/>
          <p:nvPr/>
        </p:nvSpPr>
        <p:spPr>
          <a:xfrm>
            <a:off x="100584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STROJÍRENSTVÍ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101681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4" name="TextBox 923"/>
          <p:cNvSpPr txBox="1"/>
          <p:nvPr/>
        </p:nvSpPr>
        <p:spPr>
          <a:xfrm>
            <a:off x="101681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Vedoucí projektu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101681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101681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Konstrukční tým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101681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8" name="TextBox 927"/>
          <p:cNvSpPr txBox="1"/>
          <p:nvPr/>
        </p:nvSpPr>
        <p:spPr>
          <a:xfrm>
            <a:off x="101681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Příprava výroby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 diskuzi: váš tým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Vezměte svůj poslední týmový projekt</a:t>
            </a:r>
          </a:p>
          <a:p>
            <a:r>
              <a:rPr sz="1800" b="0" i="0"/>
              <a:t>Projděte ho otázkami vpravo</a:t>
            </a:r>
          </a:p>
          <a:p>
            <a:r>
              <a:rPr sz="1800" b="0" i="0"/>
              <a:t>Diskutujte ve dvojicích, pak krátce sdílejte se třídou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Oval 902"/>
          <p:cNvSpPr/>
          <p:nvPr/>
        </p:nvSpPr>
        <p:spPr>
          <a:xfrm>
            <a:off x="6510528" y="183794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4" name="TextBox 903"/>
          <p:cNvSpPr txBox="1"/>
          <p:nvPr/>
        </p:nvSpPr>
        <p:spPr>
          <a:xfrm>
            <a:off x="6464808" y="183794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949440" y="1691640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Ví každý v týmu, za co odpovídá?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2441448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Oval 906"/>
          <p:cNvSpPr/>
          <p:nvPr/>
        </p:nvSpPr>
        <p:spPr>
          <a:xfrm>
            <a:off x="6510528" y="2587752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464808" y="258775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949440" y="2441448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Je jasné, kde je poslední verze každého souboru?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191256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Oval 910"/>
          <p:cNvSpPr/>
          <p:nvPr/>
        </p:nvSpPr>
        <p:spPr>
          <a:xfrm>
            <a:off x="6510528" y="3337560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2" name="TextBox 911"/>
          <p:cNvSpPr txBox="1"/>
          <p:nvPr/>
        </p:nvSpPr>
        <p:spPr>
          <a:xfrm>
            <a:off x="6464808" y="3337560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949440" y="3191256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Mají ke sdíleným souborům přístup jen ti, kdo mají?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6400800" y="3941064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4087368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408736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941064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Obstojí vaše zprávy, i když je někdo čte o den později?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400800" y="4690872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Oval 918"/>
          <p:cNvSpPr/>
          <p:nvPr/>
        </p:nvSpPr>
        <p:spPr>
          <a:xfrm>
            <a:off x="6510528" y="4837175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TextBox 919"/>
          <p:cNvSpPr txBox="1"/>
          <p:nvPr/>
        </p:nvSpPr>
        <p:spPr>
          <a:xfrm>
            <a:off x="6464808" y="4837175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949440" y="4690872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Dáváte zpětnou vazbu konkrétně a s návrhem?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3FBD020F-64D3-42BF-A2BA-FB7237EC65A2}" vid="{0A40F0BF-A9BE-440A-B017-9F6336E851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643287-08B4-41D2-B4C3-C4037539C0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601672-7921-437C-B0AC-0FD77C6FC3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811D1C-EFBB-47CE-A62B-7C4133940947}">
  <ds:schemaRefs>
    <ds:schemaRef ds:uri="http://schemas.microsoft.com/office/2006/metadata/properties"/>
    <ds:schemaRef ds:uri="http://schemas.microsoft.com/office/infopath/2007/PartnerControls"/>
    <ds:schemaRef ds:uri="3eb61919-e7f8-4a11-8db4-9145fbd21da9"/>
    <ds:schemaRef ds:uri="09a37b55-a4d7-45bd-a73f-33c2b1d418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Orange Experience</vt:lpstr>
      <vt:lpstr>Práce s daty: etika a důvěryhodnost</vt:lpstr>
      <vt:lpstr>Co nás čeká</vt:lpstr>
      <vt:lpstr>1 · Co dělá data „otevřenými“?</vt:lpstr>
      <vt:lpstr>1 · Kde hledat důvěryhodná data</vt:lpstr>
      <vt:lpstr>2 · Než data otevřete v Excelu</vt:lpstr>
      <vt:lpstr>2 · Pravidla čisté tabulky</vt:lpstr>
      <vt:lpstr>3 · Přímé vs. nepřímé identifikátory</vt:lpstr>
      <vt:lpstr>3 · Příklad: váš vlastní třídní katalog</vt:lpstr>
      <vt:lpstr>4 · Co je „osobní údaj“?</vt:lpstr>
      <vt:lpstr>4 · Kdy se GDPR týká i vašeho projektu?</vt:lpstr>
      <vt:lpstr>5 · GDPR vs. NDA – často se plete</vt:lpstr>
      <vt:lpstr>5 · Praktický scénář: praxe v IT firmě</vt:lpstr>
      <vt:lpstr>6 · Průměr vs. medián</vt:lpstr>
      <vt:lpstr>6 · Procenta, která straší</vt:lpstr>
      <vt:lpstr>6 · Korelace není příčina</vt:lpstr>
      <vt:lpstr>7 · Stejná data, dva úplně jiné dojmy</vt:lpstr>
      <vt:lpstr>7 · Další triky, kterých si všímat</vt:lpstr>
      <vt:lpstr>7 · Jaký graf zvolit?</vt:lpstr>
      <vt:lpstr>K diskuzi: než odevzdáte projekt s daty…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88</cp:revision>
  <dcterms:created xsi:type="dcterms:W3CDTF">2026-09-02T06:40:14Z</dcterms:created>
  <dcterms:modified xsi:type="dcterms:W3CDTF">2026-09-24T09:50:58Z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