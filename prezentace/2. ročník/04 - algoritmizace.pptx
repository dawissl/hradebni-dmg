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3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Přehled hodiny. Navazuje na algoritmizaci z 1. ročníku. Žáci, kteří programují v odborném bloku, si mohou úlohy navíc přepsat do kódu.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Nechte žáky nejdřív najít, co je na levých pokynech špatně, a teprve pak ukažte pravý sloupec.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Příklad je záměrně z konstrukce, ale stejný postup platí pro zapojení i pro program. Nechte žáky rozložit vlastní úlohu.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Zahrajte si hru ve třídě. Odpověď: stačí 7 otázek, protože 2^7 = 128 &gt; 100. Stejně hledáte slovo ve slovníku nebo stránku v knize.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Aktivita: 6 dobrovolníků se seřadí podle výšky, smí ale porovnávat jen sousedy. Pak zkuste rychlejší postup: rozdělit na dvě skupiny, každou seřadit a pak slít dohromady (třídění sléváním). Počet porovnání u bublinkového třídění v nejhorším případě je n(n−1)/2.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Ctrl+Z je zásobník: poslední provedená akce se vrací jako první.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Sestava v CAD je typicky strom (sestava → podsestava → díl). Elektrický obvod nebo počítačová síť jsou grafy.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Paralela s hledáním závady v obvodu: nejdřív ověřit napájení, pak postupně jednotlivé části. Totéž platí pro algoritmus.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Algoritmizace: jak dobrý je můj postup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Algoritmus už znáte – vývojový diagram, pseudokód, první program</a:t>
            </a:r>
          </a:p>
          <a:p>
            <a:r>
              <a:rPr sz="1800" b="0" i="0"/>
              <a:t>Teď nás zajímá, jak poznat dobrý postup a jak uspořádat data</a:t>
            </a:r>
          </a:p>
          <a:p>
            <a:r>
              <a:rPr sz="1800" b="0" i="0"/>
              <a:t>Všechno jde na papíře, v diagramu nebo blokově – programovat nemusíte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Algoritmus v technice</a:t>
            </a:r>
            <a:r>
              <a:rPr sz="1050">
                <a:solidFill>
                  <a:srgbClr val="7A7A7A"/>
                </a:solidFill>
                <a:latin typeface="Arial"/>
              </a:rPr>
              <a:t>  v dílně, v obvodu i v počítači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1122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9456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9456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15798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Rozklad problému</a:t>
            </a:r>
            <a:r>
              <a:rPr sz="1050">
                <a:solidFill>
                  <a:srgbClr val="7A7A7A"/>
                </a:solidFill>
                <a:latin typeface="Arial"/>
              </a:rPr>
              <a:t>  velký úkol na malé kroky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66090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74320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74320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70662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Vyhledávání</a:t>
            </a:r>
            <a:r>
              <a:rPr sz="1050">
                <a:solidFill>
                  <a:srgbClr val="7A7A7A"/>
                </a:solidFill>
                <a:latin typeface="Arial"/>
              </a:rPr>
              <a:t>  postupně, nebo půlením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20954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291839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29183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25526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Třídění</a:t>
            </a:r>
            <a:r>
              <a:rPr sz="1050">
                <a:solidFill>
                  <a:srgbClr val="7A7A7A"/>
                </a:solidFill>
                <a:latin typeface="Arial"/>
              </a:rPr>
              <a:t>  jak seřadit bez chaosu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758183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84048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84048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80390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Datové struktury</a:t>
            </a:r>
            <a:r>
              <a:rPr sz="1050">
                <a:solidFill>
                  <a:srgbClr val="7A7A7A"/>
                </a:solidFill>
                <a:latin typeface="Arial"/>
              </a:rPr>
              <a:t>  fronta, zásobník, strom, graf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43068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3891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3891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3525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Kvalita řešení</a:t>
            </a:r>
            <a:r>
              <a:rPr sz="1050">
                <a:solidFill>
                  <a:srgbClr val="7A7A7A"/>
                </a:solidFill>
                <a:latin typeface="Arial"/>
              </a:rPr>
              <a:t>  správnost, efektivita, čitelnost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8554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937759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93775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90118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Ladění</a:t>
            </a:r>
            <a:r>
              <a:rPr sz="1050">
                <a:solidFill>
                  <a:srgbClr val="7A7A7A"/>
                </a:solidFill>
                <a:latin typeface="Arial"/>
              </a:rPr>
              <a:t>  jak najít chybu v postupu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Algoritmus není jen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Algoritmus:</a:t>
            </a:r>
            <a:r>
              <a:rPr sz="1800" b="0" i="0"/>
              <a:t> konečný a jednoznačný postup, který vede k výsledku</a:t>
            </a:r>
          </a:p>
          <a:p>
            <a:r>
              <a:rPr sz="1800" b="0" i="0"/>
              <a:t>Stejný princip najdete ve všech směrech lycea</a:t>
            </a:r>
          </a:p>
          <a:p>
            <a:r>
              <a:rPr sz="1800" b="0" i="0"/>
              <a:t>Konstrukce v deskriptivní geometrii je algoritmus – každý krok má dané pořadí</a:t>
            </a:r>
          </a:p>
          <a:p>
            <a:pPr>
              <a:buNone/>
            </a:pPr>
          </a:p>
          <a:p>
            <a:r>
              <a:rPr sz="1800" i="1"/>
              <a:t>Který postup z jiného předmětu byste dokázali zapsat jako algoritmus?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76606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7660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STEJNÝ PRINCIP, TŘI SMĚRY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Cog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Strojírenství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Technologický postup obrábění: upnout, zarovnat čelo, navrtat, vrtat. Pořadí nejde přehodit.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Bolt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Elektrotechnika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Řízení garážových vrat: stav, podmínka (koncový spínač), přechod do dalšího stavu.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LaptopCode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IT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Seřazení výsledků vyhledávání, doporučení videa, komprese fotky.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DraftingCompass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ED6845"/>
                </a:solidFill>
                <a:latin typeface="Arial"/>
              </a:rPr>
              <a:t>Deskriptivní geometrie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Řez tělesa rovinou krok za krokem – každý krok stojí na předchozím.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Vlastnosti algoritmu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Jednoznačnost:</a:t>
            </a:r>
            <a:r>
              <a:rPr sz="1800" b="0" i="0"/>
              <a:t> každý krok jde provést jen jedním způsobem</a:t>
            </a:r>
          </a:p>
          <a:p>
            <a:r>
              <a:rPr sz="1800" b="1" i="0"/>
              <a:t>Konečnost:</a:t>
            </a:r>
            <a:r>
              <a:rPr sz="1800" b="0" i="0"/>
              <a:t> postup jednou skončí</a:t>
            </a:r>
          </a:p>
          <a:p>
            <a:r>
              <a:rPr sz="1800" b="1" i="0"/>
              <a:t>Determinovanost:</a:t>
            </a:r>
            <a:r>
              <a:rPr sz="1800" b="0" i="0"/>
              <a:t> stejný vstup = stejný výsledek</a:t>
            </a:r>
          </a:p>
          <a:p>
            <a:r>
              <a:rPr sz="1800" b="1" i="0"/>
              <a:t>Obecnost:</a:t>
            </a:r>
            <a:r>
              <a:rPr sz="1800" b="0" i="0"/>
              <a:t> řeší celou skupinu úloh, ne jeden případ</a:t>
            </a:r>
          </a:p>
          <a:p>
            <a:pPr>
              <a:buNone/>
            </a:pPr>
          </a:p>
          <a:p>
            <a:r>
              <a:rPr sz="1800" i="1"/>
              <a:t>Proč stroj neumí pracovat s pokynem „trochu“?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SPRÁVNĚ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Vrtej, dokud to nebude dobré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Vrtej do hloubky 12 mm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Přidej trochu cínu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Pájej 2–3 s, dokud cín nezateče do spoje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Seřaď soubory nějak rozumně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Seřaď soubory podle data změny, od nejnovějšího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Opakuj, dokud to nefunguje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Opakuj nejvýš 3×, pak ohlas chybu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Rozklad problému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Velký problém rozdělíme na menší, které už umíme vyřešit</a:t>
            </a:r>
          </a:p>
          <a:p>
            <a:r>
              <a:rPr sz="1800" b="0" i="0"/>
              <a:t>Tak postupuje konstruktér, elektrotechnik i programátor</a:t>
            </a:r>
          </a:p>
          <a:p>
            <a:r>
              <a:rPr sz="1800" b="0" i="0"/>
              <a:t>Každá část má jasný vstup a výstup</a:t>
            </a:r>
          </a:p>
          <a:p>
            <a:pPr>
              <a:buNone/>
            </a:pPr>
          </a:p>
          <a:p>
            <a:r>
              <a:rPr sz="1800" i="1"/>
              <a:t>Jak byste rozložili přípravu projektu do odborného bloku?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3342132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3342132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PŘÍKLAD: DRŽÁK TELEFONU DO AUTA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22656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22656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 má výrobek umět? Zadání a omezení (rozměr, cena, materiál)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615184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2862072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2894076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2894076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2862072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Rozdělit na části: uchycení, kloub, opěrka telefonu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282696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529584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561588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56158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529584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Vyřešit každou část zvlášť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950208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197096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229099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229099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197096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Složit celek a ověřit, že funguje</a:t>
            </a:r>
          </a:p>
        </p:txBody>
      </p:sp>
      <p:pic>
        <p:nvPicPr>
          <p:cNvPr id="923" name="Picture 922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4617720"/>
            <a:ext cx="219456" cy="219456"/>
          </a:xfrm>
          <a:prstGeom prst="rect">
            <a:avLst/>
          </a:prstGeom>
        </p:spPr>
      </p:pic>
      <p:sp>
        <p:nvSpPr>
          <p:cNvPr id="924" name="Rounded Rectangle 923"/>
          <p:cNvSpPr/>
          <p:nvPr/>
        </p:nvSpPr>
        <p:spPr>
          <a:xfrm>
            <a:off x="6400800" y="4864608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Oval 924"/>
          <p:cNvSpPr/>
          <p:nvPr/>
        </p:nvSpPr>
        <p:spPr>
          <a:xfrm>
            <a:off x="6510528" y="489661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6464808" y="489661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949440" y="4864608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Upravit, co nefunguje, a ověřit znovu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Hledání: postupně, nebo půlením?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Lineární hledání:</a:t>
            </a:r>
            <a:r>
              <a:rPr sz="1800" b="0" i="0"/>
              <a:t> procházím položku po položce</a:t>
            </a:r>
          </a:p>
          <a:p>
            <a:r>
              <a:rPr sz="1800" b="1" i="0"/>
              <a:t>Půlení intervalu:</a:t>
            </a:r>
            <a:r>
              <a:rPr sz="1800" b="0" i="0"/>
              <a:t> podívám se doprostřed a polovinu vyřadím</a:t>
            </a:r>
          </a:p>
          <a:p>
            <a:r>
              <a:rPr sz="1800" b="0" i="0"/>
              <a:t>Půlení funguje jen v seřazených datech – proto se data řadí</a:t>
            </a:r>
          </a:p>
          <a:p>
            <a:pPr>
              <a:buNone/>
            </a:pPr>
          </a:p>
          <a:p>
            <a:r>
              <a:rPr sz="1800" i="1"/>
              <a:t>Myslím si číslo 1–100. Kolik otázek „větší/menší“ potřebujete?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764792"/>
            <a:ext cx="256032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ED6845"/>
                </a:solidFill>
                <a:latin typeface="Arial"/>
              </a:rPr>
              <a:t>až 1 000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46520" y="2350008"/>
            <a:ext cx="2468879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kroků při procházení seznamu 1 000 položek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9144000" y="1691640"/>
            <a:ext cx="2560320" cy="11430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9144000" y="1764792"/>
            <a:ext cx="256032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600" b="1" i="0">
                <a:solidFill>
                  <a:srgbClr val="6E7868"/>
                </a:solidFill>
                <a:latin typeface="Arial"/>
              </a:rPr>
              <a:t>max. 10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9189720" y="2350008"/>
            <a:ext cx="2468879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kroků při půlení stejného seznamu</a:t>
            </a:r>
          </a:p>
        </p:txBody>
      </p:sp>
      <p:graphicFrame>
        <p:nvGraphicFramePr>
          <p:cNvPr id="908" name="Table 907"/>
          <p:cNvGraphicFramePr>
            <a:graphicFrameLocks noGrp="1"/>
          </p:cNvGraphicFramePr>
          <p:nvPr/>
        </p:nvGraphicFramePr>
        <p:xfrm>
          <a:off x="6309360" y="306324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7373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Počet položek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Postupně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Půlením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až 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1 000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až 1 000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1 000 000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až 1 000 000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Třídění bez počítače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Bublinkové třídění:</a:t>
            </a:r>
            <a:r>
              <a:rPr sz="1800" b="0" i="0"/>
              <a:t> porovnávám sousedy a prohazuji je</a:t>
            </a:r>
          </a:p>
          <a:p>
            <a:r>
              <a:rPr sz="1800" b="0" i="0"/>
              <a:t>Jednoduché, ale pomalé: 1 000 položek až půl milionu porovnání</a:t>
            </a:r>
          </a:p>
          <a:p>
            <a:r>
              <a:rPr sz="1800" b="0" i="0"/>
              <a:t>Rychlejší postupy dělí data na menší části – zase rozklad problému</a:t>
            </a:r>
          </a:p>
          <a:p>
            <a:pPr>
              <a:buNone/>
            </a:pPr>
          </a:p>
          <a:p>
            <a:r>
              <a:rPr sz="1800" i="1"/>
              <a:t>Jak řadíte karty v ruce? Je to algoritmus?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783080"/>
            <a:ext cx="1120140" cy="14173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2823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Porovnej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28232" y="2286000"/>
            <a:ext cx="1065276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dva sousední prvky</a:t>
            </a:r>
          </a:p>
        </p:txBody>
      </p:sp>
      <p:pic>
        <p:nvPicPr>
          <p:cNvPr id="905" name="Picture 904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15" y="2391156"/>
            <a:ext cx="201168" cy="201168"/>
          </a:xfrm>
          <a:prstGeom prst="rect">
            <a:avLst/>
          </a:prstGeom>
        </p:spPr>
      </p:pic>
      <p:sp>
        <p:nvSpPr>
          <p:cNvPr id="906" name="Rounded Rectangle 905"/>
          <p:cNvSpPr/>
          <p:nvPr/>
        </p:nvSpPr>
        <p:spPr>
          <a:xfrm>
            <a:off x="7795260" y="1783080"/>
            <a:ext cx="1120140" cy="141732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782269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Prohoď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822692" y="2286000"/>
            <a:ext cx="1065276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pokud jsou ve špatném pořadí</a:t>
            </a:r>
          </a:p>
        </p:txBody>
      </p:sp>
      <p:pic>
        <p:nvPicPr>
          <p:cNvPr id="909" name="Picture 908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391156"/>
            <a:ext cx="201168" cy="201168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9189720" y="1783080"/>
            <a:ext cx="1120140" cy="14173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921715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Posuň se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217152" y="2286000"/>
            <a:ext cx="1065276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o jedno místo dál</a:t>
            </a:r>
          </a:p>
        </p:txBody>
      </p:sp>
      <p:pic>
        <p:nvPicPr>
          <p:cNvPr id="913" name="Picture 912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436" y="2391156"/>
            <a:ext cx="201168" cy="201168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10584180" y="1783080"/>
            <a:ext cx="1120140" cy="141732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10611611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Opakuj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10611611" y="2286000"/>
            <a:ext cx="1065276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celý průchod, dokud se něco mění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6400800" y="352044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8" name="Picture 917" descr="FaUsers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822191"/>
            <a:ext cx="310896" cy="310896"/>
          </a:xfrm>
          <a:prstGeom prst="rect">
            <a:avLst/>
          </a:prstGeom>
        </p:spPr>
      </p:pic>
      <p:sp>
        <p:nvSpPr>
          <p:cNvPr id="919" name="TextBox 918"/>
          <p:cNvSpPr txBox="1"/>
          <p:nvPr/>
        </p:nvSpPr>
        <p:spPr>
          <a:xfrm>
            <a:off x="6876288" y="3520440"/>
            <a:ext cx="475488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Aktivita: šest z vás se seřadí podle výšky. Smíte porovnávat jen sousedy.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6400800" y="46177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Lightbulb_6E7868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919472"/>
            <a:ext cx="310896" cy="310896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6876288" y="4617720"/>
            <a:ext cx="475488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Řazení karet v ruce = třídění vkládáním. Algoritmus používáte, i když o něm nevíte.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Datové struktury ze života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Datová struktura:</a:t>
            </a:r>
            <a:r>
              <a:rPr sz="1800" b="0" i="0"/>
              <a:t> způsob, jak data uspořádat, aby se s nimi dobře pracovalo</a:t>
            </a:r>
          </a:p>
          <a:p>
            <a:r>
              <a:rPr sz="1800" b="0" i="0"/>
              <a:t>Volba struktury určuje, které operace budou rychlé</a:t>
            </a:r>
          </a:p>
          <a:p>
            <a:pPr>
              <a:buNone/>
            </a:pPr>
          </a:p>
          <a:p>
            <a:r>
              <a:rPr sz="1800" i="1"/>
              <a:t>Jakou strukturu používá Ctrl+Z ve Wordu nebo v CAD?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093976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093976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JAK DATA USPOŘÁDAT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Users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Fronta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Kdo první přijde, je první obsloužen. Tiskové úlohy, zakázky ve výrobě, linka podpory.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LayerGroup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Zásobník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Poslední dovnitř, první ven. Tlačítko Zpět, Ctrl+Z, stoh plechů na paletě.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ListOl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Seznam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Řada prvků v daném pořadí, vkládat a mazat lze kdekoli. Kusovník, seznam úkolů.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Book_ED6845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Slovník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Dvojice klíč → hodnota. Kód dílu → název, IP adresa → zařízení, slovo → překlad.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Strom a graf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Složitější struktury popisují vztahy mezi prvky</a:t>
            </a:r>
          </a:p>
          <a:p>
            <a:r>
              <a:rPr sz="1800" b="1" i="0"/>
              <a:t>Strom:</a:t>
            </a:r>
            <a:r>
              <a:rPr sz="1800" b="0" i="0"/>
              <a:t> hierarchie, každý prvek má jednoho „rodiče“</a:t>
            </a:r>
          </a:p>
          <a:p>
            <a:r>
              <a:rPr sz="1800" b="1" i="0"/>
              <a:t>Graf:</a:t>
            </a:r>
            <a:r>
              <a:rPr sz="1800" b="0" i="0"/>
              <a:t> síť, prvky propojené libovolně</a:t>
            </a:r>
          </a:p>
          <a:p>
            <a:r>
              <a:rPr sz="1800" b="0" i="0"/>
              <a:t>Navigace hledá nejkratší cestu v grafu</a:t>
            </a:r>
          </a:p>
          <a:p>
            <a:pPr>
              <a:buNone/>
            </a:pPr>
          </a:p>
          <a:p>
            <a:r>
              <a:rPr sz="1800" i="1"/>
              <a:t>Je sestava ve výkresu strom, nebo graf?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Sitemap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4520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225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Strom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Rounded Rectangle 905"/>
          <p:cNvSpPr/>
          <p:nvPr/>
        </p:nvSpPr>
        <p:spPr>
          <a:xfrm>
            <a:off x="65836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5836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Složky v počítači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836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Sestava → podsestava → díl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5836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Organizace firmy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5836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65836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Rodokmen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ProjectDiagram_6E786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874520"/>
            <a:ext cx="384048" cy="384048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7657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Graf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Rounded Rectangle 917"/>
          <p:cNvSpPr/>
          <p:nvPr/>
        </p:nvSpPr>
        <p:spPr>
          <a:xfrm>
            <a:off x="93268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93268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Mapa a navigace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93268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Elektrický obvod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93268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Počítačová síť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93268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93268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Sociální síť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Dobré řešení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Funguje ≠ je dobré</a:t>
            </a:r>
          </a:p>
          <a:p>
            <a:r>
              <a:rPr sz="1800" b="0" i="0"/>
              <a:t>Krajní případy odhalí většinu chyb</a:t>
            </a:r>
          </a:p>
          <a:p>
            <a:r>
              <a:rPr sz="1800" b="0" i="0"/>
              <a:t>Čitelný postup se dá předat, opravit a zlepšit</a:t>
            </a:r>
          </a:p>
          <a:p>
            <a:pPr>
              <a:buNone/>
            </a:pPr>
          </a:p>
          <a:p>
            <a:r>
              <a:rPr sz="1800" i="1"/>
              <a:t>Co udělá váš postup, když je vstup prázdný?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901952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901952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KONTROLNÍ OTÁZKY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01443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Správnost: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funguje pro všechny vstupy, i krajní (0, prázdný seznam, záporné číslo)?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302895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35833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302895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Konečnost: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skončí vždy? Nemůže se zacyklit?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863339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070223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863339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Efektivita: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kolik kroků potřebuje, když dat přibude 10×?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69773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904613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69773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Čitelnost: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pochopí postup někdo jiný bez vašeho vysvětlení?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Ladění: hledání chyby v postupu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Chyba v algoritmu se hledá stejně jako závada na stroji nebo v obvodu</a:t>
            </a:r>
          </a:p>
          <a:p>
            <a:r>
              <a:rPr sz="1800" b="0" i="0"/>
              <a:t>Měníme vždy jen jednu věc</a:t>
            </a:r>
          </a:p>
          <a:p>
            <a:r>
              <a:rPr sz="1800" b="1" i="0"/>
              <a:t>Trasování:</a:t>
            </a:r>
            <a:r>
              <a:rPr sz="1800" b="0" i="0"/>
              <a:t> projdu postup ručně s konkrétními hodnotami</a:t>
            </a:r>
          </a:p>
          <a:p>
            <a:pPr>
              <a:buNone/>
            </a:pPr>
          </a:p>
          <a:p>
            <a:r>
              <a:rPr sz="1800" i="1"/>
              <a:t>Jak postupujete, když po zapojení nesvítí LED?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13916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613916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POSTUP LADĚNÍ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310003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31000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Zopakuj chybu: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za jakých podmínek nastává?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782062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302895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3144393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314439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302895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Zúži místo: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který krok dává špatný výsledek?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616451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863339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97878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97878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863339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Ověř domněnku: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změň jen jednu věc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4450842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697730"/>
            <a:ext cx="5303520" cy="578357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813173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813173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697730"/>
            <a:ext cx="4663440" cy="5783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Oprav a otestuj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znovu, i případy, které fungovaly dřív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Algoritmické myšlení se uplatní v každém technickém oboru</a:t>
            </a:r>
          </a:p>
          <a:p>
            <a:r>
              <a:rPr sz="1800" b="0" i="0"/>
              <a:t>Jazyk je jen nástroj – postup musíte vymyslet vy</a:t>
            </a:r>
          </a:p>
          <a:p>
            <a:r>
              <a:rPr sz="1800" b="1" i="0"/>
              <a:t>Do portfolia:</a:t>
            </a:r>
            <a:r>
              <a:rPr sz="1800" b="0" i="0"/>
              <a:t> zapište postup z odborného bloku jako vývojový diagram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Programátor PLC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Automatizace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Vestavné systémy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Vývojář softwaru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Datový analytik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Tester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CNC programátor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Technolog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Robotizace výroby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je můj postup algoritmus?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Vyberte postup z odborného bloku nebo z jiného předmětu</a:t>
            </a:r>
          </a:p>
          <a:p>
            <a:r>
              <a:rPr sz="1800" b="0" i="0"/>
              <a:t>Projděte ho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 každý krok jednoznačný, bez slov „trochu“ nebo „dokud to nebude dobré“?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Skončí postup vždy?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Funguje i pro krajní případy?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Kolik kroků přibude, když bude dat 10× víc?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Pochopil by postup spolužák bez vašeho výkladu?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