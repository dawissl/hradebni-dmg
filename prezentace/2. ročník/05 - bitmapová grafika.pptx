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7AF137-F5E4-6CD0-2C72-90489443E9F6}" v="2" dt="2026-09-24T09:50:57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3B7AF137-F5E4-6CD0-2C72-90489443E9F6}"/>
    <pc:docChg chg="modSld">
      <pc:chgData name="Sládeček David" userId="S::sladecek@hradebni.cz::474d93f0-3a32-49cc-b837-47806091b590" providerId="AD" clId="Web-{3B7AF137-F5E4-6CD0-2C72-90489443E9F6}" dt="2026-09-24T09:50:57.569" v="1" actId="20577"/>
      <pc:docMkLst>
        <pc:docMk/>
      </pc:docMkLst>
      <pc:sldChg chg="modSp">
        <pc:chgData name="Sládeček David" userId="S::sladecek@hradebni.cz::474d93f0-3a32-49cc-b837-47806091b590" providerId="AD" clId="Web-{3B7AF137-F5E4-6CD0-2C72-90489443E9F6}" dt="2026-09-24T09:50:57.569" v="1" actId="20577"/>
        <pc:sldMkLst>
          <pc:docMk/>
          <pc:sldMk cId="0" sldId="274"/>
        </pc:sldMkLst>
        <pc:spChg chg="mod">
          <ac:chgData name="Sládeček David" userId="S::sladecek@hradebni.cz::474d93f0-3a32-49cc-b837-47806091b590" providerId="AD" clId="Web-{3B7AF137-F5E4-6CD0-2C72-90489443E9F6}" dt="2026-09-24T09:50:57.569" v="1" actId="20577"/>
          <ac:spMkLst>
            <pc:docMk/>
            <pc:sldMk cId="0" sldId="274"/>
            <ac:spMk id="3" creationId="{00000000-0000-0000-0000-000000000000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6E7868"/>
            </a:solidFill>
          </c:spPr>
          <c:cat>
            <c:strRef>
              <c:f>Sheet1!$A$2:$A$11</c:f>
              <c:strCache>
                <c:ptCount val="1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</c:v>
                </c:pt>
                <c:pt idx="1">
                  <c:v>14</c:v>
                </c:pt>
                <c:pt idx="2">
                  <c:v>12</c:v>
                </c:pt>
                <c:pt idx="3">
                  <c:v>8</c:v>
                </c:pt>
                <c:pt idx="4">
                  <c:v>5</c:v>
                </c:pt>
                <c:pt idx="5">
                  <c:v>3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spPr>
          <a:ln>
            <a:solidFill>
              <a:srgbClr val="BBBBBB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ED6845"/>
            </a:solidFill>
          </c:spPr>
          <c:cat>
            <c:strRef>
              <c:f>Sheet1!$A$2:$A$11</c:f>
              <c:strCache>
                <c:ptCount val="1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9</c:v>
                </c:pt>
                <c:pt idx="4">
                  <c:v>11</c:v>
                </c:pt>
                <c:pt idx="5">
                  <c:v>10</c:v>
                </c:pt>
                <c:pt idx="6">
                  <c:v>8</c:v>
                </c:pt>
                <c:pt idx="7">
                  <c:v>6</c:v>
                </c:pt>
                <c:pt idx="8">
                  <c:v>3</c:v>
                </c:pt>
                <c:pt idx="9">
                  <c:v>1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spPr>
          <a:ln>
            <a:solidFill>
              <a:srgbClr val="BBBBBB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6E7868"/>
            </a:solidFill>
          </c:spPr>
          <c:cat>
            <c:strRef>
              <c:f>Sheet1!$A$2:$A$11</c:f>
              <c:strCache>
                <c:ptCount val="1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5</c:v>
                </c:pt>
                <c:pt idx="6">
                  <c:v>8</c:v>
                </c:pt>
                <c:pt idx="7">
                  <c:v>11</c:v>
                </c:pt>
                <c:pt idx="8">
                  <c:v>13</c:v>
                </c:pt>
                <c:pt idx="9">
                  <c:v>15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spPr>
          <a:ln>
            <a:solidFill>
              <a:srgbClr val="BBBBBB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5D27F-1F31-4BE3-8CDF-23166E820B30}" type="datetimeFigureOut">
              <a:t>24.09.2026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165A1-8B5C-4998-B327-EB8D7614E2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74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Přehled hodiny. Žáci s grafickým odborným blokem znají nástroje do hloubky – tady jde o principy, které potřebuje každý, kdo fotí a sdílí.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Navazuje na číselné soustavy z hardwaru v 1. ročníku: ED = 237, 68 = 104, 45 = 69. Žlutá vzniká skládáním červeného a zeleného světla (aditivní míchání).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Ukažte histogram ve fotoaparátu mobilu (Pro režim) nebo v GIMPu / Photopea. Přepálené pixely mají hodnotu 255 ve všech kanálech – informace o barvě je pryč.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Odpověď: 12Mpx fotka (4 000 × 3 000 px) vyjde na A3 zhruba při 240 DPI – na plakát to stačí. AI zvětšovače pixely odhadují, nepřidávají skutečný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Ukázka: stejnou fotku uložte jako JPEG v kvalitě 90, 50 a 10 a porovnejte velikost souboru a artefakty (kostičky, „mlha“ kolem ostrých hran). Pak snímek obrazovky s textem jako JPEG a 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 Windows: pravé tlačítko → Vlastnosti → Podrobnosti. Navazuje na osobní údaje a GDPR z hodiny o datech – poloha je osobní údaj.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Aktivita: každý pořídí v odborném bloku 3 fotky ve formátu 4:5 a upraví je nedestruktivně. Vybrané fotky půjdou na @lyceum.hradebni (se souhlasem lidí na fotce).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F695BADC-4FD4-44DC-8CD5-A8F9C57A8D9D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197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E410-BE9E-427B-BCB5-604E33C4348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717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D666FC17-48E9-4EB3-BB0E-C81F4FBF1D6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1555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DFE1FB2C-1600-49CF-ABE3-F2743AC651C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23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205D05A-BA39-4B06-B20A-BF32BF994A6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4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6C2206C6-C6B2-4E06-A7AA-7F308C2F851D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98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D1188C7A-78DB-4967-8643-716598F25D9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387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94BC2-7D23-4352-8AF3-6A490B666FB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43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4758A600-6D87-4303-8A2F-171F72E2237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132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FBFC4637-11C9-448C-8D4C-0CD0AE46C94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70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CBC-A2D6-42D3-976A-174CF7E26BA0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19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917E8D86-1037-438D-973A-F8D03A01BF1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786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B0ECE3E5-DEB1-48A2-A1A9-7ABBE9A784F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563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2B950759-980B-4783-B58D-96B69BC77CA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630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75D8CBF3-D33E-488B-BE09-B302C350493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703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49885C97-4180-47D6-BA3E-83C74E1B190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092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20E7-9D70-4C91-9C55-B922EC8FF4E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5289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A25B1B0E-4CBA-421A-9FF9-BD907EE313C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539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E07D1D-D1D5-479B-A8E5-C908666570C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2687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907655-BDED-4A88-9727-947E0245664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941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D348C769-7AB4-4647-BD58-CC3E9CA6688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90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EDEC-0890-4E6D-9DE0-ECAF543851A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2027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8318-BA47-4AD0-805B-25EB53D81BBB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9546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3F20-2AB6-4A04-8E99-A7FB006776B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907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2087-1351-4A66-BC4B-B8C73F209E6A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647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A8EB468F-DE53-43FF-8B87-9F03EBF19C2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5445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77D9A748-B116-46F1-81D5-0BE225FE4E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6402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24.09.2026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653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82B9AEC8-204B-4AD5-8041-BCAF36A74EB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72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hf hdr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Bitmapová grafika: co se děje s fotkou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Digitální a mediální gramotnost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Co nás čeká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Pixel, DPI a formáty už znáte z 1. ročníku</a:t>
            </a:r>
          </a:p>
          <a:p>
            <a:r>
              <a:rPr sz="1800" b="0" i="0"/>
              <a:t>Teď se podíváme, co se s fotkou děje při úpravách a sdílení</a:t>
            </a:r>
          </a:p>
          <a:p>
            <a:r>
              <a:rPr sz="1800" b="0" i="0"/>
              <a:t>Na konci si projdete vlastní fotky kontrolními otázkami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902" name="Oval 901"/>
          <p:cNvSpPr/>
          <p:nvPr/>
        </p:nvSpPr>
        <p:spPr>
          <a:xfrm>
            <a:off x="6400800" y="164592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355080" y="16459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6903720" y="16093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Barva v číslech</a:t>
            </a:r>
            <a:r>
              <a:rPr sz="1050">
                <a:solidFill>
                  <a:srgbClr val="7A7A7A"/>
                </a:solidFill>
                <a:latin typeface="Arial"/>
              </a:rPr>
              <a:t>  RGB, bitová hloubka, HSL</a:t>
            </a:r>
          </a:p>
        </p:txBody>
      </p:sp>
      <p:cxnSp>
        <p:nvCxnSpPr>
          <p:cNvPr id="905" name="Connector 904"/>
          <p:cNvCxnSpPr/>
          <p:nvPr/>
        </p:nvCxnSpPr>
        <p:spPr>
          <a:xfrm>
            <a:off x="6903720" y="2049399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Oval 905"/>
          <p:cNvSpPr/>
          <p:nvPr/>
        </p:nvSpPr>
        <p:spPr>
          <a:xfrm>
            <a:off x="6400800" y="2131695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6355080" y="2131695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6903720" y="2095118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Histogram</a:t>
            </a:r>
            <a:r>
              <a:rPr sz="1050">
                <a:solidFill>
                  <a:srgbClr val="7A7A7A"/>
                </a:solidFill>
                <a:latin typeface="Arial"/>
              </a:rPr>
              <a:t>  jak číst expozici</a:t>
            </a:r>
          </a:p>
        </p:txBody>
      </p:sp>
      <p:cxnSp>
        <p:nvCxnSpPr>
          <p:cNvPr id="909" name="Connector 908"/>
          <p:cNvCxnSpPr/>
          <p:nvPr/>
        </p:nvCxnSpPr>
        <p:spPr>
          <a:xfrm>
            <a:off x="6903720" y="253517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0" name="Oval 909"/>
          <p:cNvSpPr/>
          <p:nvPr/>
        </p:nvSpPr>
        <p:spPr>
          <a:xfrm>
            <a:off x="6400800" y="261747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355080" y="261747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903720" y="258089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Nedestruktivní úpravy</a:t>
            </a:r>
            <a:r>
              <a:rPr sz="1050">
                <a:solidFill>
                  <a:srgbClr val="7A7A7A"/>
                </a:solidFill>
                <a:latin typeface="Arial"/>
              </a:rPr>
              <a:t>  vrstvy a masky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903720" y="3020949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Oval 913"/>
          <p:cNvSpPr/>
          <p:nvPr/>
        </p:nvSpPr>
        <p:spPr>
          <a:xfrm>
            <a:off x="6400800" y="3103245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6355080" y="3103245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6903720" y="3066669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Rozlišení prakticky</a:t>
            </a:r>
            <a:r>
              <a:rPr sz="1050">
                <a:solidFill>
                  <a:srgbClr val="7A7A7A"/>
                </a:solidFill>
                <a:latin typeface="Arial"/>
              </a:rPr>
              <a:t>  web, tisk, sociální sítě</a:t>
            </a:r>
          </a:p>
        </p:txBody>
      </p:sp>
      <p:cxnSp>
        <p:nvCxnSpPr>
          <p:cNvPr id="917" name="Connector 916"/>
          <p:cNvCxnSpPr/>
          <p:nvPr/>
        </p:nvCxnSpPr>
        <p:spPr>
          <a:xfrm>
            <a:off x="6903720" y="350672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Oval 917"/>
          <p:cNvSpPr/>
          <p:nvPr/>
        </p:nvSpPr>
        <p:spPr>
          <a:xfrm>
            <a:off x="6400800" y="358902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6355080" y="35890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6903720" y="35524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Komprese v praxi</a:t>
            </a:r>
            <a:r>
              <a:rPr sz="1050">
                <a:solidFill>
                  <a:srgbClr val="7A7A7A"/>
                </a:solidFill>
                <a:latin typeface="Arial"/>
              </a:rPr>
              <a:t>  JPEG, PNG, WebP, AVIF</a:t>
            </a:r>
          </a:p>
        </p:txBody>
      </p:sp>
      <p:cxnSp>
        <p:nvCxnSpPr>
          <p:cNvPr id="921" name="Connector 920"/>
          <p:cNvCxnSpPr/>
          <p:nvPr/>
        </p:nvCxnSpPr>
        <p:spPr>
          <a:xfrm>
            <a:off x="6903720" y="3992499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2" name="Oval 921"/>
          <p:cNvSpPr/>
          <p:nvPr/>
        </p:nvSpPr>
        <p:spPr>
          <a:xfrm>
            <a:off x="6400800" y="4074795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3" name="TextBox 922"/>
          <p:cNvSpPr txBox="1"/>
          <p:nvPr/>
        </p:nvSpPr>
        <p:spPr>
          <a:xfrm>
            <a:off x="6355080" y="4074795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6903720" y="4038219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Metadata</a:t>
            </a:r>
            <a:r>
              <a:rPr sz="1050">
                <a:solidFill>
                  <a:srgbClr val="7A7A7A"/>
                </a:solidFill>
                <a:latin typeface="Arial"/>
              </a:rPr>
              <a:t>  co prozradí fotka</a:t>
            </a:r>
          </a:p>
        </p:txBody>
      </p:sp>
      <p:cxnSp>
        <p:nvCxnSpPr>
          <p:cNvPr id="925" name="Connector 924"/>
          <p:cNvCxnSpPr/>
          <p:nvPr/>
        </p:nvCxnSpPr>
        <p:spPr>
          <a:xfrm>
            <a:off x="6903720" y="447827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6" name="Oval 925"/>
          <p:cNvSpPr/>
          <p:nvPr/>
        </p:nvSpPr>
        <p:spPr>
          <a:xfrm>
            <a:off x="6400800" y="456057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7" name="TextBox 926"/>
          <p:cNvSpPr txBox="1"/>
          <p:nvPr/>
        </p:nvSpPr>
        <p:spPr>
          <a:xfrm>
            <a:off x="6355080" y="456057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6903720" y="452399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Manipulace a AI</a:t>
            </a:r>
            <a:r>
              <a:rPr sz="1050">
                <a:solidFill>
                  <a:srgbClr val="7A7A7A"/>
                </a:solidFill>
                <a:latin typeface="Arial"/>
              </a:rPr>
              <a:t>  jak poznat upravený snímek</a:t>
            </a:r>
          </a:p>
        </p:txBody>
      </p:sp>
      <p:cxnSp>
        <p:nvCxnSpPr>
          <p:cNvPr id="929" name="Connector 928"/>
          <p:cNvCxnSpPr/>
          <p:nvPr/>
        </p:nvCxnSpPr>
        <p:spPr>
          <a:xfrm>
            <a:off x="6903720" y="4964049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0" name="Oval 929"/>
          <p:cNvSpPr/>
          <p:nvPr/>
        </p:nvSpPr>
        <p:spPr>
          <a:xfrm>
            <a:off x="6400800" y="5046345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1" name="TextBox 930"/>
          <p:cNvSpPr txBox="1"/>
          <p:nvPr/>
        </p:nvSpPr>
        <p:spPr>
          <a:xfrm>
            <a:off x="6355080" y="5046345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6903720" y="5009769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Fotka pro sociální sítě</a:t>
            </a:r>
            <a:r>
              <a:rPr sz="1050">
                <a:solidFill>
                  <a:srgbClr val="7A7A7A"/>
                </a:solidFill>
                <a:latin typeface="Arial"/>
              </a:rPr>
              <a:t>  materiál pro profil lycea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1 · Barva v číslech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Každý pixel = tři čísla R, G, B v rozsahu 0–255</a:t>
            </a:r>
          </a:p>
          <a:p>
            <a:r>
              <a:rPr sz="1800" b="0" i="0"/>
              <a:t>8 bitů na kanál → 256³ ≈ 16,7 milionu barev</a:t>
            </a:r>
          </a:p>
          <a:p>
            <a:r>
              <a:rPr sz="1800" b="1" i="0"/>
              <a:t>HSL</a:t>
            </a:r>
            <a:r>
              <a:rPr sz="1800" b="0" i="0"/>
              <a:t> (odstín, sytost, světlost) – model, ve kterém barvu ladí člověk</a:t>
            </a:r>
          </a:p>
          <a:p>
            <a:pPr>
              <a:buNone/>
            </a:pPr>
          </a:p>
          <a:p>
            <a:r>
              <a:rPr sz="1800" i="1"/>
              <a:t>Proč monitor nemá žlutý bod, a přesto žlutou zobrazí?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805940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180594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PIXEL V ČÍSLECH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48840"/>
            <a:ext cx="5303520" cy="1508760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5" name="TextBox 904"/>
          <p:cNvSpPr txBox="1"/>
          <p:nvPr/>
        </p:nvSpPr>
        <p:spPr>
          <a:xfrm>
            <a:off x="6492240" y="2194560"/>
            <a:ext cx="5120640" cy="1417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R 237   G 104   B  69   → oranžová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R 255   G 255   B 255   → bílá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R   0   G   0   B   0   → černá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 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#ED6845 = stejná oranžová v šestnáctkové soustavě</a:t>
            </a:r>
          </a:p>
        </p:txBody>
      </p:sp>
      <p:graphicFrame>
        <p:nvGraphicFramePr>
          <p:cNvPr id="906" name="Table 905"/>
          <p:cNvGraphicFramePr>
            <a:graphicFrameLocks noGrp="1"/>
          </p:cNvGraphicFramePr>
          <p:nvPr/>
        </p:nvGraphicFramePr>
        <p:xfrm>
          <a:off x="6309360" y="3931920"/>
          <a:ext cx="5394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64592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Bitová hloubka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Odstínů na kanál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Použití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1 bit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černobílý sken textu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8 bitů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běžné fotky, web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16 bitů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65 536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RAW, profesionální úpravy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2 · Histogram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Graf, kolik pixelů má jakou světlost – vlevo tmavé, vpravo světlé</a:t>
            </a:r>
          </a:p>
          <a:p>
            <a:r>
              <a:rPr sz="1800" b="0" i="0"/>
              <a:t>Hora nalepená vpravo = přepal, vlevo = podexpozice</a:t>
            </a:r>
          </a:p>
          <a:p>
            <a:r>
              <a:rPr sz="1800" b="0" i="0"/>
              <a:t>Úrovně a křivky histogram posouvají – chybějící informace už nevznikne</a:t>
            </a:r>
          </a:p>
          <a:p>
            <a:pPr>
              <a:buNone/>
            </a:pPr>
          </a:p>
          <a:p>
            <a:r>
              <a:rPr sz="1800" i="1"/>
              <a:t>Proč z přepáleného nebe už modrou nedostanete?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691640" cy="237744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903" name="Chart 902"/>
          <p:cNvGraphicFramePr>
            <a:graphicFrameLocks noGrp="1"/>
          </p:cNvGraphicFramePr>
          <p:nvPr/>
        </p:nvGraphicFramePr>
        <p:xfrm>
          <a:off x="6446520" y="1783080"/>
          <a:ext cx="160020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04" name="TextBox 903"/>
          <p:cNvSpPr txBox="1"/>
          <p:nvPr/>
        </p:nvSpPr>
        <p:spPr>
          <a:xfrm>
            <a:off x="6400800" y="3611880"/>
            <a:ext cx="169164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Podexponovaná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8211312" y="1691640"/>
            <a:ext cx="1691640" cy="237744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906" name="Chart 905"/>
          <p:cNvGraphicFramePr>
            <a:graphicFrameLocks noGrp="1"/>
          </p:cNvGraphicFramePr>
          <p:nvPr/>
        </p:nvGraphicFramePr>
        <p:xfrm>
          <a:off x="8257032" y="1783080"/>
          <a:ext cx="1600200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07" name="TextBox 906"/>
          <p:cNvSpPr txBox="1"/>
          <p:nvPr/>
        </p:nvSpPr>
        <p:spPr>
          <a:xfrm>
            <a:off x="8211312" y="3611880"/>
            <a:ext cx="169164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Správná expozice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10021824" y="1691640"/>
            <a:ext cx="1691640" cy="237744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909" name="Chart 908"/>
          <p:cNvGraphicFramePr>
            <a:graphicFrameLocks noGrp="1"/>
          </p:cNvGraphicFramePr>
          <p:nvPr/>
        </p:nvGraphicFramePr>
        <p:xfrm>
          <a:off x="10067544" y="1783080"/>
          <a:ext cx="1600200" cy="18288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910" name="TextBox 909"/>
          <p:cNvSpPr txBox="1"/>
          <p:nvPr/>
        </p:nvSpPr>
        <p:spPr>
          <a:xfrm>
            <a:off x="10021824" y="3611880"/>
            <a:ext cx="169164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Přepálená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6400800" y="4297680"/>
            <a:ext cx="5303520" cy="118872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2" name="Picture 911" descr="FaInfo_6E7868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4736592"/>
            <a:ext cx="310896" cy="310896"/>
          </a:xfrm>
          <a:prstGeom prst="rect">
            <a:avLst/>
          </a:prstGeom>
        </p:spPr>
      </p:pic>
      <p:sp>
        <p:nvSpPr>
          <p:cNvPr id="913" name="TextBox 912"/>
          <p:cNvSpPr txBox="1"/>
          <p:nvPr/>
        </p:nvSpPr>
        <p:spPr>
          <a:xfrm>
            <a:off x="6876288" y="4297680"/>
            <a:ext cx="4754880" cy="1188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Ideální histogram nemusí být „hora uprostřed“ – noční fotka je přirozeně vlevo. Problém je, když je graf useknutý o okraj.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3 · Nedestruktivní úpravy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Destruktivní úprava mění pixely originálu napořád</a:t>
            </a:r>
          </a:p>
          <a:p>
            <a:r>
              <a:rPr sz="1800" b="1" i="0"/>
              <a:t>Vrstva:</a:t>
            </a:r>
            <a:r>
              <a:rPr sz="1800" b="0" i="0"/>
              <a:t> průhledná fólie, </a:t>
            </a:r>
            <a:r>
              <a:rPr sz="1800" b="1" i="0"/>
              <a:t>maska:</a:t>
            </a:r>
            <a:r>
              <a:rPr sz="1800" b="0" i="0"/>
              <a:t> co z vrstvy je vidět</a:t>
            </a:r>
          </a:p>
          <a:p>
            <a:r>
              <a:rPr sz="1800" b="0" i="0"/>
              <a:t>Bílá v masce ukazuje, černá skrývá</a:t>
            </a:r>
          </a:p>
          <a:p>
            <a:r>
              <a:rPr sz="1800" b="0" i="0"/>
              <a:t>Úpravovou vrstvu jde kdykoli vypnout nebo změnit</a:t>
            </a:r>
          </a:p>
          <a:p>
            <a:pPr>
              <a:buNone/>
            </a:pPr>
          </a:p>
          <a:p>
            <a:r>
              <a:rPr sz="1800" i="1"/>
              <a:t>Kolikrát jste začínali znovu, protože jste přeuložili originál?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902" name="Picture 901" descr="FaTimes_D9342B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91640"/>
            <a:ext cx="274320" cy="274320"/>
          </a:xfrm>
          <a:prstGeom prst="rect">
            <a:avLst/>
          </a:prstGeom>
        </p:spPr>
      </p:pic>
      <p:sp>
        <p:nvSpPr>
          <p:cNvPr id="903" name="TextBox 902"/>
          <p:cNvSpPr txBox="1"/>
          <p:nvPr/>
        </p:nvSpPr>
        <p:spPr>
          <a:xfrm>
            <a:off x="6858000" y="1673352"/>
            <a:ext cx="219456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ŠPATNĚ</a:t>
            </a:r>
          </a:p>
        </p:txBody>
      </p:sp>
      <p:pic>
        <p:nvPicPr>
          <p:cNvPr id="904" name="Picture 903" descr="FaCheck_2E9E4F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1691640"/>
            <a:ext cx="274320" cy="274320"/>
          </a:xfrm>
          <a:prstGeom prst="rect">
            <a:avLst/>
          </a:prstGeom>
        </p:spPr>
      </p:pic>
      <p:sp>
        <p:nvSpPr>
          <p:cNvPr id="905" name="TextBox 904"/>
          <p:cNvSpPr txBox="1"/>
          <p:nvPr/>
        </p:nvSpPr>
        <p:spPr>
          <a:xfrm>
            <a:off x="9509760" y="1673352"/>
            <a:ext cx="219456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SPRÁVNĚ</a:t>
            </a:r>
          </a:p>
        </p:txBody>
      </p:sp>
      <p:cxnSp>
        <p:nvCxnSpPr>
          <p:cNvPr id="906" name="Connector 905"/>
          <p:cNvCxnSpPr/>
          <p:nvPr/>
        </p:nvCxnSpPr>
        <p:spPr>
          <a:xfrm>
            <a:off x="9052560" y="1691640"/>
            <a:ext cx="0" cy="3776472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6400800" y="2103120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TextBox 907"/>
          <p:cNvSpPr txBox="1"/>
          <p:nvPr/>
        </p:nvSpPr>
        <p:spPr>
          <a:xfrm>
            <a:off x="6492240" y="2148839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Gumovat přímo v originálu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9144000" y="2148839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Skrýt část maskou</a:t>
            </a:r>
          </a:p>
        </p:txBody>
      </p:sp>
      <p:cxnSp>
        <p:nvCxnSpPr>
          <p:cNvPr id="910" name="Connector 909"/>
          <p:cNvCxnSpPr/>
          <p:nvPr/>
        </p:nvCxnSpPr>
        <p:spPr>
          <a:xfrm>
            <a:off x="6400800" y="2944368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TextBox 910"/>
          <p:cNvSpPr txBox="1"/>
          <p:nvPr/>
        </p:nvSpPr>
        <p:spPr>
          <a:xfrm>
            <a:off x="6492240" y="2990087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Zesvětlit fotku a uložit přes originál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9144000" y="2990087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Úpravová vrstva Jas, originál zůstane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400800" y="3785615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913"/>
          <p:cNvSpPr txBox="1"/>
          <p:nvPr/>
        </p:nvSpPr>
        <p:spPr>
          <a:xfrm>
            <a:off x="6492240" y="3831335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Uložit jen JPEG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9144000" y="3831335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Pracovní soubor (PSD, XCF) + export JPEG</a:t>
            </a:r>
          </a:p>
        </p:txBody>
      </p:sp>
      <p:cxnSp>
        <p:nvCxnSpPr>
          <p:cNvPr id="916" name="Connector 915"/>
          <p:cNvCxnSpPr/>
          <p:nvPr/>
        </p:nvCxnSpPr>
        <p:spPr>
          <a:xfrm>
            <a:off x="6400800" y="4626864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7" name="TextBox 916"/>
          <p:cNvSpPr txBox="1"/>
          <p:nvPr/>
        </p:nvSpPr>
        <p:spPr>
          <a:xfrm>
            <a:off x="6492240" y="4672584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Retušovat na vrstvě s fotkou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9144000" y="4672584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Retušovat na samostatné vrstvě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4 · Rozlišení prakticky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Pro obrazovku rozhoduje počet pixelů, ne DPI</a:t>
            </a:r>
          </a:p>
          <a:p>
            <a:r>
              <a:rPr sz="1800" b="0" i="0"/>
              <a:t>Pro tisk: pixely ÷ DPI = velikost v palcích (1″ = 2,54 cm)</a:t>
            </a:r>
          </a:p>
          <a:p>
            <a:r>
              <a:rPr sz="1800" b="0" i="0"/>
              <a:t>Kvalitní tisk 300 DPI, plakát pozorovaný z dálky 150 DPI</a:t>
            </a:r>
          </a:p>
          <a:p>
            <a:r>
              <a:rPr sz="1800" b="0" i="0"/>
              <a:t>Zvětšení obrázek nezlepší – pixely se jen dopočítají</a:t>
            </a:r>
          </a:p>
          <a:p>
            <a:pPr>
              <a:buNone/>
            </a:pPr>
          </a:p>
          <a:p>
            <a:r>
              <a:rPr sz="1800" i="1"/>
              <a:t>Stačí fotka z mobilu na plakát A3?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902" name="Table 901"/>
          <p:cNvGraphicFramePr>
            <a:graphicFrameLocks noGrp="1"/>
          </p:cNvGraphicFramePr>
          <p:nvPr/>
        </p:nvGraphicFramePr>
        <p:xfrm>
          <a:off x="6309360" y="1737360"/>
          <a:ext cx="539496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46888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Účel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Potřebné rozlišení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Web, šířka obsahu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1 200–2 000 px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Instagram, příspěvek na výšku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1 080 × 1 350 px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Fotka 10 × 15 cm, 300 DPI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1 181 × 1 772 px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Plakát A3, 300 DPI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3 508 × 4 961 px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Plakát A3, 150 DPI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1 754 × 2 480 px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3" name="Rounded Rectangle 902"/>
          <p:cNvSpPr/>
          <p:nvPr/>
        </p:nvSpPr>
        <p:spPr>
          <a:xfrm>
            <a:off x="6400800" y="4754880"/>
            <a:ext cx="5303520" cy="77724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4" name="Picture 903" descr="FaMobileAlt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4988052"/>
            <a:ext cx="310896" cy="310896"/>
          </a:xfrm>
          <a:prstGeom prst="rect">
            <a:avLst/>
          </a:prstGeom>
        </p:spPr>
      </p:pic>
      <p:sp>
        <p:nvSpPr>
          <p:cNvPr id="905" name="TextBox 904"/>
          <p:cNvSpPr txBox="1"/>
          <p:nvPr/>
        </p:nvSpPr>
        <p:spPr>
          <a:xfrm>
            <a:off x="6876288" y="4754880"/>
            <a:ext cx="4754880" cy="777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Mobil 12 Mpx ≈ 4 000 × 3 000 px → A3 zhruba při 240 DPI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5 · Komprese v praxi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Ztrátová komprese zahazuje detaily, které oko pozná nejméně</a:t>
            </a:r>
          </a:p>
          <a:p>
            <a:r>
              <a:rPr sz="1800" b="0" i="0"/>
              <a:t>Každé uložení JPEGu ztrátu zopakuje – pracujte s originálem</a:t>
            </a:r>
          </a:p>
          <a:p>
            <a:r>
              <a:rPr sz="1800" b="1" i="0"/>
              <a:t>WebP a AVIF:</a:t>
            </a:r>
            <a:r>
              <a:rPr sz="1800" b="0" i="0"/>
              <a:t> menší soubory při stejné kvalitě</a:t>
            </a:r>
          </a:p>
          <a:p>
            <a:pPr>
              <a:buNone/>
            </a:pPr>
          </a:p>
          <a:p>
            <a:r>
              <a:rPr sz="1800" i="1"/>
              <a:t>Proč je text na snímku obrazovky uloženém jako JPEG rozmazaný?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aphicFrame>
        <p:nvGraphicFramePr>
          <p:cNvPr id="902" name="Table 901"/>
          <p:cNvGraphicFramePr>
            <a:graphicFrameLocks noGrp="1"/>
          </p:cNvGraphicFramePr>
          <p:nvPr/>
        </p:nvGraphicFramePr>
        <p:xfrm>
          <a:off x="6309360" y="1737360"/>
          <a:ext cx="5394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234440"/>
                <a:gridCol w="1143000"/>
                <a:gridCol w="21031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Formát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Komprese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Průhlednost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Kdy použít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JPEG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ztrátová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fotografie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PNG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bezeztrátová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ano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snímky obrazovky, grafika s textem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WebP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obojí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ano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web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AVIF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obojí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ano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web, nejmenší soubory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HEIC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ztrátová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ano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fotky z iPhonu – ne všude se otevře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3" name="Rounded Rectangle 902"/>
          <p:cNvSpPr/>
          <p:nvPr/>
        </p:nvSpPr>
        <p:spPr>
          <a:xfrm>
            <a:off x="6400800" y="5166360"/>
            <a:ext cx="5303520" cy="4114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4" name="TextBox 903"/>
          <p:cNvSpPr txBox="1"/>
          <p:nvPr/>
        </p:nvSpPr>
        <p:spPr>
          <a:xfrm>
            <a:off x="6492240" y="5166360"/>
            <a:ext cx="512064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Ostré hrany a text → PNG. Fotka → JPEG, WebP nebo AVIF.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6 · Metadata: co prozradí fotka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 i="0"/>
              <a:t>EXIF:</a:t>
            </a:r>
            <a:r>
              <a:rPr sz="1800" b="0" i="0"/>
              <a:t> skryté údaje uložené přímo v souboru</a:t>
            </a:r>
          </a:p>
          <a:p>
            <a:r>
              <a:rPr sz="1800" b="0" i="0"/>
              <a:t>Fotka z mobilu může obsahovat přesnou polohu</a:t>
            </a:r>
          </a:p>
          <a:p>
            <a:r>
              <a:rPr sz="1800" b="0" i="0"/>
              <a:t>Sítě metadata většinou mažou, e-mail, cloud a chat „jako soubor“ je často nechají</a:t>
            </a:r>
          </a:p>
          <a:p>
            <a:pPr>
              <a:buNone/>
            </a:pPr>
          </a:p>
          <a:p>
            <a:r>
              <a:rPr sz="1800" i="1"/>
              <a:t>Víte, jestli váš telefon ukládá polohu k fotkám?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5603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3" name="Picture 902" descr="FaInfo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74520"/>
            <a:ext cx="384048" cy="384048"/>
          </a:xfrm>
          <a:prstGeom prst="rect">
            <a:avLst/>
          </a:prstGeom>
        </p:spPr>
      </p:pic>
      <p:sp>
        <p:nvSpPr>
          <p:cNvPr id="904" name="TextBox 903"/>
          <p:cNvSpPr txBox="1"/>
          <p:nvPr/>
        </p:nvSpPr>
        <p:spPr>
          <a:xfrm>
            <a:off x="7022592" y="1874520"/>
            <a:ext cx="1874519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Co EXIF obsahuje</a:t>
            </a:r>
          </a:p>
        </p:txBody>
      </p:sp>
      <p:cxnSp>
        <p:nvCxnSpPr>
          <p:cNvPr id="905" name="Connector 904"/>
          <p:cNvCxnSpPr/>
          <p:nvPr/>
        </p:nvCxnSpPr>
        <p:spPr>
          <a:xfrm>
            <a:off x="6583680" y="2423160"/>
            <a:ext cx="219456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Rounded Rectangle 905"/>
          <p:cNvSpPr/>
          <p:nvPr/>
        </p:nvSpPr>
        <p:spPr>
          <a:xfrm>
            <a:off x="6583680" y="256032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6583680" y="256032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GPS souřadnice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6583680" y="326898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9" name="TextBox 908"/>
          <p:cNvSpPr txBox="1"/>
          <p:nvPr/>
        </p:nvSpPr>
        <p:spPr>
          <a:xfrm>
            <a:off x="6583680" y="326898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Datum a čas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583680" y="3977639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583680" y="3977639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Model telefonu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583680" y="468630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3" name="TextBox 912"/>
          <p:cNvSpPr txBox="1"/>
          <p:nvPr/>
        </p:nvSpPr>
        <p:spPr>
          <a:xfrm>
            <a:off x="6583680" y="468630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Nastavení expozice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9144000" y="1691640"/>
            <a:ext cx="2560320" cy="38404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5" name="Picture 914" descr="FaUserShield_6E7868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1874520"/>
            <a:ext cx="384048" cy="384048"/>
          </a:xfrm>
          <a:prstGeom prst="rect">
            <a:avLst/>
          </a:prstGeom>
        </p:spPr>
      </p:pic>
      <p:sp>
        <p:nvSpPr>
          <p:cNvPr id="916" name="TextBox 915"/>
          <p:cNvSpPr txBox="1"/>
          <p:nvPr/>
        </p:nvSpPr>
        <p:spPr>
          <a:xfrm>
            <a:off x="9765792" y="1874520"/>
            <a:ext cx="1874519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Jak se chránit</a:t>
            </a:r>
          </a:p>
        </p:txBody>
      </p:sp>
      <p:cxnSp>
        <p:nvCxnSpPr>
          <p:cNvPr id="917" name="Connector 916"/>
          <p:cNvCxnSpPr/>
          <p:nvPr/>
        </p:nvCxnSpPr>
        <p:spPr>
          <a:xfrm>
            <a:off x="9326880" y="2423160"/>
            <a:ext cx="219456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Rounded Rectangle 917"/>
          <p:cNvSpPr/>
          <p:nvPr/>
        </p:nvSpPr>
        <p:spPr>
          <a:xfrm>
            <a:off x="9326880" y="256032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9326880" y="256032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Vypnout polohu ve fotoaparátu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9326880" y="326898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1" name="TextBox 920"/>
          <p:cNvSpPr txBox="1"/>
          <p:nvPr/>
        </p:nvSpPr>
        <p:spPr>
          <a:xfrm>
            <a:off x="9326880" y="326898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Odstranit metadata před sdílením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9326880" y="3977639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3" name="TextBox 922"/>
          <p:cNvSpPr txBox="1"/>
          <p:nvPr/>
        </p:nvSpPr>
        <p:spPr>
          <a:xfrm>
            <a:off x="9326880" y="3977639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Kontrola ve Vlastnostech</a:t>
            </a:r>
          </a:p>
        </p:txBody>
      </p:sp>
      <p:sp>
        <p:nvSpPr>
          <p:cNvPr id="924" name="Rounded Rectangle 923"/>
          <p:cNvSpPr/>
          <p:nvPr/>
        </p:nvSpPr>
        <p:spPr>
          <a:xfrm>
            <a:off x="9326880" y="468630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5" name="TextBox 924"/>
          <p:cNvSpPr txBox="1"/>
          <p:nvPr/>
        </p:nvSpPr>
        <p:spPr>
          <a:xfrm>
            <a:off x="9326880" y="468630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Pozor na sdílení „jako soubor“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7 · Manipulace a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Retuš existuje od počátku fotografie – nová je rychlost a dostupnost</a:t>
            </a:r>
          </a:p>
          <a:p>
            <a:r>
              <a:rPr sz="1800" b="0" i="0"/>
              <a:t>AI vytvoří realistický snímek z ničeho</a:t>
            </a:r>
          </a:p>
          <a:p>
            <a:r>
              <a:rPr sz="1800" b="0" i="0"/>
              <a:t>Vždy ověřujte původ: kdo snímek pořídil a kde se objevil poprvé</a:t>
            </a:r>
          </a:p>
          <a:p>
            <a:pPr>
              <a:buNone/>
            </a:pPr>
          </a:p>
          <a:p>
            <a:r>
              <a:rPr sz="1800" i="1"/>
              <a:t>Viděli jste fotku, o které se později ukázalo, že je falešná?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709928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1709928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NA CO SE DÍVAT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94560"/>
            <a:ext cx="5303520" cy="724661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5" name="Picture 904" descr="FaExclamation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401443"/>
            <a:ext cx="310896" cy="310896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6949440" y="2194560"/>
            <a:ext cx="4663440" cy="7246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Stíny a odrazy neodpovídají světlu ve scéně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6400800" y="3028950"/>
            <a:ext cx="5303520" cy="72466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8" name="Picture 907" descr="FaExclamation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235833"/>
            <a:ext cx="310896" cy="310896"/>
          </a:xfrm>
          <a:prstGeom prst="rect">
            <a:avLst/>
          </a:prstGeom>
        </p:spPr>
      </p:pic>
      <p:sp>
        <p:nvSpPr>
          <p:cNvPr id="909" name="TextBox 908"/>
          <p:cNvSpPr txBox="1"/>
          <p:nvPr/>
        </p:nvSpPr>
        <p:spPr>
          <a:xfrm>
            <a:off x="6949440" y="3028950"/>
            <a:ext cx="4663440" cy="7246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Deformované detaily: ruce, text, okraje předmětů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400800" y="3863339"/>
            <a:ext cx="5303520" cy="724661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1" name="Picture 910" descr="FaExclamation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4070223"/>
            <a:ext cx="310896" cy="310896"/>
          </a:xfrm>
          <a:prstGeom prst="rect">
            <a:avLst/>
          </a:prstGeom>
        </p:spPr>
      </p:pic>
      <p:sp>
        <p:nvSpPr>
          <p:cNvPr id="912" name="TextBox 911"/>
          <p:cNvSpPr txBox="1"/>
          <p:nvPr/>
        </p:nvSpPr>
        <p:spPr>
          <a:xfrm>
            <a:off x="6949440" y="3863339"/>
            <a:ext cx="4663440" cy="7246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Reverzní vyhledávání obrázku (Google Lens, TinEye) najde starší verzi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6400800" y="4697730"/>
            <a:ext cx="5303520" cy="72466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4" name="Picture 913" descr="FaExclamation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4904613"/>
            <a:ext cx="310896" cy="310896"/>
          </a:xfrm>
          <a:prstGeom prst="rect">
            <a:avLst/>
          </a:prstGeom>
        </p:spPr>
      </p:pic>
      <p:sp>
        <p:nvSpPr>
          <p:cNvPr id="915" name="TextBox 914"/>
          <p:cNvSpPr txBox="1"/>
          <p:nvPr/>
        </p:nvSpPr>
        <p:spPr>
          <a:xfrm>
            <a:off x="6949440" y="4697730"/>
            <a:ext cx="4663440" cy="7246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Chybějící metadata nebo značka původu obsahu (C2PA)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8 · Fotka pro sociální sítě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Mobil se drží na výšku – foťte a ořezávejte pro 4:5 nebo 9:16</a:t>
            </a:r>
          </a:p>
          <a:p>
            <a:r>
              <a:rPr sz="1800" b="0" i="0"/>
              <a:t>Detail z dílny často řekne víc než celkový záběr</a:t>
            </a:r>
          </a:p>
          <a:p>
            <a:r>
              <a:rPr sz="1800" b="0" i="0"/>
              <a:t>Na fotku s lidmi potřebujete jejich souhlas</a:t>
            </a:r>
          </a:p>
          <a:p>
            <a:pPr>
              <a:buNone/>
            </a:pPr>
          </a:p>
          <a:p>
            <a:r>
              <a:rPr sz="1800" i="1"/>
              <a:t>Co z vašeho odborného bloku by stálo za fotku na profil lycea?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graphicFrame>
        <p:nvGraphicFramePr>
          <p:cNvPr id="902" name="Table 901"/>
          <p:cNvGraphicFramePr>
            <a:graphicFrameLocks noGrp="1"/>
          </p:cNvGraphicFramePr>
          <p:nvPr/>
        </p:nvGraphicFramePr>
        <p:xfrm>
          <a:off x="6309360" y="1737360"/>
          <a:ext cx="5394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914400"/>
                <a:gridCol w="210312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Formát na Instagramu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Poměr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Rozlišení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Příspěvek na výšku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4:5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1 080 × 1 350 px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Čtvercový příspěvek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1:1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1 080 × 1 080 px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Story, reel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9:16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1 080 × 1 920 px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3" name="Rounded Rectangle 902"/>
          <p:cNvSpPr/>
          <p:nvPr/>
        </p:nvSpPr>
        <p:spPr>
          <a:xfrm>
            <a:off x="6400800" y="3886200"/>
            <a:ext cx="5303520" cy="73152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4" name="Picture 903" descr="FaLightbulb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4096512"/>
            <a:ext cx="310896" cy="310896"/>
          </a:xfrm>
          <a:prstGeom prst="rect">
            <a:avLst/>
          </a:prstGeom>
        </p:spPr>
      </p:pic>
      <p:sp>
        <p:nvSpPr>
          <p:cNvPr id="905" name="TextBox 904"/>
          <p:cNvSpPr txBox="1"/>
          <p:nvPr/>
        </p:nvSpPr>
        <p:spPr>
          <a:xfrm>
            <a:off x="6876288" y="3886200"/>
            <a:ext cx="475488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Světlo: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u okna nebo pod lampou, ne blesk zepředu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6400800" y="4754880"/>
            <a:ext cx="5303520" cy="77724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7" name="Picture 906" descr="FaCamera_6E7868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988052"/>
            <a:ext cx="310896" cy="310896"/>
          </a:xfrm>
          <a:prstGeom prst="rect">
            <a:avLst/>
          </a:prstGeom>
        </p:spPr>
      </p:pic>
      <p:sp>
        <p:nvSpPr>
          <p:cNvPr id="908" name="TextBox 907"/>
          <p:cNvSpPr txBox="1"/>
          <p:nvPr/>
        </p:nvSpPr>
        <p:spPr>
          <a:xfrm>
            <a:off x="6876288" y="4754880"/>
            <a:ext cx="4754880" cy="777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Pozadí: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ukliďte stůl, ať vynikne projekt, ne nepořádek kolem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Kam to vede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Úprava obrazu není jen grafika – je to práce s daty</a:t>
            </a:r>
          </a:p>
          <a:p>
            <a:r>
              <a:rPr sz="1800" b="0" i="0"/>
              <a:t>Kamera ve výrobě kontroluje díly stejnými principy: jas, kontrast, histogram</a:t>
            </a:r>
          </a:p>
          <a:p>
            <a:r>
              <a:rPr sz="1800" b="1" i="0"/>
              <a:t>Do portfolia:</a:t>
            </a:r>
            <a:r>
              <a:rPr sz="1800" b="0" i="0"/>
              <a:t> fotky z odborného bloku upravte nedestruktivně a ve správném rozlišení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3" name="Picture 902" descr="FaBolt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856232"/>
            <a:ext cx="457200" cy="457200"/>
          </a:xfrm>
          <a:prstGeom prst="rect">
            <a:avLst/>
          </a:prstGeom>
        </p:spPr>
      </p:pic>
      <p:sp>
        <p:nvSpPr>
          <p:cNvPr id="904" name="TextBox 903"/>
          <p:cNvSpPr txBox="1"/>
          <p:nvPr/>
        </p:nvSpPr>
        <p:spPr>
          <a:xfrm>
            <a:off x="64008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ELEKTROTECHNIKA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6510528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6510528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Kamerové systémy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6510528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8" name="TextBox 907"/>
          <p:cNvSpPr txBox="1"/>
          <p:nvPr/>
        </p:nvSpPr>
        <p:spPr>
          <a:xfrm>
            <a:off x="6510528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Zpracování signálu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6510528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0" name="TextBox 909"/>
          <p:cNvSpPr txBox="1"/>
          <p:nvPr/>
        </p:nvSpPr>
        <p:spPr>
          <a:xfrm>
            <a:off x="6510528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Senzory obrazu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82296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2" name="Picture 911" descr="FaLaptopCode_6E786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1856232"/>
            <a:ext cx="457200" cy="457200"/>
          </a:xfrm>
          <a:prstGeom prst="rect">
            <a:avLst/>
          </a:prstGeom>
        </p:spPr>
      </p:pic>
      <p:sp>
        <p:nvSpPr>
          <p:cNvPr id="913" name="TextBox 912"/>
          <p:cNvSpPr txBox="1"/>
          <p:nvPr/>
        </p:nvSpPr>
        <p:spPr>
          <a:xfrm>
            <a:off x="82296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IT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8339327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8339327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Grafik, webdesigner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8339327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7" name="TextBox 916"/>
          <p:cNvSpPr txBox="1"/>
          <p:nvPr/>
        </p:nvSpPr>
        <p:spPr>
          <a:xfrm>
            <a:off x="8339327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Vývoj her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8339327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8339327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Rozpoznávání obrazu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100584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21" name="Picture 920" descr="FaCog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1856232"/>
            <a:ext cx="457200" cy="457200"/>
          </a:xfrm>
          <a:prstGeom prst="rect">
            <a:avLst/>
          </a:prstGeom>
        </p:spPr>
      </p:pic>
      <p:sp>
        <p:nvSpPr>
          <p:cNvPr id="922" name="TextBox 921"/>
          <p:cNvSpPr txBox="1"/>
          <p:nvPr/>
        </p:nvSpPr>
        <p:spPr>
          <a:xfrm>
            <a:off x="100584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STROJÍRENSTVÍ</a:t>
            </a:r>
          </a:p>
        </p:txBody>
      </p:sp>
      <p:sp>
        <p:nvSpPr>
          <p:cNvPr id="923" name="Rounded Rectangle 922"/>
          <p:cNvSpPr/>
          <p:nvPr/>
        </p:nvSpPr>
        <p:spPr>
          <a:xfrm>
            <a:off x="10168128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4" name="TextBox 923"/>
          <p:cNvSpPr txBox="1"/>
          <p:nvPr/>
        </p:nvSpPr>
        <p:spPr>
          <a:xfrm>
            <a:off x="10168128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Strojové vidění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10168128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6" name="TextBox 925"/>
          <p:cNvSpPr txBox="1"/>
          <p:nvPr/>
        </p:nvSpPr>
        <p:spPr>
          <a:xfrm>
            <a:off x="10168128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Vizuální kontrola kvality</a:t>
            </a:r>
          </a:p>
        </p:txBody>
      </p:sp>
      <p:sp>
        <p:nvSpPr>
          <p:cNvPr id="927" name="Rounded Rectangle 926"/>
          <p:cNvSpPr/>
          <p:nvPr/>
        </p:nvSpPr>
        <p:spPr>
          <a:xfrm>
            <a:off x="10168128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8" name="TextBox 927"/>
          <p:cNvSpPr txBox="1"/>
          <p:nvPr/>
        </p:nvSpPr>
        <p:spPr>
          <a:xfrm>
            <a:off x="10168128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Fotodokumentace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K diskuzi: než fotku použijete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Vezměte fotky ze svého posledního projektu</a:t>
            </a:r>
          </a:p>
          <a:p>
            <a:r>
              <a:rPr sz="1800" b="0" i="0"/>
              <a:t>Projděte je otázkami vpravo</a:t>
            </a:r>
          </a:p>
          <a:p>
            <a:r>
              <a:rPr sz="1800" b="0" i="0"/>
              <a:t>Diskutujte ve dvojicích, pak krátce sdílejte se třídou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Oval 902"/>
          <p:cNvSpPr/>
          <p:nvPr/>
        </p:nvSpPr>
        <p:spPr>
          <a:xfrm>
            <a:off x="6510528" y="1837944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4" name="TextBox 903"/>
          <p:cNvSpPr txBox="1"/>
          <p:nvPr/>
        </p:nvSpPr>
        <p:spPr>
          <a:xfrm>
            <a:off x="6464808" y="1837944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6949440" y="1691640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Je fotka ve správném rozlišení pro místo, kde ji použijete?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6400800" y="2441448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Oval 906"/>
          <p:cNvSpPr/>
          <p:nvPr/>
        </p:nvSpPr>
        <p:spPr>
          <a:xfrm>
            <a:off x="6510528" y="2587752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8" name="TextBox 907"/>
          <p:cNvSpPr txBox="1"/>
          <p:nvPr/>
        </p:nvSpPr>
        <p:spPr>
          <a:xfrm>
            <a:off x="6464808" y="2587752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6949440" y="2441448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Zvolili jste formát správně – fotka JPEG/WebP, snímek obrazovky PNG?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400800" y="3191256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Oval 910"/>
          <p:cNvSpPr/>
          <p:nvPr/>
        </p:nvSpPr>
        <p:spPr>
          <a:xfrm>
            <a:off x="6510528" y="3337560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2" name="TextBox 911"/>
          <p:cNvSpPr txBox="1"/>
          <p:nvPr/>
        </p:nvSpPr>
        <p:spPr>
          <a:xfrm>
            <a:off x="6464808" y="3337560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6949440" y="3191256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Zůstal vám originál a pracovní soubor s vrstvami?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6400800" y="3941064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Oval 914"/>
          <p:cNvSpPr/>
          <p:nvPr/>
        </p:nvSpPr>
        <p:spPr>
          <a:xfrm>
            <a:off x="6510528" y="4087368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6" name="TextBox 915"/>
          <p:cNvSpPr txBox="1"/>
          <p:nvPr/>
        </p:nvSpPr>
        <p:spPr>
          <a:xfrm>
            <a:off x="6464808" y="4087368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949440" y="3941064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Neprozradí fotka polohu nebo cizí osobní údaje?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6400800" y="4690872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Oval 918"/>
          <p:cNvSpPr/>
          <p:nvPr/>
        </p:nvSpPr>
        <p:spPr>
          <a:xfrm>
            <a:off x="6510528" y="4837175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0" name="TextBox 919"/>
          <p:cNvSpPr txBox="1"/>
          <p:nvPr/>
        </p:nvSpPr>
        <p:spPr>
          <a:xfrm>
            <a:off x="6464808" y="4837175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6949440" y="4690872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Pokud je obrázek upravený nebo z AI, uvádíte to?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Orange Experience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range Experien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3FBD020F-64D3-42BF-A2BA-FB7237EC65A2}" vid="{0A40F0BF-A9BE-440A-B017-9F6336E851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8643287-08B4-41D2-B4C3-C4037539C0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601672-7921-437C-B0AC-0FD77C6FC3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811D1C-EFBB-47CE-A62B-7C4133940947}">
  <ds:schemaRefs>
    <ds:schemaRef ds:uri="http://schemas.microsoft.com/office/2006/metadata/properties"/>
    <ds:schemaRef ds:uri="http://schemas.microsoft.com/office/infopath/2007/PartnerControls"/>
    <ds:schemaRef ds:uri="3eb61919-e7f8-4a11-8db4-9145fbd21da9"/>
    <ds:schemaRef ds:uri="09a37b55-a4d7-45bd-a73f-33c2b1d4189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Orange Experience</vt:lpstr>
      <vt:lpstr>Práce s daty: etika a důvěryhodnost</vt:lpstr>
      <vt:lpstr>Co nás čeká</vt:lpstr>
      <vt:lpstr>1 · Co dělá data „otevřenými“?</vt:lpstr>
      <vt:lpstr>1 · Kde hledat důvěryhodná data</vt:lpstr>
      <vt:lpstr>2 · Než data otevřete v Excelu</vt:lpstr>
      <vt:lpstr>2 · Pravidla čisté tabulky</vt:lpstr>
      <vt:lpstr>3 · Přímé vs. nepřímé identifikátory</vt:lpstr>
      <vt:lpstr>3 · Příklad: váš vlastní třídní katalog</vt:lpstr>
      <vt:lpstr>4 · Co je „osobní údaj“?</vt:lpstr>
      <vt:lpstr>4 · Kdy se GDPR týká i vašeho projektu?</vt:lpstr>
      <vt:lpstr>5 · GDPR vs. NDA – často se plete</vt:lpstr>
      <vt:lpstr>5 · Praktický scénář: praxe v IT firmě</vt:lpstr>
      <vt:lpstr>6 · Průměr vs. medián</vt:lpstr>
      <vt:lpstr>6 · Procenta, která straší</vt:lpstr>
      <vt:lpstr>6 · Korelace není příčina</vt:lpstr>
      <vt:lpstr>7 · Stejná data, dva úplně jiné dojmy</vt:lpstr>
      <vt:lpstr>7 · Další triky, kterých si všímat</vt:lpstr>
      <vt:lpstr>7 · Jaký graf zvolit?</vt:lpstr>
      <vt:lpstr>K diskuzi: než odevzdáte projekt s daty…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88</cp:revision>
  <dcterms:created xsi:type="dcterms:W3CDTF">2026-09-02T06:40:14Z</dcterms:created>
  <dcterms:modified xsi:type="dcterms:W3CDTF">2026-09-24T09:50:58Z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</Properties>
</file>