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3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prohlížeči F12 → přepnout na zobrazení mobilu (Ctrl+Shift+M) a projít portfolio. Motiv GitHub Pages bývá responzivní, ale vlastní tabulky a obrázky často přetékají.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Vzor čtení ve tvaru F popsala Nielsen Norman Group na základě sledování pohybu očí.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Ukažte na profilu @lyceum.hradebni, které příspěvky měly největší dosah, a nechte žáky odhadnout proč.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Pilíře jsou návrh – upravte podle toho, co na profilu funguje. Organizaci redakce (role, cesta příspěvku) řešíme ve Spolupráci a sdílení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Tvorba obsahu: web a projekt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HTML, CSS a portfolio na GitHub Pages už máte</a:t>
            </a:r>
          </a:p>
          <a:p>
            <a:r>
              <a:rPr sz="1800" b="0" i="0"/>
              <a:t>Dnes: jak udělat obsah, kterému čtenář rozumí na první pohled</a:t>
            </a:r>
          </a:p>
          <a:p>
            <a:r>
              <a:rPr sz="1800" b="0" i="0"/>
              <a:t>Výstup využijete v portfoliu i v jiných předmětech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Pro koho píšu</a:t>
            </a:r>
            <a:r>
              <a:rPr sz="1050">
                <a:solidFill>
                  <a:srgbClr val="7A7A7A"/>
                </a:solidFill>
                <a:latin typeface="Arial"/>
              </a:rPr>
              <a:t>  kdo, co, proč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19954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07772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0777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0411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Responzivní web</a:t>
            </a:r>
            <a:r>
              <a:rPr sz="1050">
                <a:solidFill>
                  <a:srgbClr val="7A7A7A"/>
                </a:solidFill>
                <a:latin typeface="Arial"/>
              </a:rPr>
              <a:t>  mobil na prvním místě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4272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5095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5095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4729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Přístupnost</a:t>
            </a:r>
            <a:r>
              <a:rPr sz="1050">
                <a:solidFill>
                  <a:srgbClr val="7A7A7A"/>
                </a:solidFill>
                <a:latin typeface="Arial"/>
              </a:rPr>
              <a:t>  web pro každého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28590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294132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29413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29047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Jak lidé čtou web</a:t>
            </a:r>
            <a:r>
              <a:rPr sz="1050">
                <a:solidFill>
                  <a:srgbClr val="7A7A7A"/>
                </a:solidFill>
                <a:latin typeface="Arial"/>
              </a:rPr>
              <a:t>  základy UX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2908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3731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3731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3365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Co z dat ukázat</a:t>
            </a:r>
            <a:r>
              <a:rPr sz="1050">
                <a:solidFill>
                  <a:srgbClr val="7A7A7A"/>
                </a:solidFill>
                <a:latin typeface="Arial"/>
              </a:rPr>
              <a:t>  sdělení infografiky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37226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380492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3804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3768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Dokumentace projektu</a:t>
            </a:r>
            <a:r>
              <a:rPr sz="1050">
                <a:solidFill>
                  <a:srgbClr val="7A7A7A"/>
                </a:solidFill>
                <a:latin typeface="Arial"/>
              </a:rPr>
              <a:t>  portfolio a mezioborové výstupy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6903720" y="41544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6400800" y="42367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6355080" y="42367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903720" y="42001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Sociální sítě</a:t>
            </a:r>
            <a:r>
              <a:rPr sz="1050">
                <a:solidFill>
                  <a:srgbClr val="7A7A7A"/>
                </a:solidFill>
                <a:latin typeface="Arial"/>
              </a:rPr>
              <a:t>  formáty a co funguje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6903720" y="45862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0" name="Oval 929"/>
          <p:cNvSpPr/>
          <p:nvPr/>
        </p:nvSpPr>
        <p:spPr>
          <a:xfrm>
            <a:off x="6400800" y="466852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1" name="TextBox 930"/>
          <p:cNvSpPr txBox="1"/>
          <p:nvPr/>
        </p:nvSpPr>
        <p:spPr>
          <a:xfrm>
            <a:off x="6355080" y="46685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6903720" y="46319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Obsahový plán</a:t>
            </a:r>
            <a:r>
              <a:rPr sz="1050">
                <a:solidFill>
                  <a:srgbClr val="7A7A7A"/>
                </a:solidFill>
                <a:latin typeface="Arial"/>
              </a:rPr>
              <a:t>  pilíře a vyhodnocení</a:t>
            </a:r>
          </a:p>
        </p:txBody>
      </p:sp>
      <p:cxnSp>
        <p:nvCxnSpPr>
          <p:cNvPr id="933" name="Connector 932"/>
          <p:cNvCxnSpPr/>
          <p:nvPr/>
        </p:nvCxnSpPr>
        <p:spPr>
          <a:xfrm>
            <a:off x="6903720" y="50180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Oval 933"/>
          <p:cNvSpPr/>
          <p:nvPr/>
        </p:nvSpPr>
        <p:spPr>
          <a:xfrm>
            <a:off x="6400800" y="51003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5" name="TextBox 934"/>
          <p:cNvSpPr txBox="1"/>
          <p:nvPr/>
        </p:nvSpPr>
        <p:spPr>
          <a:xfrm>
            <a:off x="6355080" y="51003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6903720" y="50637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AI při tvorbě</a:t>
            </a:r>
            <a:r>
              <a:rPr sz="1050">
                <a:solidFill>
                  <a:srgbClr val="7A7A7A"/>
                </a:solidFill>
                <a:latin typeface="Arial"/>
              </a:rPr>
              <a:t>  kdy a jak ji označit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Pro koho píšu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Stejný projekt potřebuje jiný výstup pro učitele, spolužáky i budoucího zaměstnavatele</a:t>
            </a:r>
          </a:p>
          <a:p>
            <a:r>
              <a:rPr sz="1800" b="0" i="0"/>
              <a:t>Nejdřív sdělení, pak forma</a:t>
            </a:r>
          </a:p>
          <a:p>
            <a:r>
              <a:rPr sz="1800" b="0" i="0"/>
              <a:t>Jedna věta: co si má čtenář odnést?</a:t>
            </a:r>
          </a:p>
          <a:p>
            <a:pPr>
              <a:buNone/>
            </a:pPr>
          </a:p>
          <a:p>
            <a:r>
              <a:rPr sz="1800" i="1"/>
              <a:t>Kdo bude číst vaše portfolio za dva roky?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148840"/>
                <a:gridCol w="164592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Publikum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 chce vědět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Forma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Učitel odborného bloku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jak jste postupovali a co jste se naučili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portfolio, technická zpráva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Spolužáci z jiného směru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o co jde a proč je to zajímavé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krátká prezentace, plakát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VŠ, zaměstnavatel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co umíte a jak přemýšlíte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přehled projektů, ukázky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Veřejnost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výsledek srozumitelně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infografika, video, web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Responzivní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Víc než polovina návštěv webu přichází z mobilu</a:t>
            </a:r>
          </a:p>
          <a:p>
            <a:r>
              <a:rPr sz="1800" b="0" i="0"/>
              <a:t>Responzivní web se přizpůsobí šířce displeje</a:t>
            </a:r>
          </a:p>
          <a:p>
            <a:r>
              <a:rPr sz="1800" b="1" i="0"/>
              <a:t>Flexbox</a:t>
            </a:r>
            <a:r>
              <a:rPr sz="1800" b="0" i="0"/>
              <a:t> v CSS skládá prvky vedle sebe, nebo pod sebe – podle místa</a:t>
            </a:r>
          </a:p>
          <a:p>
            <a:pPr>
              <a:buNone/>
            </a:pPr>
          </a:p>
          <a:p>
            <a:r>
              <a:rPr sz="1800" i="1"/>
              <a:t>Jak vypadá vaše portfolio na mobilu?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517904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517904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CSS: FLEXBOX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48840"/>
            <a:ext cx="5303520" cy="2249424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TextBox 904"/>
          <p:cNvSpPr txBox="1"/>
          <p:nvPr/>
        </p:nvSpPr>
        <p:spPr>
          <a:xfrm>
            <a:off x="6492240" y="2194560"/>
            <a:ext cx="5120640" cy="21579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.karty {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display: flex;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flex-wrap: wrap;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gap: 16px;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}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.karta {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flex: 1 1 250px;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}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4672584"/>
            <a:ext cx="5303520" cy="82296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7" name="Picture 906" descr="FaMobileAlt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928616"/>
            <a:ext cx="310896" cy="310896"/>
          </a:xfrm>
          <a:prstGeom prst="rect">
            <a:avLst/>
          </a:prstGeom>
        </p:spPr>
      </p:pic>
      <p:sp>
        <p:nvSpPr>
          <p:cNvPr id="908" name="TextBox 907"/>
          <p:cNvSpPr txBox="1"/>
          <p:nvPr/>
        </p:nvSpPr>
        <p:spPr>
          <a:xfrm>
            <a:off x="6876288" y="4672584"/>
            <a:ext cx="475488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Karta široká aspoň 250 px: na monitoru vedle sebe, na mobilu pod sebou.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Přístupnost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Web používají i lidé se zrakovým, sluchovým nebo pohybovým omezením</a:t>
            </a:r>
          </a:p>
          <a:p>
            <a:r>
              <a:rPr sz="1800" b="1" i="0"/>
              <a:t>WCAG:</a:t>
            </a:r>
            <a:r>
              <a:rPr sz="1800" b="0" i="0"/>
              <a:t> mezinárodní pravidla přístupnosti</a:t>
            </a:r>
          </a:p>
          <a:p>
            <a:r>
              <a:rPr sz="1800" b="0" i="0"/>
              <a:t>Většina pravidel zlepší web všem – jako styly a typografie</a:t>
            </a:r>
          </a:p>
          <a:p>
            <a:pPr>
              <a:buNone/>
            </a:pPr>
          </a:p>
          <a:p>
            <a:r>
              <a:rPr sz="1800" i="1"/>
              <a:t>Zkuste projít svůj web jen klávesou Tab.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997964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997964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ZÁKLADNÍ KONTROLA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18004"/>
            <a:ext cx="310896" cy="310896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49440" y="2194560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Alternativní text u obrázků (atribut alt)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400800" y="2862072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8" name="Picture 907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85516"/>
            <a:ext cx="310896" cy="310896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6949440" y="2862072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Nadpisy v hierarchii h1, h2, h3 – jako styly ve Wordu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529584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1" name="Picture 910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653028"/>
            <a:ext cx="310896" cy="310896"/>
          </a:xfrm>
          <a:prstGeom prst="rect">
            <a:avLst/>
          </a:prstGeom>
        </p:spPr>
      </p:pic>
      <p:sp>
        <p:nvSpPr>
          <p:cNvPr id="912" name="TextBox 911"/>
          <p:cNvSpPr txBox="1"/>
          <p:nvPr/>
        </p:nvSpPr>
        <p:spPr>
          <a:xfrm>
            <a:off x="6949440" y="3529584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Kontrast textu aspoň 4,5 : 1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6400800" y="4197096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4" name="Picture 913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320540"/>
            <a:ext cx="310896" cy="310896"/>
          </a:xfrm>
          <a:prstGeom prst="rect">
            <a:avLst/>
          </a:prstGeom>
        </p:spPr>
      </p:pic>
      <p:sp>
        <p:nvSpPr>
          <p:cNvPr id="915" name="TextBox 914"/>
          <p:cNvSpPr txBox="1"/>
          <p:nvPr/>
        </p:nvSpPr>
        <p:spPr>
          <a:xfrm>
            <a:off x="6949440" y="4197096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Odkazy se smysluplným textem, ne „klikněte zde“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6400800" y="4864608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988052"/>
            <a:ext cx="310896" cy="310896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6949440" y="4864608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Ovladatelnost klávesnicí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Jak lidé čtou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Lidé web nečtou, ale skenují – nadpisy a začátky odstavců</a:t>
            </a:r>
          </a:p>
          <a:p>
            <a:r>
              <a:rPr sz="1800" b="1" i="0"/>
              <a:t>Vzor F:</a:t>
            </a:r>
            <a:r>
              <a:rPr sz="1800" b="0" i="0"/>
              <a:t> pozornost klesá směrem dolů a doprava</a:t>
            </a:r>
          </a:p>
          <a:p>
            <a:r>
              <a:rPr sz="1800" b="0" i="0"/>
              <a:t>Důležité patří nahoru a doleva</a:t>
            </a:r>
          </a:p>
          <a:p>
            <a:pPr>
              <a:buNone/>
            </a:pPr>
          </a:p>
          <a:p>
            <a:r>
              <a:rPr sz="1800" i="1"/>
              <a:t>Co si návštěvník přečte za prvních pět sekund?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ŠPATNĚ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SPRÁVNĚ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Dlouhý úvod o sobě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Hned nahoře, co web nabízí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Odstavce bez nadpisů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Krátké bloky s výstižnými nadpisy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Odkaz „více zde“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Odkaz „Technická zpráva k bloku 3“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Deset položek v menu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Pár jasných sekcí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Co z dat ukázat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Infografika má jedno hlavní sdělení, ne všechna data</a:t>
            </a:r>
          </a:p>
          <a:p>
            <a:r>
              <a:rPr sz="1800" b="0" i="0"/>
              <a:t>Techniku (mřížka, ikony, paleta) řešíme ve vektorové grafice</a:t>
            </a:r>
          </a:p>
          <a:p>
            <a:r>
              <a:rPr sz="1800" b="0" i="0"/>
              <a:t>Pravidla poctivých grafů z hodiny o datech platí i tady</a:t>
            </a:r>
          </a:p>
          <a:p>
            <a:pPr>
              <a:buNone/>
            </a:pPr>
          </a:p>
          <a:p>
            <a:r>
              <a:rPr sz="1800" i="1"/>
              <a:t>Jaké je hlavní sdělení vaší infografiky jednou větou?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28600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28600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OD DAT K INFOGRAFICE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Oval 904"/>
          <p:cNvSpPr/>
          <p:nvPr/>
        </p:nvSpPr>
        <p:spPr>
          <a:xfrm>
            <a:off x="6510528" y="222656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464808" y="222656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949440" y="2194560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Otázka: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co chce čtenář vědět?</a:t>
            </a:r>
          </a:p>
        </p:txBody>
      </p:sp>
      <p:pic>
        <p:nvPicPr>
          <p:cNvPr id="908" name="Picture 907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2615184"/>
            <a:ext cx="219456" cy="219456"/>
          </a:xfrm>
          <a:prstGeom prst="rect">
            <a:avLst/>
          </a:prstGeom>
        </p:spPr>
      </p:pic>
      <p:sp>
        <p:nvSpPr>
          <p:cNvPr id="909" name="Rounded Rectangle 908"/>
          <p:cNvSpPr/>
          <p:nvPr/>
        </p:nvSpPr>
        <p:spPr>
          <a:xfrm>
            <a:off x="6400800" y="2862072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Oval 909"/>
          <p:cNvSpPr/>
          <p:nvPr/>
        </p:nvSpPr>
        <p:spPr>
          <a:xfrm>
            <a:off x="6510528" y="2894076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464808" y="2894076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49440" y="2862072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Data: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odkud jsou a jsou poctivá?</a:t>
            </a:r>
          </a:p>
        </p:txBody>
      </p:sp>
      <p:pic>
        <p:nvPicPr>
          <p:cNvPr id="913" name="Picture 912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3282696"/>
            <a:ext cx="219456" cy="219456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6400800" y="3529584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3561588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356158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529584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Sdělení: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jedna věta, jedno hlavní číslo</a:t>
            </a:r>
          </a:p>
        </p:txBody>
      </p:sp>
      <p:pic>
        <p:nvPicPr>
          <p:cNvPr id="918" name="Picture 917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3950208"/>
            <a:ext cx="219456" cy="219456"/>
          </a:xfrm>
          <a:prstGeom prst="rect">
            <a:avLst/>
          </a:prstGeom>
        </p:spPr>
      </p:pic>
      <p:sp>
        <p:nvSpPr>
          <p:cNvPr id="919" name="Rounded Rectangle 918"/>
          <p:cNvSpPr/>
          <p:nvPr/>
        </p:nvSpPr>
        <p:spPr>
          <a:xfrm>
            <a:off x="6400800" y="4197096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Oval 919"/>
          <p:cNvSpPr/>
          <p:nvPr/>
        </p:nvSpPr>
        <p:spPr>
          <a:xfrm>
            <a:off x="6510528" y="4229099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6464808" y="4229099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949440" y="4197096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Forma: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graf, ikony, srovnání</a:t>
            </a:r>
          </a:p>
        </p:txBody>
      </p:sp>
      <p:pic>
        <p:nvPicPr>
          <p:cNvPr id="923" name="Picture 922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4617720"/>
            <a:ext cx="219456" cy="219456"/>
          </a:xfrm>
          <a:prstGeom prst="rect">
            <a:avLst/>
          </a:prstGeom>
        </p:spPr>
      </p:pic>
      <p:sp>
        <p:nvSpPr>
          <p:cNvPr id="924" name="Rounded Rectangle 923"/>
          <p:cNvSpPr/>
          <p:nvPr/>
        </p:nvSpPr>
        <p:spPr>
          <a:xfrm>
            <a:off x="6400800" y="4864608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Oval 924"/>
          <p:cNvSpPr/>
          <p:nvPr/>
        </p:nvSpPr>
        <p:spPr>
          <a:xfrm>
            <a:off x="6510528" y="4896612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6464808" y="489661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949440" y="4864608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Kontrola: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pochopí to někdo, kdo data nezná?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Dokumentace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Portfolio na GitHub Pages máte – teď ho naplníme kvalitně</a:t>
            </a:r>
          </a:p>
          <a:p>
            <a:r>
              <a:rPr sz="1800" b="1" i="0"/>
              <a:t>Praktická část:</a:t>
            </a:r>
            <a:r>
              <a:rPr sz="1800" b="0" i="0"/>
              <a:t> postup, fotky, výsledek, problémy a jejich řešení</a:t>
            </a:r>
          </a:p>
          <a:p>
            <a:r>
              <a:rPr sz="1800" b="1" i="0"/>
              <a:t>Teoretická část:</a:t>
            </a:r>
            <a:r>
              <a:rPr sz="1800" b="0" i="0"/>
              <a:t> pojmy, zdroje, co jste se naučili</a:t>
            </a:r>
          </a:p>
          <a:p>
            <a:r>
              <a:rPr sz="1800" b="0" i="0"/>
              <a:t>Výstup z DMG poslouží i v jiném předmětu</a:t>
            </a:r>
          </a:p>
          <a:p>
            <a:pPr>
              <a:buNone/>
            </a:pPr>
          </a:p>
          <a:p>
            <a:r>
              <a:rPr sz="1800" i="1"/>
              <a:t>Co z portfolia byste ukázali u přijímaček?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901952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901952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STRÁNKA PROJEKTU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ListOl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Postup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Kroky, ne jen výsledek. Co nefungovalo, je stejně cenné.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Camera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Fotky a schémata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Vlastní fotky ve správném rozlišení, popisky pod obrázkem.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Book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Zdroje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Odkud jste čerpali – stejně jako u citací v textu.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Lightbulb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Reflexe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Co jste se naučili a co byste příště udělali jinak.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Sociální sítě: co funguje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Lidé sledují lidi – tváře, proces a zákulisí fungují víc než plakát</a:t>
            </a:r>
          </a:p>
          <a:p>
            <a:r>
              <a:rPr sz="1800" b="0" i="0"/>
              <a:t>U videa rozhodují první vteřiny – začněte tím nejzajímavějším</a:t>
            </a:r>
          </a:p>
          <a:p>
            <a:r>
              <a:rPr sz="1800" b="0" i="0"/>
              <a:t>Jeden příspěvek = jedno sdělení, popisek doplní kontext</a:t>
            </a:r>
          </a:p>
          <a:p>
            <a:pPr>
              <a:buNone/>
            </a:pPr>
          </a:p>
          <a:p>
            <a:r>
              <a:rPr sz="1800" i="1"/>
              <a:t>Který příspěvek školy nebo firmy vás naposledy zaujal a proč?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382012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382012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FORMÁTY NA INSTAGRAMU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Image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Příspěvek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Fotka nebo grafika 4:5. Hotový projekt, akce, oznámení.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Clone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Carousel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Víc snímků za sebou. Postup krok za krokem, před a po.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Video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Reel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Krátké video na výšku. Proces, timelapse z dílny, den na lyceu.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Clock_ED6845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Story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Zmizí po 24 hodinách. Zákulisí, ankety, odpočet k akci.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8 · Obsahový plán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Bez plánu vzniká obsah nárazově – a dělá ho jeden člověk</a:t>
            </a:r>
          </a:p>
          <a:p>
            <a:r>
              <a:rPr sz="1800" b="1" i="0"/>
              <a:t>Pilíře:</a:t>
            </a:r>
            <a:r>
              <a:rPr sz="1800" b="0" i="0"/>
              <a:t> 3–5 opakujících se typů příspěvků</a:t>
            </a:r>
          </a:p>
          <a:p>
            <a:r>
              <a:rPr sz="1800" b="0" i="0"/>
              <a:t>Plán na měsíc dopředu, materiály ve sdílené složce</a:t>
            </a:r>
          </a:p>
          <a:p>
            <a:pPr>
              <a:buNone/>
            </a:pPr>
          </a:p>
          <a:p>
            <a:r>
              <a:rPr sz="1800" i="1"/>
              <a:t>Který pilíř byste si vzali na starost?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94560"/>
                <a:gridCol w="16459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Pilíř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Příklad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Kdo dodá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Projekty z bloků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výrobek, postup v carouselu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žáci daného bloku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Zákulisí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timelapse z dílny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kdokoli ze třídy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Lidé lycea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krátký rozhovor se spolužákem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dvojice redaktorů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Technika za 30 s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„Co je CNC?“, „Jak funguje LED?“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žáci s učitelem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Akce školy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den otevřených dveří, soutěže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redakce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3" name="Rounded Rectangle 902"/>
          <p:cNvSpPr/>
          <p:nvPr/>
        </p:nvSpPr>
        <p:spPr>
          <a:xfrm>
            <a:off x="6400800" y="48920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4" name="Picture 903" descr="FaChartBar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5056631"/>
            <a:ext cx="310896" cy="310896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6876288" y="4892040"/>
            <a:ext cx="47548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Vyhodnocení: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uložení a sdílení řeknou víc než lajky.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9 · AI při tvorbě obsahu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AI pomůže s návrhem, osnovou, obrázkem i korekturou</a:t>
            </a:r>
          </a:p>
          <a:p>
            <a:r>
              <a:rPr sz="1800" b="0" i="0"/>
              <a:t>Za výsledek odpovídáte vy – i za chyby a autorská práva</a:t>
            </a:r>
          </a:p>
          <a:p>
            <a:r>
              <a:rPr sz="1800" b="0" i="0"/>
              <a:t>Obsah z AI označte – v portfoliu i ve škole</a:t>
            </a:r>
          </a:p>
          <a:p>
            <a:pPr>
              <a:buNone/>
            </a:pPr>
          </a:p>
          <a:p>
            <a:r>
              <a:rPr sz="1800" i="1"/>
              <a:t>Kde je hranice mezi „pomohla mi AI“ a „udělala to AI“?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463040"/>
                <a:gridCol w="219456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Použití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Vhodné?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Jak na to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Kontrola pravopisu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ano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označení není nutné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Návrh osnovy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ano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zmínit v reflexi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Obrázek do plakátu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ano, podle licence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popisek „vytvořeno pomocí AI“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Text odborné části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jen jako podklad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přepsat, ověřit, uvést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Fotka „z dílny“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dokumentace musí být skutečná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Kdo umí vysvětlit technickou věc, je cenný v každé firmě</a:t>
            </a:r>
          </a:p>
          <a:p>
            <a:r>
              <a:rPr sz="1800" b="0" i="0"/>
              <a:t>Dokumentace je součást každého výrobku</a:t>
            </a:r>
          </a:p>
          <a:p>
            <a:r>
              <a:rPr sz="1800" b="1" i="0"/>
              <a:t>Do portfolia:</a:t>
            </a:r>
            <a:r>
              <a:rPr sz="1800" b="0" i="0"/>
              <a:t> každý blok jako samostatná, čitelná stránka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Návody a dokumentace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Prezentace produktů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Školení zákazníků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Webový vývojář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UX/UI designer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Správa sociálních sítí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Technický redaktor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Produktová dokumentace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Marketing techniky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vaše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Otevřete své portfolio – na mobilu i na počítači</a:t>
            </a:r>
          </a:p>
          <a:p>
            <a:r>
              <a:rPr sz="1800" b="0" i="0"/>
              <a:t>Projděte ho otázkami vpravo</a:t>
            </a:r>
          </a:p>
          <a:p>
            <a:r>
              <a:rPr sz="1800" b="0" i="0"/>
              <a:t>Vyberte jeden projekt, který by mohl jít na profil lycea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Víte, pro koho stránka je a co si má čtenář odnést?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Funguje portfolio na mobilu?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Mají obrázky alternativní text a nadpisy hierarchii?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Co z portfolia by šlo na profil lycea a v jakém formátu?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 obsah vytvořený s AI označený?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