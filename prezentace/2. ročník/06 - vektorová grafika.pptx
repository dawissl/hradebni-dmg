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Záměrně bez práce s nástrojem pero / booleovské operace – to si žáci s grafickým blokem projdou sami (viz teorie bloku Vektorová grafika v portfoliu).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Vyzkoušejte živě: uložte kód jako kolo.svg, otevřete v prohlížeči, změňte fill a r a obnovte stránku. Kruh se zvětší a zůstane ostrý.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Zadání: navrhněte šablonu příspěvku pro opakovanou sérii (např. „Projekt z bloku“ nebo „Technika za 30 sekund“). Nejlepší návrh se začne používat na @lyceum.hradebni.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Vektorová grafika: od křivky k tisku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Křivky, uzly a formáty už znáte z 1. ročníku</a:t>
            </a:r>
          </a:p>
          <a:p>
            <a:r>
              <a:rPr sz="1800" b="0" i="0"/>
              <a:t>Kdo má grafiku v odborném bloku, zná nástroje do hloubky</a:t>
            </a:r>
          </a:p>
          <a:p>
            <a:r>
              <a:rPr sz="1800" b="0" i="0"/>
              <a:t>Dnes společný základ pro všechny: formáty, tisk a vektor v technice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Vektor v technice</a:t>
            </a:r>
            <a:r>
              <a:rPr sz="1050">
                <a:solidFill>
                  <a:srgbClr val="7A7A7A"/>
                </a:solidFill>
                <a:latin typeface="Arial"/>
              </a:rPr>
              <a:t>  CAD, schémata, web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0493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316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316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095118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Formáty a výměna</a:t>
            </a:r>
            <a:r>
              <a:rPr sz="1050">
                <a:solidFill>
                  <a:srgbClr val="7A7A7A"/>
                </a:solidFill>
                <a:latin typeface="Arial"/>
              </a:rPr>
              <a:t>  SVG, PDF, DXF, EPS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5351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6174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6174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5808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SVG je text</a:t>
            </a:r>
            <a:r>
              <a:rPr sz="1050">
                <a:solidFill>
                  <a:srgbClr val="7A7A7A"/>
                </a:solidFill>
                <a:latin typeface="Arial"/>
              </a:rPr>
              <a:t>  grafika jako kód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0209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1032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1032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0666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Rastr ↔ vektor</a:t>
            </a:r>
            <a:r>
              <a:rPr sz="1050">
                <a:solidFill>
                  <a:srgbClr val="7A7A7A"/>
                </a:solidFill>
                <a:latin typeface="Arial"/>
              </a:rPr>
              <a:t>  trasování a export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5067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5890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5890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5524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Logo a ikona</a:t>
            </a:r>
            <a:r>
              <a:rPr sz="1050">
                <a:solidFill>
                  <a:srgbClr val="7A7A7A"/>
                </a:solidFill>
                <a:latin typeface="Arial"/>
              </a:rPr>
              <a:t>  test škálovatelnosti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39924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0747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0747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03821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Infografika</a:t>
            </a:r>
            <a:r>
              <a:rPr sz="1050">
                <a:solidFill>
                  <a:srgbClr val="7A7A7A"/>
                </a:solidFill>
                <a:latin typeface="Arial"/>
              </a:rPr>
              <a:t>  mřížka, ikony, paleta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4782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5605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5605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5239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Tisk</a:t>
            </a:r>
            <a:r>
              <a:rPr sz="1050">
                <a:solidFill>
                  <a:srgbClr val="7A7A7A"/>
                </a:solidFill>
                <a:latin typeface="Arial"/>
              </a:rPr>
              <a:t>  CMYK, spadávka, PDF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6903720" y="49640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Oval 929"/>
          <p:cNvSpPr/>
          <p:nvPr/>
        </p:nvSpPr>
        <p:spPr>
          <a:xfrm>
            <a:off x="6400800" y="50463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1" name="TextBox 930"/>
          <p:cNvSpPr txBox="1"/>
          <p:nvPr/>
        </p:nvSpPr>
        <p:spPr>
          <a:xfrm>
            <a:off x="6355080" y="50463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903720" y="50097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Vizuální identita</a:t>
            </a:r>
            <a:r>
              <a:rPr sz="1050">
                <a:solidFill>
                  <a:srgbClr val="7A7A7A"/>
                </a:solidFill>
                <a:latin typeface="Arial"/>
              </a:rPr>
              <a:t>  šablony pro sociální sítě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Vektor v technice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Vektor = popis tvarů (bod, úsečka, křivka), ne pixelů</a:t>
            </a:r>
          </a:p>
          <a:p>
            <a:r>
              <a:rPr sz="1800" b="0" i="0"/>
              <a:t>CAD z předmětu CSD je vektorový program – výkres je přesný v každém měřítku</a:t>
            </a:r>
          </a:p>
          <a:p>
            <a:r>
              <a:rPr sz="1800" b="0" i="0"/>
              <a:t>Grafický program řeší vzhled, CAD přesné rozměry a vazby</a:t>
            </a:r>
          </a:p>
          <a:p>
            <a:pPr>
              <a:buNone/>
            </a:pPr>
          </a:p>
          <a:p>
            <a:r>
              <a:rPr sz="1800" i="1"/>
              <a:t>V čem se liší kreslení v Inkscapu a v CAD?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47802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47802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KDE VŠUDE JSOU VEKTORY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og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Strojírenství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Výkres součásti, DXF pro laserové nebo plazmové řezání.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Bolt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Elektrotechnika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Schéma zapojení, návrh desky plošných spojů.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LaptopCode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IT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Ikony a loga na webu. I písmo (font) je vektor.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PenNib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Grafika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Plakáty, polepy aut, řezaná fólie, gravírování.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Formáty a výměna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Nativní formát programu uchová vše – vrstvy, efekty – jinde se ale neotevře</a:t>
            </a:r>
          </a:p>
          <a:p>
            <a:r>
              <a:rPr sz="1800" b="0" i="0"/>
              <a:t>Pro předání volte otevřený nebo rozšířený formát</a:t>
            </a:r>
          </a:p>
          <a:p>
            <a:r>
              <a:rPr sz="1800" b="0" i="0"/>
              <a:t>Před odesláním ověřte, že příjemce soubor otevře</a:t>
            </a:r>
          </a:p>
          <a:p>
            <a:pPr>
              <a:buNone/>
            </a:pPr>
          </a:p>
          <a:p>
            <a:r>
              <a:rPr sz="1800" i="1"/>
              <a:t>Jaký formát chce tiskárna a jaký laserová dílna?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4688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Formát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 koho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Pozor na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SVG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web, otevřený standard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ne každý tiskař ho přijme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PDF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tisk, předání komukoli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písma vložit nebo převést na křivky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DXF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CAD, CNC, laser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hlavně geometrie, barvy a efekty se ztratí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EPS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starší tisková studia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zastaralý, nahrazuje ho PDF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AI, CDR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Illustrator, CorelDRAW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bez programu se neotevře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SVG je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SVG soubor otevřete i v Poznámkovém bloku</a:t>
            </a:r>
          </a:p>
          <a:p>
            <a:r>
              <a:rPr sz="1800" b="0" i="0"/>
              <a:t>Tvar je popsaný souřadnicemi a vlastnostmi</a:t>
            </a:r>
          </a:p>
          <a:p>
            <a:r>
              <a:rPr sz="1800" b="0" i="0"/>
              <a:t>Barvu změníte přepsáním jednoho údaje – jako v CSS z 1. ročníku</a:t>
            </a:r>
          </a:p>
          <a:p>
            <a:pPr>
              <a:buNone/>
            </a:pPr>
          </a:p>
          <a:p>
            <a:r>
              <a:rPr sz="1800" i="1"/>
              <a:t>Co se stane, když přepíšete r="40" na r="80"?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80594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80594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SOUBOR KOLO.SVG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1755648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16642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&lt;svg width="200" height="200"&gt;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&lt;circle cx="100" cy="100" r="40"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       fill="#ED6845" /&gt;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&lt;rect x="20" y="160" width="160"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     height="20" fill="#6E7868" /&gt;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&lt;/svg&gt;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4178808"/>
            <a:ext cx="5303520" cy="82296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7" name="Picture 906" descr="FaInfo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434840"/>
            <a:ext cx="310896" cy="310896"/>
          </a:xfrm>
          <a:prstGeom prst="rect">
            <a:avLst/>
          </a:prstGeom>
        </p:spPr>
      </p:pic>
      <p:sp>
        <p:nvSpPr>
          <p:cNvPr id="908" name="TextBox 907"/>
          <p:cNvSpPr txBox="1"/>
          <p:nvPr/>
        </p:nvSpPr>
        <p:spPr>
          <a:xfrm>
            <a:off x="6876288" y="4178808"/>
            <a:ext cx="47548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Prohlížeč tvar při každé změně znovu vypočítá – proto zůstává ostrý v jakékoli velikosti.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Rastr ↔ vektor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Vektor → rastr:</a:t>
            </a:r>
            <a:r>
              <a:rPr sz="1800" b="0" i="0"/>
              <a:t> export, vždy jde, rozlišení zvolíte</a:t>
            </a:r>
          </a:p>
          <a:p>
            <a:r>
              <a:rPr sz="1800" b="1" i="0"/>
              <a:t>Rastr → vektor:</a:t>
            </a:r>
            <a:r>
              <a:rPr sz="1800" b="0" i="0"/>
              <a:t> trasování – program obrysy jen odhaduje</a:t>
            </a:r>
          </a:p>
          <a:p>
            <a:r>
              <a:rPr sz="1800" b="0" i="0"/>
              <a:t>Funguje u jednoduchého loga nebo kresby, ne u fotky</a:t>
            </a:r>
          </a:p>
          <a:p>
            <a:pPr>
              <a:buNone/>
            </a:pPr>
          </a:p>
          <a:p>
            <a:r>
              <a:rPr sz="1800" i="1"/>
              <a:t>Proč z fotky trasováním vznikne nepoužitelný soubor?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TRASOVÁNÍ SELŽE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TRASOVÁNÍ FUNGUJE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Fotografie s přechody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Jednobarevné logo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Rozmazaný sken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Kontrastní kresba fixou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Tisíce drobných detailů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Jasné obrysy a plochy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Malý obrázek z webu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Velký sken s ostrými hranami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Logo a ikona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Logo musí fungovat od favikony 16 px po billboard</a:t>
            </a:r>
          </a:p>
          <a:p>
            <a:r>
              <a:rPr sz="1800" b="0" i="0"/>
              <a:t>Jednobarevná verze – razítko, gravírování, řezaná fólie</a:t>
            </a:r>
          </a:p>
          <a:p>
            <a:r>
              <a:rPr sz="1800" b="0" i="0"/>
              <a:t>Text převedený na křivky – u příjemce nehrozí záměna písma</a:t>
            </a:r>
          </a:p>
          <a:p>
            <a:pPr>
              <a:buNone/>
            </a:pPr>
          </a:p>
          <a:p>
            <a:r>
              <a:rPr sz="1800" i="1"/>
              <a:t>Funguje logo vaší školy v jedné barvě?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22986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22986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TEST LOGA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01443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Zmenšení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na 16 × 16 px – je logo pořád čitelné?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302895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35833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302895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Jedna barva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– funguje bez přechodů a stínů?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863339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070223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863339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Inverze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– funguje bílé na tmavém pozadí?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69773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904613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69773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Křivky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– písmo převedené, originál s editovatelným textem uschovaný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Infografika: technika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Infografika stojí na pravidlech, ne na nápadu</a:t>
            </a:r>
          </a:p>
          <a:p>
            <a:r>
              <a:rPr sz="1800" b="0" i="0"/>
              <a:t>Pravidla vizuální hierarchie znáte z prezentací</a:t>
            </a:r>
          </a:p>
          <a:p>
            <a:r>
              <a:rPr sz="1800" b="0" i="0"/>
              <a:t>Co z dat ukázat, řešíme v Tvorbě digitálního obsahu</a:t>
            </a:r>
          </a:p>
          <a:p>
            <a:pPr>
              <a:buNone/>
            </a:pPr>
          </a:p>
          <a:p>
            <a:r>
              <a:rPr sz="1800" i="1"/>
              <a:t>Jaké čtyři barvy byste zvolili pro infografiku o vašem oboru?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70992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70992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ČTYŘI PRAVIDLA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ThLarge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Mřížka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Plochu rozvrhněte do 2–4 sloupců, okraje všude stejné.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Icons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Ikony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Jedna sada, jeden styl. Nemíchejte plné a obrysové ikony.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Palette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Paleta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Základní barva, doplňková, neutrální šedá a jedna akcentní.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SortAmountDown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Hierarchie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Velké číslo, menší popis, nejmenší zdroj dat.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Příprava pro tisk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Monitor svítí (RGB), papír odráží (CMYK) – zářivé barvy tisk neumí</a:t>
            </a:r>
          </a:p>
          <a:p>
            <a:r>
              <a:rPr sz="1800" b="1" i="0"/>
              <a:t>Spadávka:</a:t>
            </a:r>
            <a:r>
              <a:rPr sz="1800" b="0" i="0"/>
              <a:t> grafika přesahuje 3 mm za hranu, aby po ořezu nezůstal bílý okraj</a:t>
            </a:r>
          </a:p>
          <a:p>
            <a:r>
              <a:rPr sz="1800" b="0" i="0"/>
              <a:t>Text aspoň 3–5 mm od hrany</a:t>
            </a:r>
          </a:p>
          <a:p>
            <a:r>
              <a:rPr sz="1800" b="0" i="0"/>
              <a:t>Export do tiskového PDF s vloženými písmy</a:t>
            </a:r>
          </a:p>
          <a:p>
            <a:pPr>
              <a:buNone/>
            </a:pPr>
          </a:p>
          <a:p>
            <a:r>
              <a:rPr sz="1800" i="1"/>
              <a:t>Proč vytištěný plakát vypadá jinak než na monitoru?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ectangle 901"/>
          <p:cNvSpPr/>
          <p:nvPr/>
        </p:nvSpPr>
        <p:spPr>
          <a:xfrm>
            <a:off x="6400800" y="1783080"/>
            <a:ext cx="2743200" cy="3657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Rectangle 902"/>
          <p:cNvSpPr/>
          <p:nvPr/>
        </p:nvSpPr>
        <p:spPr>
          <a:xfrm>
            <a:off x="6629400" y="2011680"/>
            <a:ext cx="2286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6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Rectangle 903"/>
          <p:cNvSpPr/>
          <p:nvPr/>
        </p:nvSpPr>
        <p:spPr>
          <a:xfrm>
            <a:off x="6903720" y="2286000"/>
            <a:ext cx="1737360" cy="2651760"/>
          </a:xfrm>
          <a:prstGeom prst="rect">
            <a:avLst/>
          </a:prstGeom>
          <a:solidFill>
            <a:srgbClr val="F3F2EF"/>
          </a:solidFill>
          <a:ln w="12700">
            <a:solidFill>
              <a:srgbClr val="6E786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903720" y="3291840"/>
            <a:ext cx="173736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6E7868"/>
                </a:solidFill>
                <a:latin typeface="Arial"/>
              </a:rPr>
              <a:t>TEXT A LOGO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9372600" y="1828800"/>
            <a:ext cx="23774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Spadávka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9372600" y="2148840"/>
            <a:ext cx="23774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grafika přesahuje 3 mm za formát, po ořezu zmizí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9372600" y="2971800"/>
            <a:ext cx="23774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Formát (ořez)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372600" y="3291840"/>
            <a:ext cx="23774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hotová velikost, např. A3 = 297 × 420 mm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9372600" y="4114800"/>
            <a:ext cx="23774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E7868"/>
                </a:solidFill>
                <a:latin typeface="Arial"/>
              </a:rPr>
              <a:t>Bezpečná zóna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372600" y="4434840"/>
            <a:ext cx="23774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text a logo aspoň 3–5 mm od hrany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8 · Vizuální identita profilu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Profil působí jako celek, když drží stejné barvy, písmo a styl</a:t>
            </a:r>
          </a:p>
          <a:p>
            <a:r>
              <a:rPr sz="1800" b="0" i="0"/>
              <a:t>Šablona v Canvě nebo Figmě = konzistence bez práce navíc</a:t>
            </a:r>
          </a:p>
          <a:p>
            <a:r>
              <a:rPr sz="1800" b="0" i="0"/>
              <a:t>Logo podle pravidel – nedeformovat, nepřebarvovat</a:t>
            </a:r>
          </a:p>
          <a:p>
            <a:pPr>
              <a:buNone/>
            </a:pPr>
          </a:p>
          <a:p>
            <a:r>
              <a:rPr sz="1800" i="1"/>
              <a:t>Poznali byste příspěvek lycea bez čtení jména účtu?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901952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901952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IDENTITA PROFILU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Palette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Paleta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2–3 barvy lycea a neutrální šedá. Ve všech příspěvcích stejné.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Font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Písmo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Jedno na nadpisy, jedno na text. Čitelné i na mobilu.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Clone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Šablony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Hotové rozvržení pro projekt, akci, tip. Měníte jen obsah.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Certificate_ED6845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Logo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Vždy na stejném místě, ve vektoru, nikdy roztažené.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Vektor je společný jazyk grafiky i strojírenství</a:t>
            </a:r>
          </a:p>
          <a:p>
            <a:r>
              <a:rPr sz="1800" b="0" i="0"/>
              <a:t>Bez CAD se neobejde žádná konstrukce</a:t>
            </a:r>
          </a:p>
          <a:p>
            <a:r>
              <a:rPr sz="1800" b="1" i="0"/>
              <a:t>Do portfolia:</a:t>
            </a:r>
            <a:r>
              <a:rPr sz="1800" b="0" i="0"/>
              <a:t> logo nebo ikonu projektu uložte jako SVG i PDF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Návrh plošných spojů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Elektroschémata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Projektant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UI/UX designer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Webový grafik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Vývoj 2D her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Konstruktér v CAD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Programátor CNC a laseru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Technická dokumentace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než soubor odešlete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Vezměte vektorový výstup ze svého projektu</a:t>
            </a:r>
          </a:p>
          <a:p>
            <a:r>
              <a:rPr sz="1800" b="0" i="0"/>
              <a:t>Projděte ho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soubor ve formátu, který příjemce otevře?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Zůstane logo čitelné ve velikosti 16 px?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Jsou písma převedená na křivky nebo vložená?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Má tiskový soubor spadávku a barvy v CMYK?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Drží infografika mřížku a jednu sadu ikon?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