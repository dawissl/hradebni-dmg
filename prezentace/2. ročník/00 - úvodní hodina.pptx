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sldIdLst>
    <p:sldId id="256" r:id="rId5"/>
    <p:sldId id="259" r:id="rId6"/>
    <p:sldId id="258" r:id="rId7"/>
    <p:sldId id="260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413716-052E-C94C-FC31-FC56862A0A04}" v="133" dt="2026-09-01T10:34:26.872"/>
    <p1510:client id="{FCB7644E-0C04-1167-51C0-3685CE035A63}" v="17" dt="2026-09-01T09:49:03.7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BE3E4-44D3-469D-8358-4F8623F041DB}" type="datetimeFigureOut"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1D2FD1-F343-4C6C-83D8-25066587EB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534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F695BADC-4FD4-44DC-8CD5-A8F9C57A8D9D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372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E410-BE9E-427B-BCB5-604E33C4348E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639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666FC17-48E9-4EB3-BB0E-C81F4FBF1D65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655264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DFE1FB2C-1600-49CF-ABE3-F2743AC651C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6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05D05A-BA39-4B06-B20A-BF32BF994A68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732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6C2206C6-C6B2-4E06-A7AA-7F308C2F851D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14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D1188C7A-78DB-4967-8643-716598F25D97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117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94BC2-7D23-4352-8AF3-6A490B666FB8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7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4758A600-6D87-4303-8A2F-171F72E22375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399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FBFC4637-11C9-448C-8D4C-0CD0AE46C949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345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CBC-A2D6-42D3-976A-174CF7E26BA0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739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17E8D86-1037-438D-973A-F8D03A01BF16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229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B0ECE3E5-DEB1-48A2-A1A9-7ABBE9A784F7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668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2B950759-980B-4783-B58D-96B69BC77CA8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327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75D8CBF3-D33E-488B-BE09-B302C3504935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00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49885C97-4180-47D6-BA3E-83C74E1B190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573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20E7-9D70-4C91-9C55-B922EC8FF4E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850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A25B1B0E-4CBA-421A-9FF9-BD907EE313C7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193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E07D1D-D1D5-479B-A8E5-C908666570C8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4949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907655-BDED-4A88-9727-947E02456645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147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348C769-7AB4-4647-BD58-CC3E9CA66889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2452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EDEC-0890-4E6D-9DE0-ECAF543851A7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96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8318-BA47-4AD0-805B-25EB53D81BBB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0000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3F20-2AB6-4A04-8E99-A7FB006776B6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4694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2087-1351-4A66-BC4B-B8C73F209E6A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49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A8EB468F-DE53-43FF-8B87-9F03EBF19C2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1293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77D9A748-B116-46F1-81D5-0BE225FE4EB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5975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02.09.2026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589862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229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2B9AEC8-204B-4AD5-8041-BCAF36A74EBE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896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hf hdr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864" userDrawn="1">
          <p15:clr>
            <a:srgbClr val="F26B43"/>
          </p15:clr>
        </p15:guide>
        <p15:guide id="3" pos="432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5" orient="horz" pos="3504" userDrawn="1">
          <p15:clr>
            <a:srgbClr val="F26B43"/>
          </p15:clr>
        </p15:guide>
        <p15:guide id="6" orient="horz" pos="3024" userDrawn="1">
          <p15:clr>
            <a:srgbClr val="F26B43"/>
          </p15:clr>
        </p15:guide>
        <p15:guide id="7" orient="horz" pos="2592" userDrawn="1">
          <p15:clr>
            <a:srgbClr val="F26B43"/>
          </p15:clr>
        </p15:guide>
        <p15:guide id="8" orient="horz" pos="1728" userDrawn="1">
          <p15:clr>
            <a:srgbClr val="F26B43"/>
          </p15:clr>
        </p15:guide>
        <p15:guide id="9" orient="horz" pos="1296" userDrawn="1">
          <p15:clr>
            <a:srgbClr val="F26B43"/>
          </p15:clr>
        </p15:guide>
        <p15:guide id="10" orient="horz" pos="864" userDrawn="1">
          <p15:clr>
            <a:srgbClr val="F26B43"/>
          </p15:clr>
        </p15:guide>
        <p15:guide id="11" orient="horz" pos="432" userDrawn="1">
          <p15:clr>
            <a:srgbClr val="F26B43"/>
          </p15:clr>
        </p15:guide>
        <p15:guide id="12" pos="1296" userDrawn="1">
          <p15:clr>
            <a:srgbClr val="F26B43"/>
          </p15:clr>
        </p15:guide>
        <p15:guide id="13" pos="1728" userDrawn="1">
          <p15:clr>
            <a:srgbClr val="F26B43"/>
          </p15:clr>
        </p15:guide>
        <p15:guide id="18" pos="2160" userDrawn="1">
          <p15:clr>
            <a:srgbClr val="F26B43"/>
          </p15:clr>
        </p15:guide>
        <p15:guide id="20" pos="5520" userDrawn="1">
          <p15:clr>
            <a:srgbClr val="F26B43"/>
          </p15:clr>
        </p15:guide>
        <p15:guide id="21" pos="5952" userDrawn="1">
          <p15:clr>
            <a:srgbClr val="F26B43"/>
          </p15:clr>
        </p15:guide>
        <p15:guide id="22" pos="6384" userDrawn="1">
          <p15:clr>
            <a:srgbClr val="F26B43"/>
          </p15:clr>
        </p15:guide>
        <p15:guide id="24" pos="6816" userDrawn="1">
          <p15:clr>
            <a:srgbClr val="F26B43"/>
          </p15:clr>
        </p15:guide>
        <p15:guide id="25" pos="7248" userDrawn="1">
          <p15:clr>
            <a:srgbClr val="F26B43"/>
          </p15:clr>
        </p15:guide>
        <p15:guide id="26" pos="5088" userDrawn="1">
          <p15:clr>
            <a:srgbClr val="F26B43"/>
          </p15:clr>
        </p15:guide>
        <p15:guide id="27" pos="4656" userDrawn="1">
          <p15:clr>
            <a:srgbClr val="F26B43"/>
          </p15:clr>
        </p15:guide>
        <p15:guide id="28" pos="4224" userDrawn="1">
          <p15:clr>
            <a:srgbClr val="F26B43"/>
          </p15:clr>
        </p15:guide>
        <p15:guide id="29" pos="2592" userDrawn="1">
          <p15:clr>
            <a:srgbClr val="F26B43"/>
          </p15:clr>
        </p15:guide>
        <p15:guide id="30" pos="3024" userDrawn="1">
          <p15:clr>
            <a:srgbClr val="F26B43"/>
          </p15:clr>
        </p15:guide>
        <p15:guide id="31" pos="3456" userDrawn="1">
          <p15:clr>
            <a:srgbClr val="F26B43"/>
          </p15:clr>
        </p15:guide>
        <p15:guide id="32" orient="horz" pos="6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wissl/hradebni-dmg/blob/main/README.md" TargetMode="External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řesýpací hodiny a kalendář">
            <a:extLst>
              <a:ext uri="{FF2B5EF4-FFF2-40B4-BE49-F238E27FC236}">
                <a16:creationId xmlns:a16="http://schemas.microsoft.com/office/drawing/2014/main" id="{41298B91-4CF6-4E60-D734-4EA58BAAC7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33" r="-12" b="-12"/>
          <a:stretch>
            <a:fillRect/>
          </a:stretch>
        </p:blipFill>
        <p:spPr>
          <a:xfrm>
            <a:off x="5503863" y="1354138"/>
            <a:ext cx="5322887" cy="4481512"/>
          </a:xfrm>
          <a:prstGeom prst="rect">
            <a:avLst/>
          </a:prstGeom>
          <a:noFill/>
        </p:spPr>
      </p:pic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</p:spPr>
        <p:txBody>
          <a:bodyPr anchor="b">
            <a:normAutofit/>
          </a:bodyPr>
          <a:lstStyle/>
          <a:p>
            <a:r>
              <a:rPr lang="cs-CZ"/>
              <a:t>Úvodní hodina</a:t>
            </a:r>
            <a:endParaRPr lang="en-US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/>
              <a:t>DIGITÁLNÍ A MEDIÁLNÍ GRAMOTNOST</a:t>
            </a:r>
          </a:p>
          <a:p>
            <a:endParaRPr lang="cs-CZ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46EBA02-554E-40E0-B78D-F4A4BEBB6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1" name="Date Placeholder 5">
            <a:extLst>
              <a:ext uri="{FF2B5EF4-FFF2-40B4-BE49-F238E27FC236}">
                <a16:creationId xmlns:a16="http://schemas.microsoft.com/office/drawing/2014/main" id="{E3BEAA10-A0FC-893E-6DD5-EF0FDA9D47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1E6CF372-271C-4CB8-8535-9E51A983F2C6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1253966B-EB97-6E6E-01FB-080E09398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6BE7-C0E6-BAF6-05B2-CF0838067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</p:spPr>
        <p:txBody>
          <a:bodyPr>
            <a:normAutofit/>
          </a:bodyPr>
          <a:lstStyle/>
          <a:p>
            <a:r>
              <a:rPr lang="en-US" dirty="0" err="1"/>
              <a:t>Pravidla</a:t>
            </a:r>
            <a:r>
              <a:rPr lang="en-US" dirty="0"/>
              <a:t> </a:t>
            </a:r>
            <a:r>
              <a:rPr lang="en-US" dirty="0" err="1"/>
              <a:t>hry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16C7EE-EDA0-F6D4-97AE-4446DA80D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F0F4D-0093-8121-6C98-5A205EFF3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/>
              <a:t>Známka </a:t>
            </a:r>
            <a:r>
              <a:rPr lang="en-US" sz="1700" err="1"/>
              <a:t>vzniká</a:t>
            </a:r>
            <a:r>
              <a:rPr lang="en-US" sz="1700"/>
              <a:t> </a:t>
            </a:r>
            <a:r>
              <a:rPr lang="en-US" sz="1700" err="1"/>
              <a:t>jako</a:t>
            </a:r>
            <a:r>
              <a:rPr lang="en-US" sz="1700"/>
              <a:t> </a:t>
            </a:r>
            <a:r>
              <a:rPr lang="en-US" sz="1700" err="1"/>
              <a:t>vážený</a:t>
            </a:r>
            <a:r>
              <a:rPr lang="en-US" sz="1700"/>
              <a:t> </a:t>
            </a:r>
            <a:r>
              <a:rPr lang="en-US" sz="1700" err="1"/>
              <a:t>průměr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 err="1"/>
              <a:t>Neodevzdaná</a:t>
            </a:r>
            <a:r>
              <a:rPr lang="en-US" sz="1700"/>
              <a:t> </a:t>
            </a:r>
            <a:r>
              <a:rPr lang="en-US" sz="1700" err="1"/>
              <a:t>práce</a:t>
            </a:r>
            <a:r>
              <a:rPr lang="en-US" sz="1700"/>
              <a:t> v </a:t>
            </a:r>
            <a:r>
              <a:rPr lang="en-US" sz="1700" err="1"/>
              <a:t>hodině</a:t>
            </a:r>
            <a:r>
              <a:rPr lang="en-US" sz="1700"/>
              <a:t> → N, ale </a:t>
            </a:r>
            <a:r>
              <a:rPr lang="en-US" sz="1700" err="1"/>
              <a:t>aktivita</a:t>
            </a:r>
            <a:r>
              <a:rPr lang="en-US" sz="1700"/>
              <a:t> se </a:t>
            </a:r>
            <a:r>
              <a:rPr lang="en-US" sz="1700" err="1"/>
              <a:t>hodnotí</a:t>
            </a:r>
            <a:r>
              <a:rPr lang="en-US" sz="1700"/>
              <a:t> </a:t>
            </a:r>
            <a:r>
              <a:rPr lang="en-US" sz="1700" err="1"/>
              <a:t>zvlášť</a:t>
            </a:r>
            <a:r>
              <a:rPr lang="en-US" sz="1700"/>
              <a:t> se </a:t>
            </a:r>
            <a:r>
              <a:rPr lang="en-US" sz="1700" err="1"/>
              <a:t>stejnou</a:t>
            </a:r>
            <a:r>
              <a:rPr lang="en-US" sz="1700"/>
              <a:t> </a:t>
            </a:r>
            <a:r>
              <a:rPr lang="en-US" sz="1700" err="1"/>
              <a:t>vahou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/>
              <a:t>Testy </a:t>
            </a:r>
            <a:r>
              <a:rPr lang="en-US" sz="1700" err="1"/>
              <a:t>lze</a:t>
            </a:r>
            <a:r>
              <a:rPr lang="en-US" sz="1700"/>
              <a:t> </a:t>
            </a:r>
            <a:r>
              <a:rPr lang="en-US" sz="1700" err="1"/>
              <a:t>dopsat</a:t>
            </a:r>
            <a:r>
              <a:rPr lang="en-US" sz="1700"/>
              <a:t> do 14 </a:t>
            </a:r>
            <a:r>
              <a:rPr lang="en-US" sz="1700" err="1"/>
              <a:t>dnů</a:t>
            </a:r>
            <a:r>
              <a:rPr lang="en-US" sz="1700"/>
              <a:t> po </a:t>
            </a:r>
            <a:r>
              <a:rPr lang="en-US" sz="1700" err="1"/>
              <a:t>absenci</a:t>
            </a:r>
            <a:r>
              <a:rPr lang="en-US" sz="1700"/>
              <a:t> (</a:t>
            </a:r>
            <a:r>
              <a:rPr lang="en-US" sz="1700" err="1"/>
              <a:t>stačí</a:t>
            </a:r>
            <a:r>
              <a:rPr lang="en-US" sz="1700"/>
              <a:t> se </a:t>
            </a:r>
            <a:r>
              <a:rPr lang="en-US" sz="1700" err="1"/>
              <a:t>domluvit</a:t>
            </a:r>
            <a:r>
              <a:rPr lang="en-US" sz="1700"/>
              <a:t>)</a:t>
            </a:r>
          </a:p>
          <a:p>
            <a:pPr>
              <a:lnSpc>
                <a:spcPct val="110000"/>
              </a:lnSpc>
            </a:pPr>
            <a:r>
              <a:rPr lang="en-US" sz="1700"/>
              <a:t>Nerozhodná </a:t>
            </a:r>
            <a:r>
              <a:rPr lang="en-US" sz="1700" err="1"/>
              <a:t>známka</a:t>
            </a:r>
            <a:r>
              <a:rPr lang="en-US" sz="1700"/>
              <a:t> (X,40–X,60) → </a:t>
            </a:r>
            <a:r>
              <a:rPr lang="en-US" sz="1700" err="1"/>
              <a:t>rozhoduje</a:t>
            </a:r>
            <a:r>
              <a:rPr lang="en-US" sz="1700"/>
              <a:t> </a:t>
            </a:r>
            <a:r>
              <a:rPr lang="en-US" sz="1700" err="1"/>
              <a:t>přístup</a:t>
            </a:r>
            <a:r>
              <a:rPr lang="en-US" sz="1700"/>
              <a:t>, </a:t>
            </a:r>
            <a:r>
              <a:rPr lang="en-US" sz="1700" err="1"/>
              <a:t>příprava</a:t>
            </a:r>
            <a:r>
              <a:rPr lang="en-US" sz="1700"/>
              <a:t>, </a:t>
            </a:r>
            <a:r>
              <a:rPr lang="en-US" sz="1700" err="1"/>
              <a:t>chování</a:t>
            </a:r>
            <a:r>
              <a:rPr lang="en-US" sz="1700"/>
              <a:t>, </a:t>
            </a:r>
            <a:r>
              <a:rPr lang="en-US" sz="1700" err="1"/>
              <a:t>dobrovolnéúkoly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/>
              <a:t>Absence se </a:t>
            </a:r>
            <a:r>
              <a:rPr lang="en-US" sz="1700" err="1"/>
              <a:t>řídí</a:t>
            </a:r>
            <a:r>
              <a:rPr lang="en-US" sz="1700"/>
              <a:t> </a:t>
            </a:r>
            <a:r>
              <a:rPr lang="en-US" sz="1700" err="1"/>
              <a:t>školním</a:t>
            </a:r>
            <a:r>
              <a:rPr lang="en-US" sz="1700"/>
              <a:t> </a:t>
            </a:r>
            <a:r>
              <a:rPr lang="en-US" sz="1700" err="1"/>
              <a:t>řádem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/>
              <a:t>Více </a:t>
            </a:r>
            <a:r>
              <a:rPr lang="en-US" sz="1700" err="1"/>
              <a:t>zde</a:t>
            </a:r>
            <a:r>
              <a:rPr lang="en-US" sz="1700"/>
              <a:t>: </a:t>
            </a:r>
            <a:r>
              <a:rPr lang="en-US" sz="1700" err="1">
                <a:hlinkClick r:id="rId2"/>
              </a:rPr>
              <a:t>Hodnocení</a:t>
            </a:r>
            <a:r>
              <a:rPr lang="en-US" sz="1700">
                <a:hlinkClick r:id="rId2"/>
              </a:rPr>
              <a:t> a </a:t>
            </a:r>
            <a:r>
              <a:rPr lang="en-US" sz="1700" err="1">
                <a:hlinkClick r:id="rId2"/>
              </a:rPr>
              <a:t>klasifikace</a:t>
            </a:r>
            <a:r>
              <a:rPr lang="en-US" sz="1700">
                <a:hlinkClick r:id="rId2"/>
              </a:rPr>
              <a:t> v </a:t>
            </a:r>
            <a:r>
              <a:rPr lang="en-US" sz="1700" err="1">
                <a:hlinkClick r:id="rId2"/>
              </a:rPr>
              <a:t>předmětu</a:t>
            </a:r>
            <a:r>
              <a:rPr lang="en-US" sz="1700">
                <a:hlinkClick r:id="rId2"/>
              </a:rPr>
              <a:t> </a:t>
            </a:r>
            <a:r>
              <a:rPr lang="en-US" sz="1700" err="1">
                <a:hlinkClick r:id="rId2"/>
              </a:rPr>
              <a:t>digitální</a:t>
            </a:r>
            <a:r>
              <a:rPr lang="en-US" sz="1700">
                <a:hlinkClick r:id="rId2"/>
              </a:rPr>
              <a:t> a </a:t>
            </a:r>
            <a:r>
              <a:rPr lang="en-US" sz="1700" err="1">
                <a:hlinkClick r:id="rId2"/>
              </a:rPr>
              <a:t>mediální</a:t>
            </a:r>
            <a:r>
              <a:rPr lang="en-US" sz="1700">
                <a:hlinkClick r:id="rId2"/>
              </a:rPr>
              <a:t> </a:t>
            </a:r>
            <a:r>
              <a:rPr lang="en-US" sz="1700" err="1">
                <a:hlinkClick r:id="rId2"/>
              </a:rPr>
              <a:t>gramotnost</a:t>
            </a:r>
            <a:endParaRPr lang="en-US" sz="1700" err="1"/>
          </a:p>
          <a:p>
            <a:pPr>
              <a:lnSpc>
                <a:spcPct val="110000"/>
              </a:lnSpc>
            </a:pPr>
            <a:endParaRPr lang="en-US" sz="17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F05FE-51E5-3E6D-E523-B3A9931F39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B1BD18A-3FD1-43A2-B9A2-D0CFC5A6AF67}" type="datetime1"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55502-0E37-5C69-2EF3-2ACF25FCC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3434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931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9FC3D-6863-E96F-1638-D58EBF729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000" err="1"/>
              <a:t>Používání</a:t>
            </a:r>
            <a:r>
              <a:rPr lang="en-US" sz="6000"/>
              <a:t> </a:t>
            </a:r>
            <a:r>
              <a:rPr lang="en-US" sz="6000" err="1"/>
              <a:t>umělé</a:t>
            </a:r>
            <a:r>
              <a:rPr lang="en-US" sz="6000"/>
              <a:t> </a:t>
            </a:r>
            <a:r>
              <a:rPr lang="en-US" sz="6000" err="1"/>
              <a:t>inteligence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8CB09B-401D-DECE-E22D-08B78403B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340D2-8C3F-A9FE-1AAD-5A811580B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AI je </a:t>
            </a:r>
            <a:r>
              <a:rPr lang="en-US" err="1"/>
              <a:t>vítaným</a:t>
            </a:r>
            <a:r>
              <a:rPr lang="en-US"/>
              <a:t> </a:t>
            </a:r>
            <a:r>
              <a:rPr lang="en-US" err="1"/>
              <a:t>pomocníkem</a:t>
            </a:r>
            <a:r>
              <a:rPr lang="en-US"/>
              <a:t> pro </a:t>
            </a:r>
            <a:r>
              <a:rPr lang="en-US" err="1"/>
              <a:t>rozšíření</a:t>
            </a:r>
            <a:r>
              <a:rPr lang="en-US"/>
              <a:t> </a:t>
            </a:r>
            <a:r>
              <a:rPr lang="en-US" err="1"/>
              <a:t>svých</a:t>
            </a:r>
            <a:r>
              <a:rPr lang="en-US"/>
              <a:t> </a:t>
            </a:r>
            <a:r>
              <a:rPr lang="en-US" err="1"/>
              <a:t>vlastních</a:t>
            </a:r>
            <a:r>
              <a:rPr lang="en-US"/>
              <a:t> </a:t>
            </a:r>
            <a:r>
              <a:rPr lang="en-US" err="1"/>
              <a:t>znalostí</a:t>
            </a:r>
            <a:r>
              <a:rPr lang="en-US"/>
              <a:t> a </a:t>
            </a:r>
            <a:r>
              <a:rPr lang="en-US" err="1"/>
              <a:t>schopností</a:t>
            </a:r>
          </a:p>
          <a:p>
            <a:r>
              <a:rPr lang="en-US"/>
              <a:t>Neslouží k </a:t>
            </a:r>
            <a:r>
              <a:rPr lang="en-US" err="1"/>
              <a:t>nahrazení</a:t>
            </a:r>
            <a:r>
              <a:rPr lang="en-US"/>
              <a:t> </a:t>
            </a:r>
            <a:r>
              <a:rPr lang="en-US" err="1"/>
              <a:t>snažení</a:t>
            </a:r>
            <a:r>
              <a:rPr lang="en-US"/>
              <a:t> </a:t>
            </a:r>
            <a:r>
              <a:rPr lang="en-US" err="1"/>
              <a:t>při</a:t>
            </a:r>
            <a:r>
              <a:rPr lang="en-US"/>
              <a:t> </a:t>
            </a:r>
            <a:r>
              <a:rPr lang="en-US" err="1"/>
              <a:t>vypracování</a:t>
            </a:r>
            <a:r>
              <a:rPr lang="en-US"/>
              <a:t> </a:t>
            </a:r>
            <a:r>
              <a:rPr lang="en-US" err="1"/>
              <a:t>řešení</a:t>
            </a:r>
          </a:p>
          <a:p>
            <a:r>
              <a:rPr lang="en-US" err="1"/>
              <a:t>Zásady</a:t>
            </a:r>
            <a:r>
              <a:rPr lang="en-US"/>
              <a:t> </a:t>
            </a:r>
            <a:r>
              <a:rPr lang="en-US" err="1"/>
              <a:t>používání</a:t>
            </a:r>
            <a:r>
              <a:rPr lang="en-US"/>
              <a:t> AI </a:t>
            </a:r>
            <a:r>
              <a:rPr lang="en-US" err="1"/>
              <a:t>nástrojů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61421-BE46-A909-BE44-46A8645363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F1F8D5A-12DA-47C8-B8B3-B4AB79B2432E}" type="datetime1">
              <a:rPr lang="en-US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5A9E-C8FA-323B-8F39-39BA2A340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3434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4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E4E6D-161A-372A-310A-6A2CDF164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700"/>
              <a:t>KONZULTACE A KONTAKT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BEBE1-DB04-E516-5C5A-A60D7A13A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F30AE-EAA3-6921-AD16-00E033247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/>
              <a:t>Konzultace </a:t>
            </a:r>
            <a:r>
              <a:rPr lang="en-US" sz="1500" err="1"/>
              <a:t>jsou</a:t>
            </a:r>
            <a:r>
              <a:rPr lang="en-US" sz="1500"/>
              <a:t> </a:t>
            </a:r>
            <a:r>
              <a:rPr lang="en-US" sz="1500" err="1"/>
              <a:t>vypisovány</a:t>
            </a:r>
            <a:r>
              <a:rPr lang="en-US" sz="1500"/>
              <a:t> </a:t>
            </a:r>
            <a:r>
              <a:rPr lang="en-US" sz="1500" err="1"/>
              <a:t>individuálně</a:t>
            </a:r>
            <a:r>
              <a:rPr lang="en-US" sz="1500"/>
              <a:t> po </a:t>
            </a:r>
            <a:r>
              <a:rPr lang="en-US" sz="1500" err="1"/>
              <a:t>předchozí</a:t>
            </a:r>
            <a:r>
              <a:rPr lang="en-US" sz="1500"/>
              <a:t> </a:t>
            </a:r>
            <a:r>
              <a:rPr lang="en-US" sz="1500" err="1"/>
              <a:t>domluvě</a:t>
            </a:r>
          </a:p>
          <a:p>
            <a:pPr>
              <a:lnSpc>
                <a:spcPct val="110000"/>
              </a:lnSpc>
            </a:pPr>
            <a:r>
              <a:rPr lang="en-US" sz="1500" err="1"/>
              <a:t>Kontaktovat</a:t>
            </a:r>
            <a:r>
              <a:rPr lang="en-US" sz="1500"/>
              <a:t> </a:t>
            </a:r>
            <a:r>
              <a:rPr lang="en-US" sz="1500" err="1"/>
              <a:t>mě</a:t>
            </a:r>
            <a:r>
              <a:rPr lang="en-US" sz="1500"/>
              <a:t> </a:t>
            </a:r>
            <a:r>
              <a:rPr lang="en-US" sz="1500" err="1"/>
              <a:t>můžete</a:t>
            </a:r>
            <a:r>
              <a:rPr lang="en-US" sz="1500"/>
              <a:t>:</a:t>
            </a: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500"/>
              <a:t>Mail</a:t>
            </a: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500" err="1"/>
              <a:t>Zpráva</a:t>
            </a:r>
            <a:r>
              <a:rPr lang="en-US" sz="1500"/>
              <a:t> v </a:t>
            </a:r>
            <a:r>
              <a:rPr lang="en-US" sz="1500" err="1"/>
              <a:t>Bakaláři</a:t>
            </a:r>
            <a:endParaRPr lang="en-US" sz="1500"/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500"/>
              <a:t>Chat v MS  Teams</a:t>
            </a: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500" err="1"/>
              <a:t>Kanál</a:t>
            </a:r>
            <a:r>
              <a:rPr lang="en-US" sz="1500"/>
              <a:t> v </a:t>
            </a:r>
            <a:r>
              <a:rPr lang="en-US" sz="1500" err="1"/>
              <a:t>týmu</a:t>
            </a:r>
            <a:r>
              <a:rPr lang="en-US" sz="1500"/>
              <a:t> MS  Teams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500" i="1" err="1"/>
              <a:t>Obvykle</a:t>
            </a:r>
            <a:r>
              <a:rPr lang="en-US" sz="1500" i="1"/>
              <a:t> </a:t>
            </a:r>
            <a:r>
              <a:rPr lang="en-US" sz="1500" i="1" err="1"/>
              <a:t>reaguji</a:t>
            </a:r>
            <a:r>
              <a:rPr lang="en-US" sz="1500" i="1"/>
              <a:t> </a:t>
            </a:r>
            <a:r>
              <a:rPr lang="en-US" sz="1500" i="1" err="1"/>
              <a:t>i</a:t>
            </a:r>
            <a:r>
              <a:rPr lang="en-US" sz="1500" i="1"/>
              <a:t> v </a:t>
            </a:r>
            <a:r>
              <a:rPr lang="en-US" sz="1500" i="1" err="1"/>
              <a:t>pozdních</a:t>
            </a:r>
            <a:r>
              <a:rPr lang="en-US" sz="1500" i="1"/>
              <a:t> </a:t>
            </a:r>
            <a:r>
              <a:rPr lang="en-US" sz="1500" i="1" err="1"/>
              <a:t>nočních</a:t>
            </a:r>
            <a:r>
              <a:rPr lang="en-US" sz="1500" i="1"/>
              <a:t> </a:t>
            </a:r>
            <a:r>
              <a:rPr lang="en-US" sz="1500" i="1" err="1"/>
              <a:t>hodinách</a:t>
            </a:r>
            <a:r>
              <a:rPr lang="en-US" sz="1500" i="1"/>
              <a:t>, ale </a:t>
            </a:r>
            <a:r>
              <a:rPr lang="en-US" sz="1500" i="1" err="1"/>
              <a:t>nespoléhejte</a:t>
            </a:r>
            <a:r>
              <a:rPr lang="en-US" sz="1500" i="1"/>
              <a:t> </a:t>
            </a:r>
            <a:r>
              <a:rPr lang="en-US" sz="1500" i="1" err="1"/>
              <a:t>na</a:t>
            </a:r>
            <a:r>
              <a:rPr lang="en-US" sz="1500" i="1"/>
              <a:t> to.</a:t>
            </a:r>
          </a:p>
          <a:p>
            <a:pPr>
              <a:lnSpc>
                <a:spcPct val="110000"/>
              </a:lnSpc>
            </a:pPr>
            <a:endParaRPr lang="en-US" sz="15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8BECD-2755-C325-E131-E2AD9C8733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82F97B3-BD1D-4645-8028-71F093629F83}" type="datetime1">
              <a:rPr lang="en-US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3A69-3C08-8A68-9A35-E85BD9419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3434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995277"/>
      </p:ext>
    </p:extLst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Orange Experience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range Experien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3FBD020F-64D3-42BF-A2BA-FB7237EC65A2}" vid="{0A40F0BF-A9BE-440A-B017-9F6336E851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7B051A-404C-4F12-9503-858FC873D6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AF7B8AD-EA17-41E7-9748-CAF0BD497148}">
  <ds:schemaRefs>
    <ds:schemaRef ds:uri="http://schemas.microsoft.com/office/2006/metadata/properties"/>
    <ds:schemaRef ds:uri="http://schemas.microsoft.com/office/infopath/2007/PartnerControls"/>
    <ds:schemaRef ds:uri="3eb61919-e7f8-4a11-8db4-9145fbd21da9"/>
    <ds:schemaRef ds:uri="09a37b55-a4d7-45bd-a73f-33c2b1d41898"/>
  </ds:schemaRefs>
</ds:datastoreItem>
</file>

<file path=customXml/itemProps3.xml><?xml version="1.0" encoding="utf-8"?>
<ds:datastoreItem xmlns:ds="http://schemas.openxmlformats.org/officeDocument/2006/customXml" ds:itemID="{D328D088-A1A6-4324-885A-49A6554E4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Orange Experience</vt:lpstr>
      <vt:lpstr>Úvodní hodina</vt:lpstr>
      <vt:lpstr>Pravidla hry</vt:lpstr>
      <vt:lpstr>Používání umělé inteligence</vt:lpstr>
      <vt:lpstr>KONZULTACE A KONTAKT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53</cp:revision>
  <dcterms:created xsi:type="dcterms:W3CDTF">2026-09-01T09:48:13Z</dcterms:created>
  <dcterms:modified xsi:type="dcterms:W3CDTF">2026-09-02T15:31:15Z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</Properties>
</file>