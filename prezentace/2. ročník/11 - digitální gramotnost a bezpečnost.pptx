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Každý scénář nejdřív přečtěte a nechte žáky ve dvojicích navrhnout reakci, teprve pak ukažte pravou část snímku.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SMS lze přesměrovat (SIM swap), proto je aplikace bezpečnější. Passkey je odolný proti phishingu, protože prohlížeč ho nabídne jen na správné doméně.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IČO ověříte v registru ARES (ares.gov.cz). Platba kartou dává možnost reklamovat platbu u banky (chargeback), převod 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Příklad: Norsk Hydro (2019) – ransomware zastavil část výroby hliníku, závody přešly na ruční řízení. Incidenty v ČR řeší NÚKIB a národní CSIRT.CZ.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Většinou je to e-mail – přes něj jde obnovit heslo ke všem ostatním službám.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 zveřejnění fotek žáků má škola souhlasy – před zveřejněním je vždy ověřte se správcem profilu. Na urážlivý komentář nereagovat v emocích, skrýt nebo nahlásit a řešit se správcem.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Bezpečnost: modelové situace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Hesla, digitální identitu a sociální sítě už znáte z 1. ročníku</a:t>
            </a:r>
          </a:p>
          <a:p>
            <a:r>
              <a:rPr sz="1800" b="0" i="0"/>
              <a:t>Dnes šest situací, které se reálně stávají</a:t>
            </a:r>
          </a:p>
          <a:p>
            <a:r>
              <a:rPr sz="1800" b="0" i="0"/>
              <a:t>U každé: jak ji poznat a co udělat hned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Podezřelý e-mail</a:t>
            </a:r>
            <a:r>
              <a:rPr sz="1050">
                <a:solidFill>
                  <a:srgbClr val="7A7A7A"/>
                </a:solidFill>
                <a:latin typeface="Arial"/>
              </a:rPr>
              <a:t>  phishing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0493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316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316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95118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Uniklé heslo</a:t>
            </a:r>
            <a:r>
              <a:rPr sz="1050">
                <a:solidFill>
                  <a:srgbClr val="7A7A7A"/>
                </a:solidFill>
                <a:latin typeface="Arial"/>
              </a:rPr>
              <a:t>  správce hesel a 2FA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5351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6174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6174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5808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Falešný e-shop</a:t>
            </a:r>
            <a:r>
              <a:rPr sz="1050">
                <a:solidFill>
                  <a:srgbClr val="7A7A7A"/>
                </a:solidFill>
                <a:latin typeface="Arial"/>
              </a:rPr>
              <a:t>  podvody při nákupu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0209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1032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1032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0666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Telefonát od „podpory“</a:t>
            </a:r>
            <a:r>
              <a:rPr sz="1050">
                <a:solidFill>
                  <a:srgbClr val="7A7A7A"/>
                </a:solidFill>
                <a:latin typeface="Arial"/>
              </a:rPr>
              <a:t>  sociální inženýrství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5067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5890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5890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5524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Převzatý účet kamaráda</a:t>
            </a:r>
            <a:r>
              <a:rPr sz="1050">
                <a:solidFill>
                  <a:srgbClr val="7A7A7A"/>
                </a:solidFill>
                <a:latin typeface="Arial"/>
              </a:rPr>
              <a:t>  když píše „známý“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9924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0747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0747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03821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Útok na firmu</a:t>
            </a:r>
            <a:r>
              <a:rPr sz="1050">
                <a:solidFill>
                  <a:srgbClr val="7A7A7A"/>
                </a:solidFill>
                <a:latin typeface="Arial"/>
              </a:rPr>
              <a:t>  ransomware ve výrobě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4782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5605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5605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5239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Váš model hrozeb</a:t>
            </a:r>
            <a:r>
              <a:rPr sz="1050">
                <a:solidFill>
                  <a:srgbClr val="7A7A7A"/>
                </a:solidFill>
                <a:latin typeface="Arial"/>
              </a:rPr>
              <a:t>  co chráním a před kým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9640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50463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50463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50097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Sdílený účet</a:t>
            </a:r>
            <a:r>
              <a:rPr sz="1050">
                <a:solidFill>
                  <a:srgbClr val="7A7A7A"/>
                </a:solidFill>
                <a:latin typeface="Arial"/>
              </a:rPr>
              <a:t>  správa profilu lycea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Podezřelý e-mail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„Váš účet Microsoft 365 bude zablokován. Ověřte se do 24 hodin.“</a:t>
            </a:r>
          </a:p>
          <a:p>
            <a:r>
              <a:rPr sz="1800" b="0" i="0"/>
              <a:t>Phishing tlačí na čas a strach</a:t>
            </a:r>
          </a:p>
          <a:p>
            <a:r>
              <a:rPr sz="1800" b="0" i="0"/>
              <a:t>Odkaz vede jinam, než tvrdí text – najeďte myší, neklikejte</a:t>
            </a:r>
          </a:p>
          <a:p>
            <a:pPr>
              <a:buNone/>
            </a:pPr>
          </a:p>
          <a:p>
            <a:r>
              <a:rPr sz="1800" i="1"/>
              <a:t>Co uděláte jako první?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Jak to poznat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Nátlak a krátký termín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Adresa odesílatele nesedí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Odkaz na cizí doménu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Žádost o heslo nebo kód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Check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 udělat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Neklikat, neodpovídat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Přihlásit se přímo přes web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Nahlásit správci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Smazat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Uniklé heslo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Přijde upozornění, že vaše heslo se objevilo v úniku dat</a:t>
            </a:r>
          </a:p>
          <a:p>
            <a:r>
              <a:rPr sz="1800" b="0" i="0"/>
              <a:t>Útočníci zkoušejí uniklá hesla na dalších službách</a:t>
            </a:r>
          </a:p>
          <a:p>
            <a:r>
              <a:rPr sz="1800" b="0" i="0"/>
              <a:t>Stejné heslo všude = jeden únik otevře všechno</a:t>
            </a:r>
          </a:p>
          <a:p>
            <a:pPr>
              <a:buNone/>
            </a:pPr>
          </a:p>
          <a:p>
            <a:r>
              <a:rPr sz="1800" i="1"/>
              <a:t>Kolik vašich účtů má stejné heslo?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 UDĚLAT HNED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18004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Změnit heslo na postižené službě i všude, kde bylo stejné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2862072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85516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2862072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Ověřit únik na haveibeenpwned.com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529584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653028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529584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Zapnout dvoufázové ověření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197096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320540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197096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Správce hesel – každé heslo jiné a dlouhé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400800" y="4864608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88052"/>
            <a:ext cx="310896" cy="310896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6949440" y="4864608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Kde to jde, přejít na přístupový klíč (passkey)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Úrovně ochrany účtu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Každá úroveň zastaví jiný typ útoku</a:t>
            </a:r>
          </a:p>
          <a:p>
            <a:r>
              <a:rPr sz="1800" b="0" i="0"/>
              <a:t>Passkey se nedá vylákat na falešném webu – je vázaný na doménu</a:t>
            </a:r>
          </a:p>
          <a:p>
            <a:r>
              <a:rPr sz="1800" b="0" i="0"/>
              <a:t>Kód z SMS nebo aplikace nikdy nikomu nediktujte</a:t>
            </a:r>
          </a:p>
          <a:p>
            <a:pPr>
              <a:buNone/>
            </a:pPr>
          </a:p>
          <a:p>
            <a:r>
              <a:rPr sz="1800" i="1"/>
              <a:t>Jakou úroveň má váš hlavní e-mail?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9260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Způsob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Před čím chrání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Stejné heslo všude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před ničím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Silné a jiné heslo pro každou službu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před únikem z jiné služby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+ 2FA kódem z SMS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před uhodnutým heslem, SMS lze ale přesměrovat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+ 2FA v aplikaci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lepší, kód zůstává v telefonu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Passkey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i před phishingem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Falešný e-shop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Herní notebook za polovinu ceny, platba jen převodem</a:t>
            </a:r>
          </a:p>
          <a:p>
            <a:r>
              <a:rPr sz="1800" b="0" i="0"/>
              <a:t>Podvodné e-shopy kopírují vzhled známých obchodů</a:t>
            </a:r>
          </a:p>
          <a:p>
            <a:r>
              <a:rPr sz="1800" b="0" i="0"/>
              <a:t>Ověřte dřív, než zaplatíte</a:t>
            </a:r>
          </a:p>
          <a:p>
            <a:pPr>
              <a:buNone/>
            </a:pPr>
          </a:p>
          <a:p>
            <a:r>
              <a:rPr sz="1800" i="1"/>
              <a:t>Kde ověříte, že firma opravdu existuje?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VAROVNÉ SIGNÁLY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18004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Cena výrazně pod trhem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2862072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985516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2862072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Chybí IČO, adresa nebo obchodní podmínky – ověřte firmu v ARES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529584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653028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529584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Doména nedávno registrovaná nebo podobná známé značce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197096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320540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197096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Platba jen převodem nebo kryptoměnou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400800" y="4864608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988052"/>
            <a:ext cx="310896" cy="310896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6949440" y="4864608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Recenze jen na samotném webu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Telefonát od „podpory“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Volá „technik Microsoftu“ nebo „banka“ – máte prý virus nebo napadený účet</a:t>
            </a:r>
          </a:p>
          <a:p>
            <a:r>
              <a:rPr sz="1800" b="0" i="0"/>
              <a:t>Chtějí instalaci vzdáleného přístupu (AnyDesk, TeamViewer)</a:t>
            </a:r>
          </a:p>
          <a:p>
            <a:r>
              <a:rPr sz="1800" b="0" i="0"/>
              <a:t>Banka po vás nikdy nebude chtít kódy ani převod na „bezpečný účet“</a:t>
            </a:r>
          </a:p>
          <a:p>
            <a:pPr>
              <a:buNone/>
            </a:pPr>
          </a:p>
          <a:p>
            <a:r>
              <a:rPr sz="1800" i="1"/>
              <a:t>Jak byste to vysvětlili prarodičům?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Varovné signály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Volají sami, nečekaně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Spěch a strach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Instalace vzdáleného přístupu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Kódy, hesla, „bezpečný účet“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Check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 udělat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Zavěsit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Zavolat na oficiální číslo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Nic neinstalovat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Upozornit blízké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Převzatý účet kamaráda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Kamarád píše: „Pošli mi kód, co ti přišel SMS, omylem jsem ho dal na tvoje číslo.“</a:t>
            </a:r>
          </a:p>
          <a:p>
            <a:r>
              <a:rPr sz="1800" b="0" i="0"/>
              <a:t>Útočník ovládá jeho účet a chce i váš</a:t>
            </a:r>
          </a:p>
          <a:p>
            <a:r>
              <a:rPr sz="1800" b="0" i="0"/>
              <a:t>Ověřte jiným kanálem – zavolejte mu</a:t>
            </a:r>
          </a:p>
          <a:p>
            <a:pPr>
              <a:buNone/>
            </a:pPr>
          </a:p>
          <a:p>
            <a:r>
              <a:rPr sz="1800" i="1"/>
              <a:t>Stalo se něco podobného vám nebo známým?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7403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57403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KDYŽ PŘEVEZMOU ÚČET VÁM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310003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31000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Obnovit přístup oficiálním postupem služby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782062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302895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314439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314439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302895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Změnit heslo a odhlásit všechna zařízení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616451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863339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97878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97878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863339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Zapnout 2FA a zkontrolovat e-mail pro obnovení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4450842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69773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81317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81317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69773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Upozornit kontakty, že účet byl zneužit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Útok na firmu: ransomware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Ve firmě, kde jste na praxi, ráno nenaběhne žádný počítač – na obrazovce je výkupné</a:t>
            </a:r>
          </a:p>
          <a:p>
            <a:r>
              <a:rPr sz="1800" b="0" i="0"/>
              <a:t>Ransomware zašifruje data a zastaví i výrobu, pokud jsou stroje v síti</a:t>
            </a:r>
          </a:p>
          <a:p>
            <a:r>
              <a:rPr sz="1800" b="0" i="0"/>
              <a:t>Obrana: zálohy, aktualizace, oddělená síť strojů, opatrní lidé</a:t>
            </a:r>
          </a:p>
          <a:p>
            <a:pPr>
              <a:buNone/>
            </a:pPr>
          </a:p>
          <a:p>
            <a:r>
              <a:rPr sz="1800" i="1"/>
              <a:t>Kdo je ve firmě nejslabší článek?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Vstup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phishing, uniklé heslo, stará verze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41401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Šíření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po síti na další počítače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41401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Zašifrování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data, výkresy, programy CNC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41401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Výkupné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a hrozba zveřejnění dat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66160"/>
            <a:ext cx="5303520" cy="10972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Hdd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9352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66160"/>
            <a:ext cx="47548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Záloha 3-2-1: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3 kopie dat, 2 různá média, 1 mimo firmu a mimo síť.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400800" y="484632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Info_6E786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5033772"/>
            <a:ext cx="310896" cy="310896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6876288" y="4846320"/>
            <a:ext cx="475488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Incidenty v ČR řeší NÚKIB a CSIRT.CZ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Váš model hrozeb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Bezpečnost není seznam pravidel, ale odpovědi na čtyři otázky</a:t>
            </a:r>
          </a:p>
          <a:p>
            <a:r>
              <a:rPr sz="1800" b="0" i="0"/>
              <a:t>Všechno chránit stejně nejde – rozhodněte, co je nejcennější</a:t>
            </a:r>
          </a:p>
          <a:p>
            <a:r>
              <a:rPr sz="1800" b="0" i="0"/>
              <a:t>Model hrozeb dělají firmy i jednotlivci</a:t>
            </a:r>
          </a:p>
          <a:p>
            <a:pPr>
              <a:buNone/>
            </a:pPr>
          </a:p>
          <a:p>
            <a:r>
              <a:rPr sz="1800" i="1"/>
              <a:t>Který váš účet je nejcennější a proč?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51790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51790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ČTYŘI OTÁZKY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310003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31000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Co chráním?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e-mail, fotky, portfolio, peníze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782062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302895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314439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314439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302895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Před kým?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náhodný podvodník, někdo, kdo mě zná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616451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863339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97878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97878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863339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Co se stane,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když o to přijdu?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450842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69773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81317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81317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69773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Co udělám teď?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2FA, záloha, jiné heslo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Správa sdíleného účtu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Scénář:</a:t>
            </a:r>
            <a:r>
              <a:rPr sz="1800" b="0" i="0"/>
              <a:t> Profil lycea spravuje víc lidí. Někdo navrhne poslat heslo do skupinového chatu</a:t>
            </a:r>
          </a:p>
          <a:p>
            <a:r>
              <a:rPr sz="1800" b="0" i="0"/>
              <a:t>Sdílené heslo = nevíte, kdo co zveřejnil, a po odchodu člena ho musíte měnit</a:t>
            </a:r>
          </a:p>
          <a:p>
            <a:r>
              <a:rPr sz="1800" b="0" i="0"/>
              <a:t>Lepší: vlastní účty s rolemi (Meta Business Suite) a zapnuté 2FA</a:t>
            </a:r>
          </a:p>
          <a:p>
            <a:pPr>
              <a:buNone/>
            </a:pPr>
          </a:p>
          <a:p>
            <a:r>
              <a:rPr sz="1800" i="1"/>
              <a:t>Co uděláte, když se pod příspěvkem objeví urážlivý komentář?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NEŽ ZVEŘEJNÍTE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18004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Souhlasí všichni, kdo jsou na fotce nebo videu?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2862072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985516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2862072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Nejsou vidět osobní údaje – jména na papírech, rozvrhy, obrazovky s daty?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529584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653028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529584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Neprozradí příspěvek, kdo bude kdy kde?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197096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320540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197096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Prošel příspěvek schválením správce profilu?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400800" y="4864608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988052"/>
            <a:ext cx="310896" cy="310896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6949440" y="4864608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Víte, jak reagovat na negativní komentář?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Kyberbezpečnost hledá lidi ze všech oborů</a:t>
            </a:r>
          </a:p>
          <a:p>
            <a:r>
              <a:rPr sz="1800" b="0" i="0"/>
              <a:t>Nejčastější vstup útočníka je člověk, ne technika</a:t>
            </a:r>
          </a:p>
          <a:p>
            <a:r>
              <a:rPr sz="1800" b="1" i="0"/>
              <a:t>Do portfolia:</a:t>
            </a:r>
            <a:r>
              <a:rPr sz="1800" b="0" i="0"/>
              <a:t> zkontrolujte, že neobsahuje osobní údaje, které tam nepatří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Průmyslové systémy (OT)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Chytrá zařízení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Přístupové systémy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Bezpečnostní analytik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Penetrační tester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Správa identit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Ochrana know-how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Bezpečnost linek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Řízení rizik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jste připraveni?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Vyberte si jeden scénář, který by se mohl stát vám</a:t>
            </a:r>
          </a:p>
          <a:p>
            <a:r>
              <a:rPr sz="1800" b="0" i="0"/>
              <a:t>Projděte se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Poznali byste phishing podle signálů ze scénáře 1?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Máte na hlavním e-mailu zapnuté dvoufázové ověření?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Kolik vašich účtů sdílí stejné heslo?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uděláte, když vám kamarád napíše o kód?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Který účet je pro vás nejcennější a jak ho chráníte?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