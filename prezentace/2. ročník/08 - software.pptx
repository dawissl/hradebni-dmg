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Otevřete Správce úloh (Ctrl+Shift+Esc), záložka Podrobnosti – typicky 150–300 procesů. Ukažte také záložku Aplikace po spuštění.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Velcí výrobci CAD (Autodesk, Dassault Systèmes) nabízejí studentské licence zdarma. Svobodné alternativy: FreeCAD, KiCad, Inkscape, GIMP.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WannaCry (květen 2017) zneužil chybu, na kterou Microsoft vydal záplatu v březnu 2017. Zasáhl mimo jiné britské nemocnice a zastavil výrobu v některých automobilkách.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VirtualBox je zdarma. Virtualizace musí být povolená v UEFI (Intel VT-x / AMD-V) – návaznost na první blok.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Software: od zapnutí k ploše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Typy softwaru a operačních systémů už znáte z 1. ročníku</a:t>
            </a:r>
          </a:p>
          <a:p>
            <a:r>
              <a:rPr sz="1800" b="0" i="0"/>
              <a:t>Teď: co se děje při startu, jak systém spravovat a bezpečně používat</a:t>
            </a:r>
          </a:p>
          <a:p>
            <a:r>
              <a:rPr sz="1800" b="0" i="0"/>
              <a:t>A co dělat, když něco nefunguje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Bootování</a:t>
            </a:r>
            <a:r>
              <a:rPr sz="1050">
                <a:solidFill>
                  <a:srgbClr val="7A7A7A"/>
                </a:solidFill>
                <a:latin typeface="Arial"/>
              </a:rPr>
              <a:t>  UEFI, zavaděč, jádro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1122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9456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15798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OS na pozadí</a:t>
            </a:r>
            <a:r>
              <a:rPr sz="1050">
                <a:solidFill>
                  <a:srgbClr val="7A7A7A"/>
                </a:solidFill>
                <a:latin typeface="Arial"/>
              </a:rPr>
              <a:t>  procesy, paměť, soubory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66090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74320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70662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Bezpečná instalace</a:t>
            </a:r>
            <a:r>
              <a:rPr sz="1050">
                <a:solidFill>
                  <a:srgbClr val="7A7A7A"/>
                </a:solidFill>
                <a:latin typeface="Arial"/>
              </a:rPr>
              <a:t>  odkud a jak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20954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291839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29183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25526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Aktualizace</a:t>
            </a:r>
            <a:r>
              <a:rPr sz="1050">
                <a:solidFill>
                  <a:srgbClr val="7A7A7A"/>
                </a:solidFill>
                <a:latin typeface="Arial"/>
              </a:rPr>
              <a:t>  proč se záplatuje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758183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84048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80390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Oprávnění</a:t>
            </a:r>
            <a:r>
              <a:rPr sz="1050">
                <a:solidFill>
                  <a:srgbClr val="7A7A7A"/>
                </a:solidFill>
                <a:latin typeface="Arial"/>
              </a:rPr>
              <a:t>  proč nepracovat jako správce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43068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3891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3525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Virtualizace</a:t>
            </a:r>
            <a:r>
              <a:rPr sz="1050">
                <a:solidFill>
                  <a:srgbClr val="7A7A7A"/>
                </a:solidFill>
                <a:latin typeface="Arial"/>
              </a:rPr>
              <a:t>  počítač v počítači</a:t>
            </a:r>
          </a:p>
        </p:txBody>
      </p:sp>
      <p:cxnSp>
        <p:nvCxnSpPr>
          <p:cNvPr id="925" name="Connector 924"/>
          <p:cNvCxnSpPr/>
          <p:nvPr/>
        </p:nvCxnSpPr>
        <p:spPr>
          <a:xfrm>
            <a:off x="6903720" y="48554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6" name="Oval 925"/>
          <p:cNvSpPr/>
          <p:nvPr/>
        </p:nvSpPr>
        <p:spPr>
          <a:xfrm>
            <a:off x="6400800" y="4937759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7" name="TextBox 926"/>
          <p:cNvSpPr txBox="1"/>
          <p:nvPr/>
        </p:nvSpPr>
        <p:spPr>
          <a:xfrm>
            <a:off x="6355080" y="493775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903720" y="490118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Řešení problémů</a:t>
            </a:r>
            <a:r>
              <a:rPr sz="1050">
                <a:solidFill>
                  <a:srgbClr val="7A7A7A"/>
                </a:solidFill>
                <a:latin typeface="Arial"/>
              </a:rPr>
              <a:t>  od příznaku k příčině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Bootování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Po zapnutí běží nejdřív firmware základní desky – UEFI (dříve BIOS)</a:t>
            </a:r>
          </a:p>
          <a:p>
            <a:r>
              <a:rPr sz="1800" b="0" i="0"/>
              <a:t>Zavaděč najde systém na disku a spustí jeho jádro</a:t>
            </a:r>
          </a:p>
          <a:p>
            <a:r>
              <a:rPr sz="1800" b="1" i="0"/>
              <a:t>Secure Boot</a:t>
            </a:r>
            <a:r>
              <a:rPr sz="1800" b="0" i="0"/>
              <a:t> hlídá, aby se nespustil podvržený zavaděč</a:t>
            </a:r>
          </a:p>
          <a:p>
            <a:pPr>
              <a:buNone/>
            </a:pPr>
          </a:p>
          <a:p>
            <a:r>
              <a:rPr sz="1800" i="1"/>
              <a:t>Proč se do UEFI dostanete jen hned po zapnutí?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189988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2189988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OD TLAČÍTKA K PLOŠE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22656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22656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Napájení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a test hardwaru (POST)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615184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2862072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2894076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2894076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2862072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UEFI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najde zaváděcí disk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282696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529584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561588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56158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529584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Zavaděč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(Windows Boot Manager, GRUB) načte jádro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950208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197096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229099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229099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197096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Jádro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spustí ovladače a služby</a:t>
            </a:r>
          </a:p>
        </p:txBody>
      </p:sp>
      <p:pic>
        <p:nvPicPr>
          <p:cNvPr id="923" name="Picture 92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4617720"/>
            <a:ext cx="219456" cy="219456"/>
          </a:xfrm>
          <a:prstGeom prst="rect">
            <a:avLst/>
          </a:prstGeom>
        </p:spPr>
      </p:pic>
      <p:sp>
        <p:nvSpPr>
          <p:cNvPr id="924" name="Rounded Rectangle 923"/>
          <p:cNvSpPr/>
          <p:nvPr/>
        </p:nvSpPr>
        <p:spPr>
          <a:xfrm>
            <a:off x="6400800" y="4864608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Oval 924"/>
          <p:cNvSpPr/>
          <p:nvPr/>
        </p:nvSpPr>
        <p:spPr>
          <a:xfrm>
            <a:off x="6510528" y="489661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6464808" y="489661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49440" y="4864608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Přihlášení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uživatele a plocha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Co dělá OS na pozadí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Procesy:</a:t>
            </a:r>
            <a:r>
              <a:rPr sz="1800" b="0" i="0"/>
              <a:t> systém střídá stovky programů na několika jádrech</a:t>
            </a:r>
          </a:p>
          <a:p>
            <a:r>
              <a:rPr sz="1800" b="1" i="0"/>
              <a:t>Paměť:</a:t>
            </a:r>
            <a:r>
              <a:rPr sz="1800" b="0" i="0"/>
              <a:t> každý program má svůj prostor, cizí nesmí přepsat</a:t>
            </a:r>
          </a:p>
          <a:p>
            <a:r>
              <a:rPr sz="1800" b="1" i="0"/>
              <a:t>Souborový systém:</a:t>
            </a:r>
            <a:r>
              <a:rPr sz="1800" b="0" i="0"/>
              <a:t> NTFS, ext4, APFS, na flashkách FAT32 nebo exFAT</a:t>
            </a:r>
          </a:p>
          <a:p>
            <a:pPr>
              <a:buNone/>
            </a:pPr>
          </a:p>
          <a:p>
            <a:r>
              <a:rPr sz="1800" i="1"/>
              <a:t>Kolik procesů teď běží ve vašem počítači?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Nástroj ve Windows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 čemu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Správce úloh (Ctrl+Shift+Esc)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procesy, výkon, programy po startu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Monitor prostředků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podrobně disk, síť, paměť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Prohlížeč událostí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záznamy o chybách a pádech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Správa disků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oddíly a souborové systémy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Bezpečná instalace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Nejbezpečnější zdroj: oficiální web výrobce nebo obchod s aplikacemi</a:t>
            </a:r>
          </a:p>
          <a:p>
            <a:r>
              <a:rPr sz="1800" b="0" i="0"/>
              <a:t>„Zdarma“ z neznámého webu = často s přibaleným malwarem</a:t>
            </a:r>
          </a:p>
          <a:p>
            <a:r>
              <a:rPr sz="1800" b="0" i="0"/>
              <a:t>Při instalaci čtěte a odškrtněte přibalené programy</a:t>
            </a:r>
          </a:p>
          <a:p>
            <a:pPr>
              <a:buNone/>
            </a:pPr>
          </a:p>
          <a:p>
            <a:r>
              <a:rPr sz="1800" i="1"/>
              <a:t>Odkud jste stáhli poslední program?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02" name="Picture 901" descr="FaTimes_D9342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903" name="TextBox 902"/>
          <p:cNvSpPr txBox="1"/>
          <p:nvPr/>
        </p:nvSpPr>
        <p:spPr>
          <a:xfrm>
            <a:off x="685800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ŠPATNĚ</a:t>
            </a:r>
          </a:p>
        </p:txBody>
      </p:sp>
      <p:pic>
        <p:nvPicPr>
          <p:cNvPr id="904" name="Picture 903" descr="FaCheck_2E9E4F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691640"/>
            <a:ext cx="274320" cy="274320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9509760" y="1673352"/>
            <a:ext cx="2194560" cy="3108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SPRÁVNĚ</a:t>
            </a:r>
          </a:p>
        </p:txBody>
      </p:sp>
      <p:cxnSp>
        <p:nvCxnSpPr>
          <p:cNvPr id="906" name="Connector 905"/>
          <p:cNvCxnSpPr/>
          <p:nvPr/>
        </p:nvCxnSpPr>
        <p:spPr>
          <a:xfrm>
            <a:off x="9052560" y="1691640"/>
            <a:ext cx="0" cy="3776472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6400800" y="2103120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649224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Vyhledat „CAD zdarma ke stažení“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9144000" y="2148839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Studentská licence přímo od výrobce</a:t>
            </a:r>
          </a:p>
        </p:txBody>
      </p:sp>
      <p:cxnSp>
        <p:nvCxnSpPr>
          <p:cNvPr id="910" name="Connector 909"/>
          <p:cNvCxnSpPr/>
          <p:nvPr/>
        </p:nvCxnSpPr>
        <p:spPr>
          <a:xfrm>
            <a:off x="6400800" y="2944368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649224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Crack nebo keygen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144000" y="2990087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Svobodná alternativa (FreeCAD, KiCad)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400800" y="3785615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TextBox 913"/>
          <p:cNvSpPr txBox="1"/>
          <p:nvPr/>
        </p:nvSpPr>
        <p:spPr>
          <a:xfrm>
            <a:off x="649224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Instalovat „Další, Další, Dokončit“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9144000" y="3831335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Vlastní instalace, odškrtnout doplňky</a:t>
            </a:r>
          </a:p>
        </p:txBody>
      </p:sp>
      <p:cxnSp>
        <p:nvCxnSpPr>
          <p:cNvPr id="916" name="Connector 915"/>
          <p:cNvCxnSpPr/>
          <p:nvPr/>
        </p:nvCxnSpPr>
        <p:spPr>
          <a:xfrm>
            <a:off x="6400800" y="4626864"/>
            <a:ext cx="530352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7" name="TextBox 916"/>
          <p:cNvSpPr txBox="1"/>
          <p:nvPr/>
        </p:nvSpPr>
        <p:spPr>
          <a:xfrm>
            <a:off x="649224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Stahovací portál s reklamami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9144000" y="4672584"/>
            <a:ext cx="2468880" cy="7498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Oficiální web, ověřená adresa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Aktualizace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Zranitelnost:</a:t>
            </a:r>
            <a:r>
              <a:rPr sz="1800" b="0" i="0"/>
              <a:t> chyba, kterou může útočník zneužít</a:t>
            </a:r>
          </a:p>
          <a:p>
            <a:r>
              <a:rPr sz="1800" b="0" i="0"/>
              <a:t>Po vydání opravy útočníci hledají, kdo ji ještě nemá</a:t>
            </a:r>
          </a:p>
          <a:p>
            <a:r>
              <a:rPr sz="1800" b="0" i="0"/>
              <a:t>Aktualizovat: systém, prohlížeč, programy i firmware routeru a tiskárny</a:t>
            </a:r>
          </a:p>
          <a:p>
            <a:pPr>
              <a:buNone/>
            </a:pPr>
          </a:p>
          <a:p>
            <a:r>
              <a:rPr sz="1800" i="1"/>
              <a:t>Kdy jste naposledy aktualizovali domácí router?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Chyba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někdo ji objeví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5" y="241401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Záplata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výrobce vydá opravu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41401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Rozbor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útočníci zjistí, co oprava řeší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241401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Útok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na zařízení bez aktualizace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566160"/>
            <a:ext cx="5303520" cy="10972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Exclamation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9352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566160"/>
            <a:ext cx="4754880" cy="10972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WannaCry (2017) zasáhl hlavně počítače bez dva měsíce staré záplaty – i nemocnice a továrny.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6400800" y="4846320"/>
            <a:ext cx="5303520" cy="6858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heck_6E7868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5033772"/>
            <a:ext cx="310896" cy="310896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6876288" y="4846320"/>
            <a:ext cx="4754880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Automatické aktualizace nechte zapnuté.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Oprávnění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Běžná práce pod standardním účtem, správce jen na instalace</a:t>
            </a:r>
          </a:p>
          <a:p>
            <a:r>
              <a:rPr sz="1800" b="0" i="0"/>
              <a:t>Malware získá stejná práva jako uživatel, který ho spustil</a:t>
            </a:r>
          </a:p>
          <a:p>
            <a:r>
              <a:rPr sz="1800" b="0" i="0"/>
              <a:t>Výzva UAC není otravování – je to poslední kontrola</a:t>
            </a:r>
          </a:p>
          <a:p>
            <a:pPr>
              <a:buNone/>
            </a:pPr>
          </a:p>
          <a:p>
            <a:r>
              <a:rPr sz="1800" i="1"/>
              <a:t>Pod jakým účtem pracujete doma?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User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Standardní účet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Běžná práce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Instalace jen s heslem správce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Chyba nepoškodí systém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Na každý den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UserShield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Správce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Instalace a nastavení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Změny celého systému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Malware má volnou ruku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Jen když je potřeba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Virtualizace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Virtuální počítač (VM):</a:t>
            </a:r>
            <a:r>
              <a:rPr sz="1800" b="0" i="0"/>
              <a:t> počítač simulovaný softwarem</a:t>
            </a:r>
          </a:p>
          <a:p>
            <a:r>
              <a:rPr sz="1800" b="0" i="0"/>
              <a:t>Bezpečné prostředí na zkoušení – rozbitý systém obnovíte ze snímku</a:t>
            </a:r>
          </a:p>
          <a:p>
            <a:r>
              <a:rPr sz="1800" b="0" i="0"/>
              <a:t>Servery v cloudu jsou většinou virtuální stroje</a:t>
            </a:r>
          </a:p>
          <a:p>
            <a:pPr>
              <a:buNone/>
            </a:pPr>
          </a:p>
          <a:p>
            <a:r>
              <a:rPr sz="1800" i="1"/>
              <a:t>Co byste ve VM vyzkoušeli, co si na svém PC netroufnete?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51790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51790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 ČEMU JE VM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Linux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Zkušební Linux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Nainstalujte Linux vedle Windows bez rizika – ve VirtualBoxu.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History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Starý software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Program pro starší systém, třeba ovládání staršího stroje.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Camera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Snímky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Uložte stav, experimentujte a jedním klikem se vraťte.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Cloud_ED6845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Cloud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Jeden fyzický server, desítky virtuálních pro různé zákazníky.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7 · Řešení problémů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Postupujte jako při opravě stroje: příznak → domněnka → ověření</a:t>
            </a:r>
          </a:p>
          <a:p>
            <a:r>
              <a:rPr sz="1800" b="0" i="0"/>
              <a:t>Nejdřív nejjednodušší příčiny</a:t>
            </a:r>
          </a:p>
          <a:p>
            <a:r>
              <a:rPr sz="1800" b="0" i="0"/>
              <a:t>Zapisujte si, co jste změnili</a:t>
            </a:r>
          </a:p>
          <a:p>
            <a:pPr>
              <a:buNone/>
            </a:pPr>
          </a:p>
          <a:p>
            <a:r>
              <a:rPr sz="1800" i="1"/>
              <a:t>Co uděláte, když se počítač po aktualizaci nespustí?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941832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941832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POSTUP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194560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5" name="Oval 904"/>
          <p:cNvSpPr/>
          <p:nvPr/>
        </p:nvSpPr>
        <p:spPr>
          <a:xfrm>
            <a:off x="6510528" y="222656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464808" y="222656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949440" y="2194560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Popište příznak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přesně: co, kdy, po čem</a:t>
            </a:r>
          </a:p>
        </p:txBody>
      </p:sp>
      <p:pic>
        <p:nvPicPr>
          <p:cNvPr id="908" name="Picture 90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2615184"/>
            <a:ext cx="219456" cy="219456"/>
          </a:xfrm>
          <a:prstGeom prst="rect">
            <a:avLst/>
          </a:prstGeom>
        </p:spPr>
      </p:pic>
      <p:sp>
        <p:nvSpPr>
          <p:cNvPr id="909" name="Rounded Rectangle 908"/>
          <p:cNvSpPr/>
          <p:nvPr/>
        </p:nvSpPr>
        <p:spPr>
          <a:xfrm>
            <a:off x="6400800" y="2862072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Oval 909"/>
          <p:cNvSpPr/>
          <p:nvPr/>
        </p:nvSpPr>
        <p:spPr>
          <a:xfrm>
            <a:off x="6510528" y="2894076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464808" y="2894076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49440" y="2862072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Restart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a nejjednodušší příčiny: kabel, místo na disku</a:t>
            </a:r>
          </a:p>
        </p:txBody>
      </p:sp>
      <p:pic>
        <p:nvPicPr>
          <p:cNvPr id="913" name="Picture 91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282696"/>
            <a:ext cx="219456" cy="219456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6400800" y="3529584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3561588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356158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529584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Správce úloh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a Prohlížeč událostí</a:t>
            </a:r>
          </a:p>
        </p:txBody>
      </p:sp>
      <p:pic>
        <p:nvPicPr>
          <p:cNvPr id="918" name="Picture 917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3950208"/>
            <a:ext cx="219456" cy="219456"/>
          </a:xfrm>
          <a:prstGeom prst="rect">
            <a:avLst/>
          </a:prstGeom>
        </p:spPr>
      </p:pic>
      <p:sp>
        <p:nvSpPr>
          <p:cNvPr id="919" name="Rounded Rectangle 918"/>
          <p:cNvSpPr/>
          <p:nvPr/>
        </p:nvSpPr>
        <p:spPr>
          <a:xfrm>
            <a:off x="6400800" y="4197096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Oval 919"/>
          <p:cNvSpPr/>
          <p:nvPr/>
        </p:nvSpPr>
        <p:spPr>
          <a:xfrm>
            <a:off x="6510528" y="4229099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6464808" y="4229099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949440" y="4197096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Nouzový režim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– spustí jen nutné ovladače</a:t>
            </a:r>
          </a:p>
        </p:txBody>
      </p:sp>
      <p:pic>
        <p:nvPicPr>
          <p:cNvPr id="923" name="Picture 922" descr="FaChevronDown_ED684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2" y="4617720"/>
            <a:ext cx="219456" cy="219456"/>
          </a:xfrm>
          <a:prstGeom prst="rect">
            <a:avLst/>
          </a:prstGeom>
        </p:spPr>
      </p:pic>
      <p:sp>
        <p:nvSpPr>
          <p:cNvPr id="924" name="Rounded Rectangle 923"/>
          <p:cNvSpPr/>
          <p:nvPr/>
        </p:nvSpPr>
        <p:spPr>
          <a:xfrm>
            <a:off x="6400800" y="4864608"/>
            <a:ext cx="5303520" cy="411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Oval 924"/>
          <p:cNvSpPr/>
          <p:nvPr/>
        </p:nvSpPr>
        <p:spPr>
          <a:xfrm>
            <a:off x="6510528" y="4896612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6464808" y="489661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949440" y="4864608"/>
            <a:ext cx="4663440" cy="411479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Arial"/>
              </a:rPr>
              <a:t>Obnova:</a:t>
            </a:r>
            <a:r>
              <a:rPr sz="1200" b="0" i="0">
                <a:solidFill>
                  <a:srgbClr val="333333"/>
                </a:solidFill>
                <a:latin typeface="Arial"/>
              </a:rPr>
              <a:t> bod obnovení, odinstalace aktualizace, reinstalace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Správu systémů potřebuje každá firma</a:t>
            </a:r>
          </a:p>
          <a:p>
            <a:r>
              <a:rPr sz="1800" b="0" i="0"/>
              <a:t>Software řídí i stroje a výrobní linky</a:t>
            </a:r>
          </a:p>
          <a:p>
            <a:r>
              <a:rPr sz="1800" b="1" i="0"/>
              <a:t>Do portfolia:</a:t>
            </a:r>
            <a:r>
              <a:rPr sz="1800" b="0" i="0"/>
              <a:t> popište, jak jste nainstalovali a nastavili prostředí pro svůj projekt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Firmware a ovladače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Řídicí systémy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Diagnostika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Správce systémů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Podpora uživatelů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Kyberbezpečnost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Správa CAD/CAM stanic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Řídicí systémy CNC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Průmyslová PC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váš počítač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Vezměte počítač, na kterém pracujete v odborném bloku</a:t>
            </a:r>
          </a:p>
          <a:p>
            <a:r>
              <a:rPr sz="1800" b="0" i="0"/>
              <a:t>Projděte ho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Odkud a s jakou licencí máte software pro odborný blok?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Máte aktualizovaný systém, prohlížeč i router?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Pracujete pod standardním účtem?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Jak budete postupovat, když počítač nenaběhne?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byste chtěli vyzkoušet ve virtuálním počítači?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