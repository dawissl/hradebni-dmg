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AF137-F5E4-6CD0-2C72-90489443E9F6}" v="2" dt="2026-09-24T09:50:57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3B7AF137-F5E4-6CD0-2C72-90489443E9F6}"/>
    <pc:docChg chg="modSld">
      <pc:chgData name="Sládeček David" userId="S::sladecek@hradebni.cz::474d93f0-3a32-49cc-b837-47806091b590" providerId="AD" clId="Web-{3B7AF137-F5E4-6CD0-2C72-90489443E9F6}" dt="2026-09-24T09:50:57.569" v="1" actId="20577"/>
      <pc:docMkLst>
        <pc:docMk/>
      </pc:docMkLst>
      <pc:sldChg chg="modSp">
        <pc:chgData name="Sládeček David" userId="S::sladecek@hradebni.cz::474d93f0-3a32-49cc-b837-47806091b590" providerId="AD" clId="Web-{3B7AF137-F5E4-6CD0-2C72-90489443E9F6}" dt="2026-09-24T09:50:57.569" v="1" actId="20577"/>
        <pc:sldMkLst>
          <pc:docMk/>
          <pc:sldMk cId="0" sldId="274"/>
        </pc:sldMkLst>
        <pc:spChg chg="mod">
          <ac:chgData name="Sládeček David" userId="S::sladecek@hradebni.cz::474d93f0-3a32-49cc-b837-47806091b590" providerId="AD" clId="Web-{3B7AF137-F5E4-6CD0-2C72-90489443E9F6}" dt="2026-09-24T09:50:57.569" v="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5D27F-1F31-4BE3-8CDF-23166E820B30}" type="datetimeFigureOut">
              <a:t>24.09.2026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165A1-8B5C-4998-B327-EB8D7614E2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Odpověď: 3 miliardy. Moderní procesory zvládnou i několik instrukcí za takt, ale princip zůstává.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Podruhé jsou data programu už v RAM (mezipaměť systému), nemusí se číst z disku.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Aktivita ve skupinách: sestavte počítač pro zadaný účel (kancelář, CAD, střih videa, hry) za 25 000 Kč podle aktuálních cen na e-shopu. Zdůvodněte, kde jste šetřili.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Odpověď: desítky, u moderních aut běžně 50 až přes 100 řídicích jednotek (ECU).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Zdroje: IEA, Energy and AI (2025) – datová centra cca 1,5 % světové spotřeby elektřiny v roce 2024; Global E-waste Monitor 2024 – 62 mil. tun e-odpadu v roce 2022, prokazatelně recyklováno 22,3 %.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F695BADC-4FD4-44DC-8CD5-A8F9C57A8D9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97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9E410-BE9E-427B-BCB5-604E33C4348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71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D666FC17-48E9-4EB3-BB0E-C81F4FBF1D6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15553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DFE1FB2C-1600-49CF-ABE3-F2743AC651C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2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205D05A-BA39-4B06-B20A-BF32BF994A6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4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6C2206C6-C6B2-4E06-A7AA-7F308C2F851D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98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D1188C7A-78DB-4967-8643-716598F25D9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387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94BC2-7D23-4352-8AF3-6A490B666FB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43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4758A600-6D87-4303-8A2F-171F72E2237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3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FBFC4637-11C9-448C-8D4C-0CD0AE46C94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70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E3CBC-A2D6-42D3-976A-174CF7E26BA0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1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917E8D86-1037-438D-973A-F8D03A01BF1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8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B0ECE3E5-DEB1-48A2-A1A9-7ABBE9A784F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63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2B950759-980B-4783-B58D-96B69BC77CA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30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D8CBF3-D33E-488B-BE09-B302C3504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03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49885C97-4180-47D6-BA3E-83C74E1B190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92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20E7-9D70-4C91-9C55-B922EC8FF4E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5289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A25B1B0E-4CBA-421A-9FF9-BD907EE313C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5392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E07D1D-D1D5-479B-A8E5-C908666570C8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68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907655-BDED-4A88-9727-947E0245664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941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348C769-7AB4-4647-BD58-CC3E9CA66889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0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0EDEC-0890-4E6D-9DE0-ECAF543851A7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2027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88318-BA47-4AD0-805B-25EB53D81BB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9546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D3F20-2AB6-4A04-8E99-A7FB006776B6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907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2087-1351-4A66-BC4B-B8C73F209E6A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647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A8EB468F-DE53-43FF-8B87-9F03EBF19C2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5445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7D9A748-B116-46F1-81D5-0BE225FE4E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6402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24.09.2026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653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82B9AEC8-204B-4AD5-8041-BCAF36A74EBE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27F8DDA4-3B80-4E8A-A8F5-521F73BF9127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72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hf hdr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Hardware: co se děje uvnitř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Digitální a mediální gramotnost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Co nás čeká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Komponenty, architektury a paměti už znáte z 1. ročníku</a:t>
            </a:r>
          </a:p>
          <a:p>
            <a:r>
              <a:rPr sz="1800" b="0" i="0"/>
              <a:t>Teď jdeme dovnitř: jak procesor pracuje a co znamenají čísla ve specifikaci</a:t>
            </a:r>
          </a:p>
          <a:p>
            <a:r>
              <a:rPr sz="1800" b="0" i="0"/>
              <a:t>A kde všude jsou počítače, i když nevypadají jako počítač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902" name="Oval 901"/>
          <p:cNvSpPr/>
          <p:nvPr/>
        </p:nvSpPr>
        <p:spPr>
          <a:xfrm>
            <a:off x="6400800" y="164592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355080" y="16459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903720" y="16093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Cyklus procesoru</a:t>
            </a:r>
            <a:r>
              <a:rPr sz="1050">
                <a:solidFill>
                  <a:srgbClr val="7A7A7A"/>
                </a:solidFill>
                <a:latin typeface="Arial"/>
              </a:rPr>
              <a:t>  načti, dekóduj, proveď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903720" y="211226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Oval 905"/>
          <p:cNvSpPr/>
          <p:nvPr/>
        </p:nvSpPr>
        <p:spPr>
          <a:xfrm>
            <a:off x="6400800" y="219456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355080" y="219456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903720" y="215798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Takt, jádra, vlákna</a:t>
            </a:r>
            <a:r>
              <a:rPr sz="1050">
                <a:solidFill>
                  <a:srgbClr val="7A7A7A"/>
                </a:solidFill>
                <a:latin typeface="Arial"/>
              </a:rPr>
              <a:t>  čtení specifikace</a:t>
            </a:r>
          </a:p>
        </p:txBody>
      </p:sp>
      <p:cxnSp>
        <p:nvCxnSpPr>
          <p:cNvPr id="909" name="Connector 908"/>
          <p:cNvCxnSpPr/>
          <p:nvPr/>
        </p:nvCxnSpPr>
        <p:spPr>
          <a:xfrm>
            <a:off x="6903720" y="266090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0" name="Oval 909"/>
          <p:cNvSpPr/>
          <p:nvPr/>
        </p:nvSpPr>
        <p:spPr>
          <a:xfrm>
            <a:off x="6400800" y="274320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355080" y="274320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903720" y="270662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Hierarchie pamětí</a:t>
            </a:r>
            <a:r>
              <a:rPr sz="1050">
                <a:solidFill>
                  <a:srgbClr val="7A7A7A"/>
                </a:solidFill>
                <a:latin typeface="Arial"/>
              </a:rPr>
              <a:t>  proč procesor čeká</a:t>
            </a:r>
          </a:p>
        </p:txBody>
      </p:sp>
      <p:cxnSp>
        <p:nvCxnSpPr>
          <p:cNvPr id="913" name="Connector 912"/>
          <p:cNvCxnSpPr/>
          <p:nvPr/>
        </p:nvCxnSpPr>
        <p:spPr>
          <a:xfrm>
            <a:off x="6903720" y="320954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4" name="Oval 913"/>
          <p:cNvSpPr/>
          <p:nvPr/>
        </p:nvSpPr>
        <p:spPr>
          <a:xfrm>
            <a:off x="6400800" y="3291839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6355080" y="3291839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903720" y="3255263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Sestava podle účelu</a:t>
            </a:r>
            <a:r>
              <a:rPr sz="1050">
                <a:solidFill>
                  <a:srgbClr val="7A7A7A"/>
                </a:solidFill>
                <a:latin typeface="Arial"/>
              </a:rPr>
              <a:t>  kompatibilita a úzká hrdla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6903720" y="3758183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Oval 917"/>
          <p:cNvSpPr/>
          <p:nvPr/>
        </p:nvSpPr>
        <p:spPr>
          <a:xfrm>
            <a:off x="6400800" y="3840480"/>
            <a:ext cx="384048" cy="384048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6355080" y="384048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903720" y="380390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Mikrokontroléry a SoC</a:t>
            </a:r>
            <a:r>
              <a:rPr sz="1050">
                <a:solidFill>
                  <a:srgbClr val="7A7A7A"/>
                </a:solidFill>
                <a:latin typeface="Arial"/>
              </a:rPr>
              <a:t>  počítač ve stroji i v mobilu</a:t>
            </a:r>
          </a:p>
        </p:txBody>
      </p:sp>
      <p:cxnSp>
        <p:nvCxnSpPr>
          <p:cNvPr id="921" name="Connector 920"/>
          <p:cNvCxnSpPr/>
          <p:nvPr/>
        </p:nvCxnSpPr>
        <p:spPr>
          <a:xfrm>
            <a:off x="6903720" y="4306824"/>
            <a:ext cx="475488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" name="Oval 921"/>
          <p:cNvSpPr/>
          <p:nvPr/>
        </p:nvSpPr>
        <p:spPr>
          <a:xfrm>
            <a:off x="6400800" y="4389120"/>
            <a:ext cx="384048" cy="384048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6355080" y="4389120"/>
            <a:ext cx="475488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903720" y="4352544"/>
            <a:ext cx="48463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ED6845"/>
                </a:solidFill>
                <a:latin typeface="Arial"/>
              </a:rPr>
              <a:t>Energie a e-odpad</a:t>
            </a:r>
            <a:r>
              <a:rPr sz="1050">
                <a:solidFill>
                  <a:srgbClr val="7A7A7A"/>
                </a:solidFill>
                <a:latin typeface="Arial"/>
              </a:rPr>
              <a:t>  co stojí provoz a co zbyde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1 · Cyklus procesoru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Procesor dělá pořád dokola stejné kroky</a:t>
            </a:r>
          </a:p>
          <a:p>
            <a:r>
              <a:rPr sz="1800" b="0" i="0"/>
              <a:t>Instrukce i data leží v paměti – von Neumannova architektura</a:t>
            </a:r>
          </a:p>
          <a:p>
            <a:r>
              <a:rPr sz="1800" b="0" i="0"/>
              <a:t>Miliardy cyklů za sekundu, každý krok je ale velmi jednoduchý</a:t>
            </a:r>
          </a:p>
          <a:p>
            <a:pPr>
              <a:buNone/>
            </a:pPr>
          </a:p>
          <a:p>
            <a:r>
              <a:rPr sz="1800" i="1"/>
              <a:t>Kolik cyklů za sekundu udělá procesor 3 GHz?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2823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Načti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42823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instrukci z paměti</a:t>
            </a:r>
          </a:p>
        </p:txBody>
      </p:sp>
      <p:pic>
        <p:nvPicPr>
          <p:cNvPr id="905" name="Picture 904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515" y="2414016"/>
            <a:ext cx="201168" cy="201168"/>
          </a:xfrm>
          <a:prstGeom prst="rect">
            <a:avLst/>
          </a:prstGeom>
        </p:spPr>
      </p:pic>
      <p:sp>
        <p:nvSpPr>
          <p:cNvPr id="906" name="Rounded Rectangle 905"/>
          <p:cNvSpPr/>
          <p:nvPr/>
        </p:nvSpPr>
        <p:spPr>
          <a:xfrm>
            <a:off x="779526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782269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Dekóduj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782269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co se má udělat</a:t>
            </a:r>
          </a:p>
        </p:txBody>
      </p:sp>
      <p:pic>
        <p:nvPicPr>
          <p:cNvPr id="909" name="Picture 908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976" y="2414016"/>
            <a:ext cx="201168" cy="201168"/>
          </a:xfrm>
          <a:prstGeom prst="rect">
            <a:avLst/>
          </a:prstGeom>
        </p:spPr>
      </p:pic>
      <p:sp>
        <p:nvSpPr>
          <p:cNvPr id="910" name="Rounded Rectangle 909"/>
          <p:cNvSpPr/>
          <p:nvPr/>
        </p:nvSpPr>
        <p:spPr>
          <a:xfrm>
            <a:off x="918972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9217152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ED6845"/>
                </a:solidFill>
                <a:latin typeface="Arial"/>
              </a:rPr>
              <a:t>Proveď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9217152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výpočet v ALU</a:t>
            </a:r>
          </a:p>
        </p:txBody>
      </p:sp>
      <p:pic>
        <p:nvPicPr>
          <p:cNvPr id="913" name="Picture 912" descr="FaArrowRight_ED68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436" y="2414016"/>
            <a:ext cx="201168" cy="201168"/>
          </a:xfrm>
          <a:prstGeom prst="rect">
            <a:avLst/>
          </a:prstGeom>
        </p:spPr>
      </p:pic>
      <p:sp>
        <p:nvSpPr>
          <p:cNvPr id="914" name="Rounded Rectangle 913"/>
          <p:cNvSpPr/>
          <p:nvPr/>
        </p:nvSpPr>
        <p:spPr>
          <a:xfrm>
            <a:off x="10584180" y="1783080"/>
            <a:ext cx="1120140" cy="14630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10611611" y="1856231"/>
            <a:ext cx="1065276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6E7868"/>
                </a:solidFill>
                <a:latin typeface="Arial"/>
              </a:rPr>
              <a:t>Ulož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10611611" y="2286000"/>
            <a:ext cx="1065276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výsledek do registru nebo paměti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6400800" y="352044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8" name="Picture 917" descr="FaCog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822191"/>
            <a:ext cx="310896" cy="310896"/>
          </a:xfrm>
          <a:prstGeom prst="rect">
            <a:avLst/>
          </a:prstGeom>
        </p:spPr>
      </p:pic>
      <p:sp>
        <p:nvSpPr>
          <p:cNvPr id="919" name="TextBox 918"/>
          <p:cNvSpPr txBox="1"/>
          <p:nvPr/>
        </p:nvSpPr>
        <p:spPr>
          <a:xfrm>
            <a:off x="6876288" y="3520440"/>
            <a:ext cx="475488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Stejně pracuje řídicí systém CNC: načte řádek programu, vyhodnotí ho a provede pohyb.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6400800" y="461772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Bolt_6E7868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4919472"/>
            <a:ext cx="310896" cy="310896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6876288" y="4617720"/>
            <a:ext cx="475488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A mikrokontrolér v pračce: načte stav čidel, rozhodne, sepne motor nebo ventil.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2 · Takt, jádra, vlákna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1" i="0"/>
              <a:t>Takt (GHz):</a:t>
            </a:r>
            <a:r>
              <a:rPr sz="1800" b="0" i="0"/>
              <a:t> kolik cyklů za sekundu</a:t>
            </a:r>
          </a:p>
          <a:p>
            <a:r>
              <a:rPr sz="1800" b="1" i="0"/>
              <a:t>Jádra:</a:t>
            </a:r>
            <a:r>
              <a:rPr sz="1800" b="0" i="0"/>
              <a:t> kolik úloh běží opravdu současně</a:t>
            </a:r>
          </a:p>
          <a:p>
            <a:r>
              <a:rPr sz="1800" b="1" i="0"/>
              <a:t>Vlákna:</a:t>
            </a:r>
            <a:r>
              <a:rPr sz="1800" b="0" i="0"/>
              <a:t> jádro střídá dvě úlohy, aby nečekalo</a:t>
            </a:r>
          </a:p>
          <a:p>
            <a:r>
              <a:rPr sz="1800" b="0" i="0"/>
              <a:t>Vyšší číslo ≠ rychlejší pro vás – záleží, co program umí využít</a:t>
            </a:r>
          </a:p>
          <a:p>
            <a:pPr>
              <a:buNone/>
            </a:pPr>
          </a:p>
          <a:p>
            <a:r>
              <a:rPr sz="1800" i="1"/>
              <a:t>Proč hra často běží stejně na 8 i 16 jádrech?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997964" cy="329184"/>
          </a:xfrm>
          <a:prstGeom prst="roundRect">
            <a:avLst>
              <a:gd name="adj" fmla="val 17000"/>
            </a:avLst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691640"/>
            <a:ext cx="1997964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ČTENÍ SPECIFIKACE</a:t>
            </a:r>
          </a:p>
        </p:txBody>
      </p:sp>
      <p:sp>
        <p:nvSpPr>
          <p:cNvPr id="904" name="Rounded Rectangle 903"/>
          <p:cNvSpPr/>
          <p:nvPr/>
        </p:nvSpPr>
        <p:spPr>
          <a:xfrm>
            <a:off x="6400800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5" name="Picture 904" descr="FaTachometerAlt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395728"/>
            <a:ext cx="347472" cy="347472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6967728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Takt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510528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Kolem 3–5 GHz. Rychlost jednoho jádra – důležitá pro hry i modelování v CAD.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9125712" y="2240280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9" name="Picture 908" descr="FaMicrochip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4" y="2395728"/>
            <a:ext cx="347472" cy="347472"/>
          </a:xfrm>
          <a:prstGeom prst="rect">
            <a:avLst/>
          </a:prstGeom>
        </p:spPr>
      </p:pic>
      <p:sp>
        <p:nvSpPr>
          <p:cNvPr id="910" name="TextBox 909"/>
          <p:cNvSpPr txBox="1"/>
          <p:nvPr/>
        </p:nvSpPr>
        <p:spPr>
          <a:xfrm>
            <a:off x="9692640" y="237744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Jádra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9235440" y="280720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Typicky 4–24. Pomáhají při renderingu, střihu videa a simulacích.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400800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3" name="Picture 912" descr="FaMemory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133087"/>
            <a:ext cx="347472" cy="347472"/>
          </a:xfrm>
          <a:prstGeom prst="rect">
            <a:avLst/>
          </a:prstGeom>
        </p:spPr>
      </p:pic>
      <p:sp>
        <p:nvSpPr>
          <p:cNvPr id="914" name="TextBox 913"/>
          <p:cNvSpPr txBox="1"/>
          <p:nvPr/>
        </p:nvSpPr>
        <p:spPr>
          <a:xfrm>
            <a:off x="6967728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Cache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510528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Rychlá paměť přímo v procesoru. Víc cache = méně čekání na RAM.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9125712" y="3977639"/>
            <a:ext cx="2542032" cy="1554479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12700">
            <a:solidFill>
              <a:srgbClr val="F2C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7" name="Picture 916" descr="FaDesktop_ED684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4133087"/>
            <a:ext cx="347472" cy="347472"/>
          </a:xfrm>
          <a:prstGeom prst="rect">
            <a:avLst/>
          </a:prstGeom>
        </p:spPr>
      </p:pic>
      <p:sp>
        <p:nvSpPr>
          <p:cNvPr id="918" name="TextBox 917"/>
          <p:cNvSpPr txBox="1"/>
          <p:nvPr/>
        </p:nvSpPr>
        <p:spPr>
          <a:xfrm>
            <a:off x="9692640" y="4114800"/>
            <a:ext cx="1901952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ED6845"/>
                </a:solidFill>
                <a:latin typeface="Arial"/>
              </a:rPr>
              <a:t>GPU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9235440" y="4544568"/>
            <a:ext cx="2322576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Tisíce jednoduchých jader. Grafika, AI, výpočty simulací.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3 · Hierarchie pamětí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Čím rychlejší paměť, tím menší a dražší</a:t>
            </a:r>
          </a:p>
          <a:p>
            <a:r>
              <a:rPr sz="1800" b="0" i="0"/>
              <a:t>Procesor často čeká na data, ne na výpočet</a:t>
            </a:r>
          </a:p>
          <a:p>
            <a:r>
              <a:rPr sz="1800" b="0" i="0"/>
              <a:t>Proto SSD zrychlí starý počítač víc než nový procesor</a:t>
            </a:r>
          </a:p>
          <a:p>
            <a:pPr>
              <a:buNone/>
            </a:pPr>
          </a:p>
          <a:p>
            <a:r>
              <a:rPr sz="1800" i="1"/>
              <a:t>Proč se program poprvé spouští déle než podruhé?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Paměť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Kapacita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Přístup (řádově)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Registry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bajty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pod 1 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Cache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MB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1–10 ns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RAM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GB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~100 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SSD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stovky GB až TB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~0,1 ms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33333"/>
                          </a:solidFill>
                          <a:latin typeface="Arial"/>
                        </a:rPr>
                        <a:t>HDD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TB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333"/>
                          </a:solidFill>
                          <a:latin typeface="Arial"/>
                        </a:rPr>
                        <a:t>~10 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3" name="Rounded Rectangle 902"/>
          <p:cNvSpPr/>
          <p:nvPr/>
        </p:nvSpPr>
        <p:spPr>
          <a:xfrm>
            <a:off x="6400800" y="4572000"/>
            <a:ext cx="5303520" cy="96012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4" name="Picture 903" descr="FaTools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896612"/>
            <a:ext cx="310896" cy="310896"/>
          </a:xfrm>
          <a:prstGeom prst="rect">
            <a:avLst/>
          </a:prstGeom>
        </p:spPr>
      </p:pic>
      <p:sp>
        <p:nvSpPr>
          <p:cNvPr id="905" name="TextBox 904"/>
          <p:cNvSpPr txBox="1"/>
          <p:nvPr/>
        </p:nvSpPr>
        <p:spPr>
          <a:xfrm>
            <a:off x="6876288" y="4572000"/>
            <a:ext cx="4754880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Registry = nářadí v ruce, cache = ponk, RAM = regál v dílně, disk = sklad přes dvůr.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4 · Sestava podle účelu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Nejdřív účel a rozpočet, pak komponenty</a:t>
            </a:r>
          </a:p>
          <a:p>
            <a:r>
              <a:rPr sz="1800" b="1" i="0"/>
              <a:t>Úzké hrdlo:</a:t>
            </a:r>
            <a:r>
              <a:rPr sz="1800" b="0" i="0"/>
              <a:t> nejslabší díl brzdí celek</a:t>
            </a:r>
          </a:p>
          <a:p>
            <a:r>
              <a:rPr sz="1800" b="1" i="0"/>
              <a:t>Kompatibilita:</a:t>
            </a:r>
            <a:r>
              <a:rPr sz="1800" b="0" i="0"/>
              <a:t> patice procesoru, typ RAM, napájení, rozměr skříně</a:t>
            </a:r>
          </a:p>
          <a:p>
            <a:pPr>
              <a:buNone/>
            </a:pPr>
          </a:p>
          <a:p>
            <a:r>
              <a:rPr sz="1800" i="1"/>
              <a:t>Která komponenta brzdí váš počítač?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902" name="Table 901"/>
          <p:cNvGraphicFramePr>
            <a:graphicFrameLocks noGrp="1"/>
          </p:cNvGraphicFramePr>
          <p:nvPr/>
        </p:nvGraphicFramePr>
        <p:xfrm>
          <a:off x="6309360" y="1737360"/>
          <a:ext cx="5394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286000"/>
                <a:gridCol w="15544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Účel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Na čem záleží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Kde lze šetřit</a:t>
                      </a:r>
                    </a:p>
                  </a:txBody>
                  <a:tcPr marL="73152" marR="73152" marT="27432" marB="27432" anchor="ctr">
                    <a:solidFill>
                      <a:srgbClr val="ED684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Škola, kancelář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SSD, 16 GB RAM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grafika, procesor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CAD, modelování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rychlé jádro CPU, GPU, 32 GB RAM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skříň, vzhled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Střih videa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jádra CPU, RAM, rychlé disky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vzhled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  <a:latin typeface="Arial"/>
                        </a:rPr>
                        <a:t>Hry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GPU, rychlé jádro CPU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</a:rPr>
                        <a:t>počet jader</a:t>
                      </a:r>
                    </a:p>
                  </a:txBody>
                  <a:tcPr marL="73152" marR="73152" marT="27432" marB="27432" anchor="ctr">
                    <a:solidFill>
                      <a:srgbClr val="F3F2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5 · Mikrokontroléry a SoC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Počítač nemusí mít skříň ani monitor</a:t>
            </a:r>
          </a:p>
          <a:p>
            <a:r>
              <a:rPr sz="1800" b="1" i="0"/>
              <a:t>Mikrokontrolér:</a:t>
            </a:r>
            <a:r>
              <a:rPr sz="1800" b="0" i="0"/>
              <a:t> procesor, paměť a vstupy/výstupy v jednom čipu</a:t>
            </a:r>
          </a:p>
          <a:p>
            <a:r>
              <a:rPr sz="1800" b="1" i="0"/>
              <a:t>SoC:</a:t>
            </a:r>
            <a:r>
              <a:rPr sz="1800" b="0" i="0"/>
              <a:t> celý počítač na čipu – mobil, tablet, nové notebooky (ARM)</a:t>
            </a:r>
          </a:p>
          <a:p>
            <a:pPr>
              <a:buNone/>
            </a:pPr>
          </a:p>
          <a:p>
            <a:r>
              <a:rPr sz="1800" i="1"/>
              <a:t>Kolik řídicích jednotek je v moderním autě?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Microchip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74520"/>
            <a:ext cx="384048" cy="384048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70225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Mikrokontrolér</a:t>
            </a:r>
          </a:p>
        </p:txBody>
      </p:sp>
      <p:cxnSp>
        <p:nvCxnSpPr>
          <p:cNvPr id="905" name="Connector 904"/>
          <p:cNvCxnSpPr/>
          <p:nvPr/>
        </p:nvCxnSpPr>
        <p:spPr>
          <a:xfrm>
            <a:off x="65836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6" name="Rounded Rectangle 905"/>
          <p:cNvSpPr/>
          <p:nvPr/>
        </p:nvSpPr>
        <p:spPr>
          <a:xfrm>
            <a:off x="65836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TextBox 906"/>
          <p:cNvSpPr txBox="1"/>
          <p:nvPr/>
        </p:nvSpPr>
        <p:spPr>
          <a:xfrm>
            <a:off x="65836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Arduino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65836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9" name="TextBox 908"/>
          <p:cNvSpPr txBox="1"/>
          <p:nvPr/>
        </p:nvSpPr>
        <p:spPr>
          <a:xfrm>
            <a:off x="65836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Řízení pračky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5836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TextBox 910"/>
          <p:cNvSpPr txBox="1"/>
          <p:nvPr/>
        </p:nvSpPr>
        <p:spPr>
          <a:xfrm>
            <a:off x="65836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Řídicí jednotka v autě</a:t>
            </a:r>
          </a:p>
        </p:txBody>
      </p:sp>
      <p:sp>
        <p:nvSpPr>
          <p:cNvPr id="912" name="Rounded Rectangle 911"/>
          <p:cNvSpPr/>
          <p:nvPr/>
        </p:nvSpPr>
        <p:spPr>
          <a:xfrm>
            <a:off x="65836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3" name="TextBox 912"/>
          <p:cNvSpPr txBox="1"/>
          <p:nvPr/>
        </p:nvSpPr>
        <p:spPr>
          <a:xfrm>
            <a:off x="65836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Termostat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9144000" y="1691640"/>
            <a:ext cx="25603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5" name="Picture 914" descr="FaMobileAlt_6E786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1874520"/>
            <a:ext cx="384048" cy="384048"/>
          </a:xfrm>
          <a:prstGeom prst="rect">
            <a:avLst/>
          </a:prstGeom>
        </p:spPr>
      </p:pic>
      <p:sp>
        <p:nvSpPr>
          <p:cNvPr id="916" name="TextBox 915"/>
          <p:cNvSpPr txBox="1"/>
          <p:nvPr/>
        </p:nvSpPr>
        <p:spPr>
          <a:xfrm>
            <a:off x="9765792" y="1874520"/>
            <a:ext cx="1874519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SoC</a:t>
            </a:r>
          </a:p>
        </p:txBody>
      </p:sp>
      <p:cxnSp>
        <p:nvCxnSpPr>
          <p:cNvPr id="917" name="Connector 916"/>
          <p:cNvCxnSpPr/>
          <p:nvPr/>
        </p:nvCxnSpPr>
        <p:spPr>
          <a:xfrm>
            <a:off x="9326880" y="2423160"/>
            <a:ext cx="2194560" cy="0"/>
          </a:xfrm>
          <a:prstGeom prst="line">
            <a:avLst/>
          </a:prstGeom>
          <a:ln w="9525">
            <a:solidFill>
              <a:srgbClr val="DD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Rounded Rectangle 917"/>
          <p:cNvSpPr/>
          <p:nvPr/>
        </p:nvSpPr>
        <p:spPr>
          <a:xfrm>
            <a:off x="9326880" y="256032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9326880" y="256032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Mobil, tablet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9326880" y="326898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1" name="TextBox 920"/>
          <p:cNvSpPr txBox="1"/>
          <p:nvPr/>
        </p:nvSpPr>
        <p:spPr>
          <a:xfrm>
            <a:off x="9326880" y="326898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Raspberry Pi</a:t>
            </a:r>
          </a:p>
        </p:txBody>
      </p:sp>
      <p:sp>
        <p:nvSpPr>
          <p:cNvPr id="922" name="Rounded Rectangle 921"/>
          <p:cNvSpPr/>
          <p:nvPr/>
        </p:nvSpPr>
        <p:spPr>
          <a:xfrm>
            <a:off x="9326880" y="3977639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3" name="TextBox 922"/>
          <p:cNvSpPr txBox="1"/>
          <p:nvPr/>
        </p:nvSpPr>
        <p:spPr>
          <a:xfrm>
            <a:off x="9326880" y="3977639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Notebooky s ARM</a:t>
            </a:r>
          </a:p>
        </p:txBody>
      </p:sp>
      <p:sp>
        <p:nvSpPr>
          <p:cNvPr id="924" name="Rounded Rectangle 923"/>
          <p:cNvSpPr/>
          <p:nvPr/>
        </p:nvSpPr>
        <p:spPr>
          <a:xfrm>
            <a:off x="9326880" y="4686300"/>
            <a:ext cx="219456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5" name="TextBox 924"/>
          <p:cNvSpPr txBox="1"/>
          <p:nvPr/>
        </p:nvSpPr>
        <p:spPr>
          <a:xfrm>
            <a:off x="9326880" y="4686300"/>
            <a:ext cx="2194560" cy="5715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Arial"/>
              </a:rPr>
              <a:t>Chytré hodinky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6 · Energie a e-odpad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Výkon stojí energii: herní PC v zátěži stovky W, notebook desítky, mikrokontrolér pod 1 W</a:t>
            </a:r>
          </a:p>
          <a:p>
            <a:r>
              <a:rPr sz="1800" b="0" i="0"/>
              <a:t>Datová centra spotřebují zhruba 1,5 % světové elektřiny</a:t>
            </a:r>
          </a:p>
          <a:p>
            <a:r>
              <a:rPr sz="1800" b="0" i="0"/>
              <a:t>E-odpad obsahuje kovy, které jde vrátit do oběhu</a:t>
            </a:r>
          </a:p>
          <a:p>
            <a:pPr>
              <a:buNone/>
            </a:pPr>
          </a:p>
          <a:p>
            <a:r>
              <a:rPr sz="1800" i="1"/>
              <a:t>Co jste udělali se svým starým mobilem?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19" cy="13258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TextBox 902"/>
          <p:cNvSpPr txBox="1"/>
          <p:nvPr/>
        </p:nvSpPr>
        <p:spPr>
          <a:xfrm>
            <a:off x="6400800" y="1764792"/>
            <a:ext cx="1645919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600" b="1" i="0">
                <a:solidFill>
                  <a:srgbClr val="ED6845"/>
                </a:solidFill>
                <a:latin typeface="Arial"/>
              </a:rPr>
              <a:t>~1,5 %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446520" y="2350008"/>
            <a:ext cx="1554479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světové elektřiny spotřebují datová centra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8229600" y="1691640"/>
            <a:ext cx="1645919" cy="13258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8229600" y="1764792"/>
            <a:ext cx="1645919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6E7868"/>
                </a:solidFill>
                <a:latin typeface="Arial"/>
              </a:rPr>
              <a:t>62 mil. t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8275320" y="2350008"/>
            <a:ext cx="1554479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e-odpadu vzniklo ve světě v roce 2022</a:t>
            </a:r>
          </a:p>
        </p:txBody>
      </p:sp>
      <p:sp>
        <p:nvSpPr>
          <p:cNvPr id="908" name="Rounded Rectangle 907"/>
          <p:cNvSpPr/>
          <p:nvPr/>
        </p:nvSpPr>
        <p:spPr>
          <a:xfrm>
            <a:off x="10058400" y="1691640"/>
            <a:ext cx="1645919" cy="13258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9" name="TextBox 908"/>
          <p:cNvSpPr txBox="1"/>
          <p:nvPr/>
        </p:nvSpPr>
        <p:spPr>
          <a:xfrm>
            <a:off x="10058400" y="1764792"/>
            <a:ext cx="1645919" cy="5943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600" b="1" i="0">
                <a:solidFill>
                  <a:srgbClr val="ED6845"/>
                </a:solidFill>
                <a:latin typeface="Arial"/>
              </a:rPr>
              <a:t>22 %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10104120" y="2350008"/>
            <a:ext cx="1554479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z toho se prokazatelně recyklovalo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6400800" y="32918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Recycle_ED684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639312"/>
            <a:ext cx="310896" cy="310896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6876288" y="3291840"/>
            <a:ext cx="475488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Nejekologičtější zařízení je to, které už máte. Výměna baterie, SSD nebo víc RAM prodlouží život o roky.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400800" y="448056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5" name="Picture 914" descr="FaInfo_6E786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4828032"/>
            <a:ext cx="310896" cy="310896"/>
          </a:xfrm>
          <a:prstGeom prst="rect">
            <a:avLst/>
          </a:prstGeom>
        </p:spPr>
      </p:pic>
      <p:sp>
        <p:nvSpPr>
          <p:cNvPr id="916" name="TextBox 915"/>
          <p:cNvSpPr txBox="1"/>
          <p:nvPr/>
        </p:nvSpPr>
        <p:spPr>
          <a:xfrm>
            <a:off x="6876288" y="4480560"/>
            <a:ext cx="475488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Starou elektroniku odevzdejte ve sběrném dvoře nebo v obchodě – nepatří do koše.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Kam to vede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Hardware je průnik elektra, IT i strojařiny</a:t>
            </a:r>
          </a:p>
          <a:p>
            <a:r>
              <a:rPr sz="1800" b="0" i="0"/>
              <a:t>Chlazení a skříň řeší strojař, desku elektrotechnik, firmware programátor</a:t>
            </a:r>
          </a:p>
          <a:p>
            <a:r>
              <a:rPr sz="1800" b="1" i="0"/>
              <a:t>Do portfolia:</a:t>
            </a:r>
            <a:r>
              <a:rPr sz="1800" b="0" i="0"/>
              <a:t> popište hardware, na kterém stojí váš projekt z odborného bloku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03" name="Picture 902" descr="FaBolt_ED684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856232"/>
            <a:ext cx="457200" cy="457200"/>
          </a:xfrm>
          <a:prstGeom prst="rect">
            <a:avLst/>
          </a:prstGeom>
        </p:spPr>
      </p:pic>
      <p:sp>
        <p:nvSpPr>
          <p:cNvPr id="904" name="TextBox 903"/>
          <p:cNvSpPr txBox="1"/>
          <p:nvPr/>
        </p:nvSpPr>
        <p:spPr>
          <a:xfrm>
            <a:off x="64008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ELEKTROTECHNIKA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65105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6" name="TextBox 905"/>
          <p:cNvSpPr txBox="1"/>
          <p:nvPr/>
        </p:nvSpPr>
        <p:spPr>
          <a:xfrm>
            <a:off x="65105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Návrh elektroniky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65105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5105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Vestavné systémy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65105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0" name="TextBox 909"/>
          <p:cNvSpPr txBox="1"/>
          <p:nvPr/>
        </p:nvSpPr>
        <p:spPr>
          <a:xfrm>
            <a:off x="65105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Servisní technik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82296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12" name="Picture 911" descr="FaLaptopCode_6E786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56232"/>
            <a:ext cx="457200" cy="457200"/>
          </a:xfrm>
          <a:prstGeom prst="rect">
            <a:avLst/>
          </a:prstGeom>
        </p:spPr>
      </p:pic>
      <p:sp>
        <p:nvSpPr>
          <p:cNvPr id="913" name="TextBox 912"/>
          <p:cNvSpPr txBox="1"/>
          <p:nvPr/>
        </p:nvSpPr>
        <p:spPr>
          <a:xfrm>
            <a:off x="82296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IT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8339327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TextBox 914"/>
          <p:cNvSpPr txBox="1"/>
          <p:nvPr/>
        </p:nvSpPr>
        <p:spPr>
          <a:xfrm>
            <a:off x="8339327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Správce infrastruktury</a:t>
            </a:r>
          </a:p>
        </p:txBody>
      </p:sp>
      <p:sp>
        <p:nvSpPr>
          <p:cNvPr id="916" name="Rounded Rectangle 915"/>
          <p:cNvSpPr/>
          <p:nvPr/>
        </p:nvSpPr>
        <p:spPr>
          <a:xfrm>
            <a:off x="8339327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7" name="TextBox 916"/>
          <p:cNvSpPr txBox="1"/>
          <p:nvPr/>
        </p:nvSpPr>
        <p:spPr>
          <a:xfrm>
            <a:off x="8339327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Datová centra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8339327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TextBox 918"/>
          <p:cNvSpPr txBox="1"/>
          <p:nvPr/>
        </p:nvSpPr>
        <p:spPr>
          <a:xfrm>
            <a:off x="8339327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Hardwarová bezpečnost</a:t>
            </a:r>
          </a:p>
        </p:txBody>
      </p:sp>
      <p:sp>
        <p:nvSpPr>
          <p:cNvPr id="920" name="Rounded Rectangle 919"/>
          <p:cNvSpPr/>
          <p:nvPr/>
        </p:nvSpPr>
        <p:spPr>
          <a:xfrm>
            <a:off x="10058400" y="1691640"/>
            <a:ext cx="1645920" cy="3840480"/>
          </a:xfrm>
          <a:prstGeom prst="roundRect">
            <a:avLst>
              <a:gd name="adj" fmla="val 6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1" name="Picture 920" descr="FaCog_ED684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0" y="1856232"/>
            <a:ext cx="457200" cy="457200"/>
          </a:xfrm>
          <a:prstGeom prst="rect">
            <a:avLst/>
          </a:prstGeom>
        </p:spPr>
      </p:pic>
      <p:sp>
        <p:nvSpPr>
          <p:cNvPr id="922" name="TextBox 921"/>
          <p:cNvSpPr txBox="1"/>
          <p:nvPr/>
        </p:nvSpPr>
        <p:spPr>
          <a:xfrm>
            <a:off x="10058400" y="2350008"/>
            <a:ext cx="1645920" cy="32918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STROJÍRENSTVÍ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10168128" y="2743200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4" name="TextBox 923"/>
          <p:cNvSpPr txBox="1"/>
          <p:nvPr/>
        </p:nvSpPr>
        <p:spPr>
          <a:xfrm>
            <a:off x="10168128" y="2743200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Mechatronik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0168128" y="3401568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6" name="TextBox 925"/>
          <p:cNvSpPr txBox="1"/>
          <p:nvPr/>
        </p:nvSpPr>
        <p:spPr>
          <a:xfrm>
            <a:off x="10168128" y="3401568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Diagnostika strojů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10168128" y="4059935"/>
            <a:ext cx="14264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8" name="TextBox 927"/>
          <p:cNvSpPr txBox="1"/>
          <p:nvPr/>
        </p:nvSpPr>
        <p:spPr>
          <a:xfrm>
            <a:off x="10168128" y="4059935"/>
            <a:ext cx="1426464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333333"/>
                </a:solidFill>
                <a:latin typeface="Arial"/>
              </a:rPr>
              <a:t>Údržba výrobních linek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29768"/>
            <a:ext cx="10972800" cy="1170432"/>
          </a:xfrm>
        </p:spPr>
        <p:txBody>
          <a:bodyPr/>
          <a:lstStyle/>
          <a:p>
            <a:r>
              <a:t>K diskuzi: hardware kolem vás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746504"/>
            <a:ext cx="5120640" cy="3931920"/>
          </a:xfrm>
        </p:spPr>
        <p:txBody>
          <a:bodyPr/>
          <a:lstStyle/>
          <a:p>
            <a:r>
              <a:rPr sz="1800" b="0" i="0"/>
              <a:t>Vyberte zařízení, které používáte v odborném bloku</a:t>
            </a:r>
          </a:p>
          <a:p>
            <a:r>
              <a:rPr sz="1800" b="0" i="0"/>
              <a:t>Projděte ho otázkami vpravo</a:t>
            </a:r>
          </a:p>
          <a:p>
            <a:r>
              <a:rPr sz="1800" b="0" i="0"/>
              <a:t>Diskutujte ve dvojicích, pak krátce sdílejte se třídou</a:t>
            </a:r>
          </a:p>
        </p:txBody>
      </p:sp>
      <p:sp>
        <p:nvSpPr>
          <p:cNvPr id="900" name="Date Placeholder 4">
            <a:extLst>
              <a:ext uri="{FF2B5EF4-FFF2-40B4-BE49-F238E27FC236}">
                <a16:creationId xmlns:a16="http://schemas.microsoft.com/office/drawing/2014/main" id="{A6799FC6-5720-343A-725C-991D5330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1172CA5-83D9-4B9A-AC36-B1D63B757A49}" type="datetime1">
              <a:pPr>
                <a:spcAft>
                  <a:spcPts val="600"/>
                </a:spcAft>
              </a:pPr>
              <a:t>9/24/2026</a:t>
            </a:fld>
            <a:endParaRPr lang="en-US"/>
          </a:p>
        </p:txBody>
      </p:sp>
      <p:sp>
        <p:nvSpPr>
          <p:cNvPr id="901" name="Slide Number Placeholder 5">
            <a:extLst>
              <a:ext uri="{FF2B5EF4-FFF2-40B4-BE49-F238E27FC236}">
                <a16:creationId xmlns:a16="http://schemas.microsoft.com/office/drawing/2014/main" id="{EDD3A153-05FE-82D1-1235-483E641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7F8DDA4-3B80-4E8A-A8F5-521F73BF9127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902" name="Rounded Rectangle 901"/>
          <p:cNvSpPr/>
          <p:nvPr/>
        </p:nvSpPr>
        <p:spPr>
          <a:xfrm>
            <a:off x="6400800" y="1691640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3" name="Oval 902"/>
          <p:cNvSpPr/>
          <p:nvPr/>
        </p:nvSpPr>
        <p:spPr>
          <a:xfrm>
            <a:off x="6510528" y="1837944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4" name="TextBox 903"/>
          <p:cNvSpPr txBox="1"/>
          <p:nvPr/>
        </p:nvSpPr>
        <p:spPr>
          <a:xfrm>
            <a:off x="6464808" y="1837944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949440" y="1691640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Jaký počítač potřebuje váš projekt a proč?</a:t>
            </a:r>
          </a:p>
        </p:txBody>
      </p:sp>
      <p:sp>
        <p:nvSpPr>
          <p:cNvPr id="906" name="Rounded Rectangle 905"/>
          <p:cNvSpPr/>
          <p:nvPr/>
        </p:nvSpPr>
        <p:spPr>
          <a:xfrm>
            <a:off x="6400800" y="2441448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7" name="Oval 906"/>
          <p:cNvSpPr/>
          <p:nvPr/>
        </p:nvSpPr>
        <p:spPr>
          <a:xfrm>
            <a:off x="6510528" y="2587752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8" name="TextBox 907"/>
          <p:cNvSpPr txBox="1"/>
          <p:nvPr/>
        </p:nvSpPr>
        <p:spPr>
          <a:xfrm>
            <a:off x="6464808" y="2587752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949440" y="2441448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Co ve specifikaci notebooku je pro vás opravdu důležité?</a:t>
            </a:r>
          </a:p>
        </p:txBody>
      </p:sp>
      <p:sp>
        <p:nvSpPr>
          <p:cNvPr id="910" name="Rounded Rectangle 909"/>
          <p:cNvSpPr/>
          <p:nvPr/>
        </p:nvSpPr>
        <p:spPr>
          <a:xfrm>
            <a:off x="6400800" y="3191256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1" name="Oval 910"/>
          <p:cNvSpPr/>
          <p:nvPr/>
        </p:nvSpPr>
        <p:spPr>
          <a:xfrm>
            <a:off x="6510528" y="3337560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2" name="TextBox 911"/>
          <p:cNvSpPr txBox="1"/>
          <p:nvPr/>
        </p:nvSpPr>
        <p:spPr>
          <a:xfrm>
            <a:off x="6464808" y="3337560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949440" y="3191256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Kde je úzké hrdlo vašeho počítače?</a:t>
            </a:r>
          </a:p>
        </p:txBody>
      </p:sp>
      <p:sp>
        <p:nvSpPr>
          <p:cNvPr id="914" name="Rounded Rectangle 913"/>
          <p:cNvSpPr/>
          <p:nvPr/>
        </p:nvSpPr>
        <p:spPr>
          <a:xfrm>
            <a:off x="6400800" y="3941064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5" name="Oval 914"/>
          <p:cNvSpPr/>
          <p:nvPr/>
        </p:nvSpPr>
        <p:spPr>
          <a:xfrm>
            <a:off x="6510528" y="4087368"/>
            <a:ext cx="347472" cy="347472"/>
          </a:xfrm>
          <a:prstGeom prst="ellipse">
            <a:avLst/>
          </a:prstGeom>
          <a:solidFill>
            <a:srgbClr val="F4A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6" name="TextBox 915"/>
          <p:cNvSpPr txBox="1"/>
          <p:nvPr/>
        </p:nvSpPr>
        <p:spPr>
          <a:xfrm>
            <a:off x="6464808" y="4087368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949440" y="3941064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Najdete kolem sebe tři zařízení s mikrokontrolérem?</a:t>
            </a:r>
          </a:p>
        </p:txBody>
      </p:sp>
      <p:sp>
        <p:nvSpPr>
          <p:cNvPr id="918" name="Rounded Rectangle 917"/>
          <p:cNvSpPr/>
          <p:nvPr/>
        </p:nvSpPr>
        <p:spPr>
          <a:xfrm>
            <a:off x="6400800" y="4690872"/>
            <a:ext cx="5303520" cy="640080"/>
          </a:xfrm>
          <a:prstGeom prst="roundRect">
            <a:avLst>
              <a:gd name="adj" fmla="val 6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9" name="Oval 918"/>
          <p:cNvSpPr/>
          <p:nvPr/>
        </p:nvSpPr>
        <p:spPr>
          <a:xfrm>
            <a:off x="6510528" y="4837175"/>
            <a:ext cx="347472" cy="347472"/>
          </a:xfrm>
          <a:prstGeom prst="ellipse">
            <a:avLst/>
          </a:prstGeom>
          <a:solidFill>
            <a:srgbClr val="ED6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0" name="TextBox 919"/>
          <p:cNvSpPr txBox="1"/>
          <p:nvPr/>
        </p:nvSpPr>
        <p:spPr>
          <a:xfrm>
            <a:off x="6464808" y="4837175"/>
            <a:ext cx="438912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949440" y="4690872"/>
            <a:ext cx="4663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Arial"/>
              </a:rPr>
              <a:t>Co uděláte se zařízením, které přestanete používat?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Orange Experience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range Experien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3FBD020F-64D3-42BF-A2BA-FB7237EC65A2}" vid="{0A40F0BF-A9BE-440A-B017-9F6336E851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43287-08B4-41D2-B4C3-C4037539C0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601672-7921-437C-B0AC-0FD77C6FC3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811D1C-EFBB-47CE-A62B-7C4133940947}">
  <ds:schemaRefs>
    <ds:schemaRef ds:uri="http://schemas.microsoft.com/office/2006/metadata/properties"/>
    <ds:schemaRef ds:uri="http://schemas.microsoft.com/office/infopath/2007/PartnerControls"/>
    <ds:schemaRef ds:uri="3eb61919-e7f8-4a11-8db4-9145fbd21da9"/>
    <ds:schemaRef ds:uri="09a37b55-a4d7-45bd-a73f-33c2b1d41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Orange Experience</vt:lpstr>
      <vt:lpstr>Práce s daty: etika a důvěryhodnost</vt:lpstr>
      <vt:lpstr>Co nás čeká</vt:lpstr>
      <vt:lpstr>1 · Co dělá data „otevřenými“?</vt:lpstr>
      <vt:lpstr>1 · Kde hledat důvěryhodná data</vt:lpstr>
      <vt:lpstr>2 · Než data otevřete v Excelu</vt:lpstr>
      <vt:lpstr>2 · Pravidla čisté tabulky</vt:lpstr>
      <vt:lpstr>3 · Přímé vs. nepřímé identifikátory</vt:lpstr>
      <vt:lpstr>3 · Příklad: váš vlastní třídní katalog</vt:lpstr>
      <vt:lpstr>4 · Co je „osobní údaj“?</vt:lpstr>
      <vt:lpstr>4 · Kdy se GDPR týká i vašeho projektu?</vt:lpstr>
      <vt:lpstr>5 · GDPR vs. NDA – často se plete</vt:lpstr>
      <vt:lpstr>5 · Praktický scénář: praxe v IT firmě</vt:lpstr>
      <vt:lpstr>6 · Průměr vs. medián</vt:lpstr>
      <vt:lpstr>6 · Procenta, která straší</vt:lpstr>
      <vt:lpstr>6 · Korelace není příčina</vt:lpstr>
      <vt:lpstr>7 · Stejná data, dva úplně jiné dojmy</vt:lpstr>
      <vt:lpstr>7 · Další triky, kterých si všímat</vt:lpstr>
      <vt:lpstr>7 · Jaký graf zvolit?</vt:lpstr>
      <vt:lpstr>K diskuzi: než odevzdáte projekt s daty…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88</cp:revision>
  <dcterms:created xsi:type="dcterms:W3CDTF">2026-09-02T06:40:14Z</dcterms:created>
  <dcterms:modified xsi:type="dcterms:W3CDTF">2026-09-24T09:50:58Z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