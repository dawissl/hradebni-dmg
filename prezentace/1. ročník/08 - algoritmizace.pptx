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png" ContentType="image/png"/>
  <Override PartName="/ppt/media/image4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cs-CZ" sz="1800" spc="-1" strike="noStrike">
                <a:solidFill>
                  <a:schemeClr val="dk1"/>
                </a:solidFill>
                <a:latin typeface="Calibri"/>
              </a:rPr>
              <a:t>Klikněte pro přesun snímku</a:t>
            </a: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Klikněte pro úpravu formátu komentářů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&lt;záhlaví&gt;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9746291-97B9-45ED-89A0-85C2DB4A61DF}" type="slidenum"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Svět bez inernetu. Jaký by byl?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4A83D1C-7666-4276-9166-CC196396E1E2}" type="slidenum"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90D8A4-81C6-47ED-8B70-2BE11A759F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8ACC98-1C91-4D30-B4F4-8B0B20CCD53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DFEE770-4DFC-4095-AEEC-0BAF1D68B7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BDB0A75-7E85-4041-8898-66C7AC2CB2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AB4A25E-5C88-4EC6-AE63-3D02A0330A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51400" y="1845720"/>
            <a:ext cx="49082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15D6920-FA3F-4226-9308-1B11EE859A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BA6901C-353A-4DD2-94A0-A0ABAAED42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cs-CZ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C920C08-C908-427B-B6E7-6B1F09DCF0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54A5BB2-5B99-46BE-8660-218F8C0945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C85074E-F057-4103-9019-29EF948097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8462296F-2D52-4D4F-A352-51E764C273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Click to edit Master title style</a:t>
            </a:r>
            <a:endParaRPr b="0" lang="cs-CZ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48DEFF-825E-4C87-BD9C-8112543E5DFF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Klikněte pro úpravu formátu textu osnovy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Druhá úroveň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Třetí úroveň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Čtvrtá úroveň osnovy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Pátá úroveň osnovy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Šestá úroveň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Sedmá úroveň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4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5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6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74EBAC-1A8A-48D2-993A-0BEDD3E0C9BA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24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724960" y="414720"/>
            <a:ext cx="2628720" cy="575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 vert="eaVert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414720"/>
            <a:ext cx="7733880" cy="57571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0" bIns="0" anchor="t" vert="eaVer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7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8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9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256673-D303-4F30-A3C5-ECBB5468E650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0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11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12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002B48-297C-4EC3-8CFD-D02BA063BC86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44" name="Rectangle 6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Rectangle 7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Click to edit Master title style</a:t>
            </a:r>
            <a:endParaRPr b="0" lang="cs-CZ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097280" y="445320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400" spc="199" strike="noStrike" cap="all">
                <a:solidFill>
                  <a:schemeClr val="dk2"/>
                </a:solidFill>
                <a:latin typeface="Calibri Light"/>
              </a:rPr>
              <a:t>Click to edit Master text styles</a:t>
            </a:r>
            <a:endParaRPr b="0" lang="cs-CZ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13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14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15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3493EF-45F6-45E0-833B-53C6DDF143D8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51" name="Straight Connector 8"/>
          <p:cNvCxnSpPr/>
          <p:nvPr/>
        </p:nvCxnSpPr>
        <p:spPr>
          <a:xfrm>
            <a:off x="1207440" y="4343400"/>
            <a:ext cx="987588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4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09728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17920" y="1845720"/>
            <a:ext cx="49374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16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17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18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4AACB0-9049-4AF8-B87A-21157A0457AF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6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109728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2"/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1097280" y="2582280"/>
            <a:ext cx="4937400" cy="33778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217920" y="1846080"/>
            <a:ext cx="4937400" cy="73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000" spc="-1" strike="noStrike" cap="all">
                <a:solidFill>
                  <a:schemeClr val="dk2"/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217920" y="2582280"/>
            <a:ext cx="4937400" cy="337788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dt" idx="19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7"/>
          <p:cNvSpPr>
            <a:spLocks noGrp="1"/>
          </p:cNvSpPr>
          <p:nvPr>
            <p:ph type="ftr" idx="20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8"/>
          <p:cNvSpPr>
            <a:spLocks noGrp="1"/>
          </p:cNvSpPr>
          <p:nvPr>
            <p:ph type="sldNum" idx="21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E9A02C-93A2-4A53-9035-ED53095300EF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6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Rectangle 8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7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</a:rPr>
              <a:t>Click to edit Master title style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dt" idx="22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ftr" idx="23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4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63AE21-E2BE-4B42-9495-06E0A0B0DE6C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5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86" name="Rectangle 4"/>
          <p:cNvSpPr/>
          <p:nvPr/>
        </p:nvSpPr>
        <p:spPr>
          <a:xfrm>
            <a:off x="3240" y="6400800"/>
            <a:ext cx="1218852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Rectangle 5"/>
          <p:cNvSpPr/>
          <p:nvPr/>
        </p:nvSpPr>
        <p:spPr>
          <a:xfrm>
            <a:off x="0" y="633420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dt" idx="25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26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27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E1FDD1-2198-4CBF-8273-5AFC457BC312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93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94" name="Rectangle 7"/>
          <p:cNvSpPr/>
          <p:nvPr/>
        </p:nvSpPr>
        <p:spPr>
          <a:xfrm>
            <a:off x="0" y="0"/>
            <a:ext cx="4050360" cy="6857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Rectangle 8"/>
          <p:cNvSpPr/>
          <p:nvPr/>
        </p:nvSpPr>
        <p:spPr>
          <a:xfrm>
            <a:off x="4039920" y="0"/>
            <a:ext cx="6372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3200040" cy="228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Click to edit Master title style</a:t>
            </a:r>
            <a:endParaRPr b="0" lang="cs-CZ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800600" y="731520"/>
            <a:ext cx="6491880" cy="52574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Click to edit Master text styles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412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Second level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5670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Third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74988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Fourth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93276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alibri"/>
              <a:buChar char="◦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Fifth level</a:t>
            </a:r>
            <a:endParaRPr b="0" lang="cs-CZ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2926080"/>
            <a:ext cx="3200040" cy="337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dt" idx="28"/>
          </p:nvPr>
        </p:nvSpPr>
        <p:spPr>
          <a:xfrm>
            <a:off x="465480" y="6459840"/>
            <a:ext cx="2618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ftr" idx="29"/>
          </p:nvPr>
        </p:nvSpPr>
        <p:spPr>
          <a:xfrm>
            <a:off x="4800600" y="6459840"/>
            <a:ext cx="46479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6"/>
          <p:cNvSpPr>
            <a:spLocks noGrp="1"/>
          </p:cNvSpPr>
          <p:nvPr>
            <p:ph type="sldNum" idx="30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chemeClr val="dk2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26D052-51EF-47FA-9568-193CEBF64E7F}" type="slidenum">
              <a:rPr b="0" lang="en-US" sz="1050" spc="-1" strike="noStrike">
                <a:solidFill>
                  <a:schemeClr val="dk2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6" hidden="1"/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Rectangle 8" hidden="1"/>
          <p:cNvSpPr/>
          <p:nvPr/>
        </p:nvSpPr>
        <p:spPr>
          <a:xfrm>
            <a:off x="0" y="6334200"/>
            <a:ext cx="1219176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0880" bIns="208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4" name="Straight Connector 9"/>
          <p:cNvCxnSpPr/>
          <p:nvPr/>
        </p:nvCxnSpPr>
        <p:spPr>
          <a:xfrm>
            <a:off x="1193400" y="1737720"/>
            <a:ext cx="99673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</a:srgbClr>
            </a:solidFill>
            <a:round/>
          </a:ln>
        </p:spPr>
      </p:cxnSp>
      <p:sp>
        <p:nvSpPr>
          <p:cNvPr id="105" name="Rectangle 7"/>
          <p:cNvSpPr/>
          <p:nvPr/>
        </p:nvSpPr>
        <p:spPr>
          <a:xfrm>
            <a:off x="0" y="4952880"/>
            <a:ext cx="12188520" cy="19047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Rectangle 8"/>
          <p:cNvSpPr/>
          <p:nvPr/>
        </p:nvSpPr>
        <p:spPr>
          <a:xfrm>
            <a:off x="0" y="4915080"/>
            <a:ext cx="12188520" cy="63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19080" bIns="1908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2760" cy="8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en-US" sz="3600" spc="-52" strike="noStrike">
                <a:solidFill>
                  <a:srgbClr val="ffffff"/>
                </a:solidFill>
                <a:latin typeface="Calibri Light"/>
              </a:rPr>
              <a:t>Click to edit Master title style</a:t>
            </a:r>
            <a:endParaRPr b="0" lang="cs-CZ" sz="3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491472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lIns="457200" rIns="90000" tIns="4572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Klikněte pro úpravu formátu textu osnovy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Druhá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Třetí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Čtvrtá úroveň osnovy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Pátá úroveň osnovy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Šestá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</a:rPr>
              <a:t>Sedmá úroveň</a:t>
            </a:r>
            <a:endParaRPr b="0" lang="cs-CZ" sz="32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1097280" y="5906880"/>
            <a:ext cx="10112760" cy="59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t">
            <a:normAutofit/>
          </a:bodyPr>
          <a:p>
            <a:pPr indent="0" defTabSz="914400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Click to edit Master text styles</a:t>
            </a:r>
            <a:endParaRPr b="0" lang="cs-CZ" sz="15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dt" idx="31"/>
          </p:nvPr>
        </p:nvSpPr>
        <p:spPr>
          <a:xfrm>
            <a:off x="1097280" y="6459840"/>
            <a:ext cx="24717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9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ftr" idx="32"/>
          </p:nvPr>
        </p:nvSpPr>
        <p:spPr>
          <a:xfrm>
            <a:off x="3686040" y="6459840"/>
            <a:ext cx="4822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sldNum" idx="33"/>
          </p:nvPr>
        </p:nvSpPr>
        <p:spPr>
          <a:xfrm>
            <a:off x="9900360" y="6459840"/>
            <a:ext cx="1311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BC4E24-0441-4FE8-A215-77C9CE366171}" type="slidenum">
              <a:rPr b="0" lang="en-US" sz="1050" spc="-1" strike="noStrike">
                <a:solidFill>
                  <a:srgbClr val="ffffff"/>
                </a:solidFill>
                <a:latin typeface="Calibri"/>
              </a:rPr>
              <a:t>&lt;číslo&gt;</a:t>
            </a:fld>
            <a:endParaRPr b="0" lang="cs-CZ" sz="105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097280" y="758880"/>
            <a:ext cx="10058040" cy="3565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8000" spc="-52" strike="noStrike">
                <a:solidFill>
                  <a:schemeClr val="dk1">
                    <a:lumMod val="85000"/>
                    <a:lumOff val="15000"/>
                  </a:schemeClr>
                </a:solidFill>
                <a:latin typeface="Calibri Light"/>
              </a:rPr>
              <a:t>Algoritmizace, úvod do programování</a:t>
            </a:r>
            <a:endParaRPr b="0" lang="cs-CZ" sz="8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1100160" y="4455720"/>
            <a:ext cx="100580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cs-CZ" sz="2400" spc="199" strike="noStrike" cap="all">
                <a:solidFill>
                  <a:schemeClr val="dk2"/>
                </a:solidFill>
                <a:latin typeface="Calibri Light"/>
              </a:rPr>
              <a:t>Digitální a mediální gramotnost</a:t>
            </a:r>
            <a:endParaRPr b="0" lang="cs-CZ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Algoritmus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= postup skládající se z jednotlivých jednoznačně určených kroků tzv. příkazů, které vedou k získání řešení problému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Algoritmy nás obklopují stejně jako třeba matematika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Sociální sítě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Navigace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Recept na vaření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Nejstarší algoritmus – Euklidův pro určení společní dělitele čísel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Každý algoritmus musí splňovat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Konečnost, rezultativnost, determinovanost, hromadnost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Programovací jazyk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= umělý jazyk, který se používá pro definování sekvence programových příkazů, které lze zpracovat na počítači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Využívá se k implementaci (zhotovení) příslušného algoritmu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Popis takového algoritmu je ryze konkrétní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Dělíme podle několika kategorií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Míra abstrakce 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Způsob překladu a spuštění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Proměnná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= pojmenované místo v paměti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Vytváří se na základě deklarace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Během deklarace určíme její jméno (identifiáktor) a její typ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Volitelně můžeme již v průběhu deklarace určit její hodnotu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  <a:tabLst>
                <a:tab algn="l" pos="0"/>
              </a:tabLst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Např.: int suma = 0; double height = 11.3; char input;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Datové typy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Datový typ určuje, jakou hodnotu lze očekávat uvnitř proměnné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Číselné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Celočíselné - int, short, long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Desetinné - float, double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Textové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Znakové - char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Řetězce - string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Ostatní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Bool - pravdivostní hodnota true/false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Var – kompilátor odvozuje od vložené hodnoty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Základní konstrukce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Sekvence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Jednotlivé příkazy a instrukce po sobě jdoucí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Přiřazení hodnoty, vyhodnocení výrazu, načtení vstupu, ...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Rozhodovací blok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If-else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Switch-case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Cyklus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Pevný počet opakování - for, foreach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Neznámý počet opakování - while, do-while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Vývojový diagram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= Grafické znázornění algoritmu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Slouží k názornému představení konkrétního algoritmu a usnadňuje jeho pochopení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Čteme a vytváříme jej směrem odshora dolů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Šipky v diagramu představují směr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Pro kreslení se dodržují ucelená pravidla a normy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" name="Rectangl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333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411600" y="635040"/>
            <a:ext cx="512676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4183"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1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Značky používané ve vývojových diagramech</a:t>
            </a:r>
            <a:endParaRPr b="0" lang="cs-CZ" sz="41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5" name="Obrázek 9" descr="Obsah obrázku text, snímek obrazovky, Písmo, diagram&#10;&#10;Obsah generovaný pomocí AI může být nesprávný."/>
          <p:cNvPicPr/>
          <p:nvPr/>
        </p:nvPicPr>
        <p:blipFill>
          <a:blip r:embed="rId1"/>
          <a:stretch/>
        </p:blipFill>
        <p:spPr>
          <a:xfrm>
            <a:off x="643320" y="1292760"/>
            <a:ext cx="5451120" cy="3952080"/>
          </a:xfrm>
          <a:prstGeom prst="rect">
            <a:avLst/>
          </a:prstGeom>
          <a:ln w="0">
            <a:noFill/>
          </a:ln>
        </p:spPr>
      </p:pic>
      <p:cxnSp>
        <p:nvCxnSpPr>
          <p:cNvPr id="136" name="Straight Connector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411600" y="2085840"/>
            <a:ext cx="47491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  <a:alpha val="90000"/>
              </a:srgbClr>
            </a:solidFill>
            <a:round/>
          </a:ln>
        </p:spPr>
      </p:cxn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6411600" y="2198880"/>
            <a:ext cx="5126760" cy="3669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Značky využívané v diagramech jsou standardizované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Algoritmus lze přečíst nehledě na znalost programovacího jazyka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Popis je univerzální 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sp>
        <p:nvSpPr>
          <p:cNvPr id="138" name="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34200"/>
            <a:ext cx="12191760" cy="66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1600" bIns="216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Rectangl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400800"/>
            <a:ext cx="12191760" cy="4568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cs-CZ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5952960" cy="143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8144"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Ukázka vývojového diagramu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1097280" y="2534040"/>
            <a:ext cx="402120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Máme elektrický obvod složený z jednoho zdroje a jedné žárovky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Chceme, aby se žárovka rozsvítila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  <p:pic>
        <p:nvPicPr>
          <p:cNvPr id="142" name="Obrázek 9" descr="Obsah obrázku text, snímek obrazovky, diagram, řada/pruh&#10;&#10;Obsah generovaný pomocí AI může být nesprávný."/>
          <p:cNvPicPr/>
          <p:nvPr/>
        </p:nvPicPr>
        <p:blipFill>
          <a:blip r:embed="rId1"/>
          <a:stretch/>
        </p:blipFill>
        <p:spPr>
          <a:xfrm>
            <a:off x="5998680" y="284040"/>
            <a:ext cx="5961600" cy="5801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097280" y="2865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Pseudokód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1097280" y="1845720"/>
            <a:ext cx="10058040" cy="402300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Kombinuje slova pro běžnou komunikaci s kódovými instrukcemi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Cyklus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Pro hodnotu a od 1 do 10 opakuj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   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Vypiš hodnotu a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1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Větvení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Pokud a &gt; b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   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Vypiš hodnotu a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Jinak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    </a:t>
            </a: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Vypiš hodnotu b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5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 useBgFill="1">
        <p:nvSpPr>
          <p:cNvPr id="146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760" cy="63338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5181480" y="635040"/>
            <a:ext cx="636768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</a:pPr>
            <a:r>
              <a:rPr b="0" lang="cs-CZ" sz="4800" spc="-52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 Light"/>
                <a:ea typeface="Calibri Light"/>
              </a:rPr>
              <a:t>Procvičení algoritmizace</a:t>
            </a:r>
            <a:endParaRPr b="0" lang="cs-CZ" sz="4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8" name="Picture 4" descr="Water droplet on a petal"/>
          <p:cNvPicPr/>
          <p:nvPr/>
        </p:nvPicPr>
        <p:blipFill>
          <a:blip r:embed="rId1"/>
          <a:srcRect l="13191" t="0" r="48704" b="7"/>
          <a:stretch/>
        </p:blipFill>
        <p:spPr>
          <a:xfrm>
            <a:off x="0" y="-12240"/>
            <a:ext cx="4654080" cy="6869880"/>
          </a:xfrm>
          <a:prstGeom prst="rect">
            <a:avLst/>
          </a:prstGeom>
          <a:ln w="0">
            <a:noFill/>
          </a:ln>
        </p:spPr>
      </p:pic>
      <p:cxnSp>
        <p:nvCxnSpPr>
          <p:cNvPr id="149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287320" y="2085480"/>
            <a:ext cx="6171120" cy="360"/>
          </a:xfrm>
          <a:prstGeom prst="straightConnector1">
            <a:avLst/>
          </a:prstGeom>
          <a:ln w="6350">
            <a:solidFill>
              <a:srgbClr val="000000">
                <a:lumMod val="50000"/>
                <a:lumOff val="50000"/>
                <a:alpha val="90000"/>
              </a:srgbClr>
            </a:solidFill>
            <a:round/>
          </a:ln>
        </p:spPr>
      </p:cxn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181480" y="2198880"/>
            <a:ext cx="6367680" cy="3669840"/>
          </a:xfrm>
          <a:prstGeom prst="rect">
            <a:avLst/>
          </a:prstGeom>
          <a:noFill/>
          <a:ln w="0">
            <a:noFill/>
          </a:ln>
        </p:spPr>
        <p:txBody>
          <a:bodyPr lIns="0" rIns="0" tIns="45720" bIns="45720" anchor="t">
            <a:norm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e48312"/>
              </a:buClr>
              <a:buFont typeface="Calibri"/>
              <a:buChar char=" "/>
            </a:pPr>
            <a:r>
              <a:rPr b="0" lang="cs-CZ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Algoritmus, který bude zvyšovat číslo v proměnné X o hodnotu 3,14 dokud tato hodnota nepřesáhne hodnotu 10</a:t>
            </a: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</a:pPr>
            <a:endParaRPr b="0" lang="cs-CZ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Vytvořte návrh zadání pomocí vývojového diagramu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  <a:p>
            <a:pPr lvl="1" marL="383400" indent="-18288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e48312"/>
              </a:buClr>
              <a:buFont typeface="Courier New"/>
              <a:buChar char="o"/>
            </a:pPr>
            <a:r>
              <a:rPr b="0" lang="cs-CZ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Calibri"/>
                <a:ea typeface="Calibri"/>
              </a:rPr>
              <a:t>Vytvořte implementaci zadání pomocí pseudokódu</a:t>
            </a:r>
            <a:endParaRPr b="0" lang="cs-CZ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shade val="92000"/>
              </a:schemeClr>
            </a:gs>
            <a:gs pos="45000">
              <a:schemeClr val="phClr">
                <a:tint val="60000"/>
                <a:shade val="99000"/>
              </a:schemeClr>
            </a:gs>
            <a:gs pos="100000">
              <a:schemeClr val="phClr">
                <a:tint val="55000"/>
              </a:schemeClr>
            </a:gs>
          </a:gsLst>
          <a:path path="circle">
            <a:fillToRect l="100000" t="100000" r="100000" b="100000"/>
          </a:path>
          <a:tileRect l="0" t="0" r="0" b="0"/>
        </a:gradFill>
        <a:gradFill>
          <a:gsLst>
            <a:gs pos="0">
              <a:schemeClr val="phClr">
                <a:shade val="85000"/>
              </a:schemeClr>
            </a:gs>
            <a:gs pos="34000">
              <a:schemeClr val="phClr">
                <a:shade val="87000"/>
              </a:schemeClr>
            </a:gs>
            <a:gs pos="70000">
              <a:schemeClr val="phClr">
                <a:tint val="100000"/>
                <a:shade val="90000"/>
              </a:schemeClr>
            </a:gs>
            <a:gs pos="100000">
              <a:schemeClr val="phClr">
                <a:tint val="100000"/>
                <a:shade val="100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fillStyleLst>
      <a:lnStyleLst>
        <a:ln w="12700" cap="flat" cmpd="sng" algn="ctr">
          <a:prstDash val="solid"/>
        </a:ln>
        <a:ln w="15875" cap="flat" cmpd="sng" algn="ctr">
          <a:prstDash val="solid"/>
        </a:ln>
        <a:ln w="254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</a:schemeClr>
        </a:solidFill>
        <a:gradFill>
          <a:gsLst>
            <a:gs pos="0">
              <a:schemeClr val="phClr">
                <a:tint val="96000"/>
                <a:shade val="99000"/>
              </a:schemeClr>
            </a:gs>
            <a:gs pos="65000">
              <a:schemeClr val="phClr">
                <a:tint val="100000"/>
                <a:shade val="80000"/>
              </a:schemeClr>
            </a:gs>
            <a:gs pos="100000">
              <a:schemeClr val="phClr">
                <a:tint val="100000"/>
                <a:shade val="48000"/>
              </a:schemeClr>
            </a:gs>
          </a:gsLst>
          <a:lin ang="162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cec7e99e499b1a399f5002d8f5cf0989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7040e20160986dd2b45602a8e4e840ef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22C7D1-EE9E-4242-B577-CD53C439A6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F52871-FF00-4D4A-8396-DA8C6A507140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09a37b55-a4d7-45bd-a73f-33c2b1d41898"/>
    <ds:schemaRef ds:uri="http://purl.org/dc/terms/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14D548D-0322-4CBF-8649-5C8679D07EB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Application>LibreOffice/24.2.7.2$Linux_X86_64 LibreOffice_project/420$Build-2</Application>
  <AppVersion>15.0000</AppVersion>
  <Words>235</Words>
  <Paragraphs>54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2025-10-12T16:48:06Z</dcterms:created>
  <dc:creator>Sládeček David</dc:creator>
  <dc:description/>
  <dc:language>cs-CZ</dc:language>
  <cp:lastModifiedBy>David Sládeček</cp:lastModifiedBy>
  <dcterms:modified xsi:type="dcterms:W3CDTF">2026-10-01T08:33:14Z</dcterms:modified>
  <cp:revision>647</cp:revision>
  <dc:subject/>
  <dc:title>Hardware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Notes">
    <vt:i4>1</vt:i4>
  </property>
  <property fmtid="{D5CDD505-2E9C-101B-9397-08002B2CF9AE}" pid="4" name="PresentationFormat">
    <vt:lpwstr>Širokoúhlá obrazovka</vt:lpwstr>
  </property>
  <property fmtid="{D5CDD505-2E9C-101B-9397-08002B2CF9AE}" pid="5" name="Slides">
    <vt:i4>11</vt:i4>
  </property>
</Properties>
</file>