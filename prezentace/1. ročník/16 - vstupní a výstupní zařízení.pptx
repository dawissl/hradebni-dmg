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2.png" ContentType="image/png"/>
  <Override PartName="/ppt/media/image3.png" ContentType="image/png"/>
  <Override PartName="/ppt/media/image16.jpeg" ContentType="image/jpeg"/>
  <Override PartName="/ppt/media/image15.jpeg" ContentType="image/jpeg"/>
  <Override PartName="/ppt/media/image1.jpeg" ContentType="image/jpeg"/>
  <Override PartName="/ppt/media/image6.png" ContentType="image/png"/>
  <Override PartName="/ppt/media/image10.png" ContentType="image/png"/>
  <Override PartName="/ppt/media/image2.jpeg" ContentType="image/jpeg"/>
  <Override PartName="/ppt/media/image9.jpeg" ContentType="image/jpeg"/>
  <Override PartName="/ppt/media/image14.png" ContentType="image/png"/>
  <Override PartName="/ppt/media/image5.png" ContentType="image/png"/>
  <Override PartName="/ppt/media/image4.png" ContentType="image/png"/>
  <Override PartName="/ppt/media/image13.jpeg" ContentType="image/jpeg"/>
  <Override PartName="/ppt/media/image11.jpeg" ContentType="image/jpeg"/>
  <Override PartName="/ppt/media/image8.jpeg" ContentType="image/jpeg"/>
  <Override PartName="/ppt/media/image7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cs-CZ" sz="1800" spc="-1" strike="noStrike">
                <a:solidFill>
                  <a:schemeClr val="dk1"/>
                </a:solidFill>
                <a:latin typeface="Calibri"/>
              </a:rPr>
              <a:t>Klikněte pro přesun snímku</a:t>
            </a: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Klikněte pro úpravu formátu komentářů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&lt;záhlaví&gt;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9EC1EB0-F472-4B5E-AD47-06FE40AE4A55}" type="slidenum"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Zařízení by nebylo spustitelné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0891777-4FF0-4AB2-A883-2879EDE6474C}" type="slidenum"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256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BAE1E99-37D7-4E14-A188-5B892B23222F}" type="slidenum"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1 073 741 824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382804-A691-4950-97EC-630FED850C29}" type="slidenum"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Telefony potřebují úspornost (RISC), PC výkon a kompatibilitu (CISC).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08B67B1-513A-46D0-BAFC-58F69EEBD72C}" type="slidenum"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496141-13CC-447E-AEF7-F708A7056F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4CD7A5-8518-4EB8-9B44-F78A5A1F60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4833F54-4C01-42BA-867E-257AC3E249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CF6E332-33B7-4210-A749-910DD1C090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D7F4C03-EEE6-4559-84B0-9BE92342B8C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B0D6DEE-ACFD-4164-871E-514A00B416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FC6F651-125D-404B-8F7F-C89EFCB6DB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35267DE-25FE-4F28-A7E2-7F6212018E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49AFDDE-03D5-42F1-91A0-7AA569A3E8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6D20284-715D-4834-86E8-410F04238C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EFD2C881-B887-4AFC-A74D-CDFB83458A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2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Click to edit Master 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title style</a:t>
            </a:r>
            <a:endParaRPr b="0" lang="cs-CZ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0B1027-200B-4076-9CF7-1473AEA25F8F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Klikněte pro úpravu formátu textu osnovy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Druhá úroveň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Třetí úroveň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Čtvrtá úroveň osnovy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Pátá úroveň osnovy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Šestá úroveň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Sedmá úroveň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1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4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5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6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137DC2-E2D1-4702-B491-0BE7136D3316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2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24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724960" y="414720"/>
            <a:ext cx="2628720" cy="57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414720"/>
            <a:ext cx="7733880" cy="57571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7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8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9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D821E0-2FFA-46B5-A0D5-F3CBF4ADDEA9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3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0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1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12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3F1327-939D-4873-AE08-D3FAF2C89912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4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44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Click to edit Master title style</a:t>
            </a:r>
            <a:endParaRPr b="0" lang="cs-CZ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199" strike="noStrike" cap="all">
                <a:solidFill>
                  <a:schemeClr val="dk2"/>
                </a:solidFill>
                <a:latin typeface="Calibri Light"/>
              </a:rPr>
              <a:t>Click to edit Master text styles</a:t>
            </a:r>
            <a:endParaRPr b="0" lang="cs-CZ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13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14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15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D5DCB9-099B-4894-8B62-E73FC0B917E4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51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5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1792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16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17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18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D3B7EF-C60F-4DA3-B0D3-61D894D16691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66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09728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109728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21792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21792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dt" idx="19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7"/>
          <p:cNvSpPr>
            <a:spLocks noGrp="1"/>
          </p:cNvSpPr>
          <p:nvPr>
            <p:ph type="ftr" idx="20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8"/>
          <p:cNvSpPr>
            <a:spLocks noGrp="1"/>
          </p:cNvSpPr>
          <p:nvPr>
            <p:ph type="sldNum" idx="21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EE3B6A-3C78-4797-B81F-FBBE12FD2585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77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dt" idx="22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ftr" idx="23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4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8C017E-97E7-495B-ADBD-F56C2C9D0BAF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8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86" name="Rectangle 4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Rectangle 5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dt" idx="25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26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27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600DC8-8D44-4A0B-B35E-0BC6BF78348C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9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94" name="Rectangle 7"/>
          <p:cNvSpPr/>
          <p:nvPr/>
        </p:nvSpPr>
        <p:spPr>
          <a:xfrm>
            <a:off x="0" y="0"/>
            <a:ext cx="4050360" cy="6857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Rectangle 8"/>
          <p:cNvSpPr/>
          <p:nvPr/>
        </p:nvSpPr>
        <p:spPr>
          <a:xfrm>
            <a:off x="4039920" y="0"/>
            <a:ext cx="6372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Click to edit Master title style</a:t>
            </a:r>
            <a:endParaRPr b="0" lang="cs-CZ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800600" y="731520"/>
            <a:ext cx="6491880" cy="5257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dt" idx="28"/>
          </p:nvPr>
        </p:nvSpPr>
        <p:spPr>
          <a:xfrm>
            <a:off x="465480" y="6459840"/>
            <a:ext cx="261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ftr" idx="29"/>
          </p:nvPr>
        </p:nvSpPr>
        <p:spPr>
          <a:xfrm>
            <a:off x="4800600" y="6459840"/>
            <a:ext cx="4647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6"/>
          <p:cNvSpPr>
            <a:spLocks noGrp="1"/>
          </p:cNvSpPr>
          <p:nvPr>
            <p:ph type="sldNum" idx="30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68AD11-C4B3-4175-83A6-8F3391C5E974}" type="slidenum">
              <a:rPr b="0" lang="en-US" sz="1050" spc="-1" strike="noStrike">
                <a:solidFill>
                  <a:schemeClr val="dk2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10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05" name="Rectangle 7"/>
          <p:cNvSpPr/>
          <p:nvPr/>
        </p:nvSpPr>
        <p:spPr>
          <a:xfrm>
            <a:off x="0" y="4952880"/>
            <a:ext cx="12188520" cy="1904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Rectangle 8"/>
          <p:cNvSpPr/>
          <p:nvPr/>
        </p:nvSpPr>
        <p:spPr>
          <a:xfrm>
            <a:off x="0" y="491508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276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Click to edit Master title style</a:t>
            </a:r>
            <a:endParaRPr b="0" lang="cs-CZ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491472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457200" rIns="90000" tIns="4572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Klikněte pro úpravu formátu textu osnovy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Druhá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Třetí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Čtvrtá úroveň osnovy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Pátá úroveň osnovy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Šestá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Sedmá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1097280" y="5906880"/>
            <a:ext cx="10112760" cy="59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rmAutofit/>
          </a:bodyPr>
          <a:p>
            <a:pPr indent="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dt" idx="3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ftr" idx="3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sldNum" idx="3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09340A-450C-409B-BFE4-897F8C526A05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Vstupní a výstupní zařízení</a:t>
            </a:r>
            <a:endParaRPr b="0" lang="cs-CZ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1100160" y="445572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cs-CZ" sz="2400" spc="199" strike="noStrike" cap="all">
                <a:solidFill>
                  <a:schemeClr val="dk2"/>
                </a:solidFill>
                <a:latin typeface="Calibri Light"/>
              </a:rPr>
              <a:t>Digitální a mediální gramotnost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1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348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28720" y="635040"/>
            <a:ext cx="482076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7308" lnSpcReduction="20000"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Co je vstupní a výstupní zařízení?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123" name="Straight Connector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924840" y="2085480"/>
            <a:ext cx="411516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828720" y="2198880"/>
            <a:ext cx="482076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89943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Vstupní zařízení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přenáší data DO počítače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Klávesnice, myš, mikrofon, kamera, skener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Výstupní zařízení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přenáší data Z počítače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Monitor, reproduktory, tiskárna, projektor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Vstupně-výstupní (I/O)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obousměrně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Dotyková obrazovka, síťová karta, USB disk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20124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b="0" i="1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Jaká zařízení dnes máte u sebe? Jsou vstupní, výstupní nebo oboje?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25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4360" y="691560"/>
            <a:ext cx="2635560" cy="2450880"/>
          </a:xfrm>
          <a:prstGeom prst="rect">
            <a:avLst/>
          </a:prstGeom>
          <a:solidFill>
            <a:srgbClr val="ffffff"/>
          </a:solidFill>
          <a:ln w="63500">
            <a:solidFill>
              <a:srgbClr val="e48312"/>
            </a:solidFill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08200" y="691560"/>
            <a:ext cx="2644200" cy="2450880"/>
          </a:xfrm>
          <a:prstGeom prst="rect">
            <a:avLst/>
          </a:prstGeom>
          <a:solidFill>
            <a:srgbClr val="ffffff"/>
          </a:solidFill>
          <a:ln w="63500">
            <a:solidFill>
              <a:srgbClr val="e48312"/>
            </a:solidFill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4360" y="3345480"/>
            <a:ext cx="2630520" cy="2481480"/>
          </a:xfrm>
          <a:prstGeom prst="rect">
            <a:avLst/>
          </a:prstGeom>
          <a:solidFill>
            <a:srgbClr val="ffffff"/>
          </a:solidFill>
          <a:ln w="63500">
            <a:solidFill>
              <a:srgbClr val="e48312"/>
            </a:solidFill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Rectangl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08200" y="3336840"/>
            <a:ext cx="2644200" cy="2490480"/>
          </a:xfrm>
          <a:prstGeom prst="rect">
            <a:avLst/>
          </a:prstGeom>
          <a:solidFill>
            <a:srgbClr val="ffffff"/>
          </a:solidFill>
          <a:ln w="63500">
            <a:solidFill>
              <a:srgbClr val="e48312"/>
            </a:solidFill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Rectangl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1" name="Obrázek 3" descr="Genesis herní mechanická klávesnice THOR 303/TKL/RGB/Outemu Peach  Silent/Drátová USB/US layout/Černá"/>
          <p:cNvPicPr/>
          <p:nvPr/>
        </p:nvPicPr>
        <p:blipFill>
          <a:blip r:embed="rId1"/>
          <a:stretch/>
        </p:blipFill>
        <p:spPr>
          <a:xfrm>
            <a:off x="6278760" y="1049040"/>
            <a:ext cx="2234880" cy="1721880"/>
          </a:xfrm>
          <a:prstGeom prst="rect">
            <a:avLst/>
          </a:prstGeom>
          <a:ln w="0">
            <a:noFill/>
          </a:ln>
        </p:spPr>
      </p:pic>
      <p:pic>
        <p:nvPicPr>
          <p:cNvPr id="132" name="Obrázek 7" descr="Obsah obrázku Zvukové zařízení, mikrofon, Elektronické zařízení, Sluchátka&#10;&#10;Obsah generovaný pomocí AI může být nesprávný."/>
          <p:cNvPicPr/>
          <p:nvPr/>
        </p:nvPicPr>
        <p:blipFill>
          <a:blip r:embed="rId2"/>
          <a:stretch/>
        </p:blipFill>
        <p:spPr>
          <a:xfrm>
            <a:off x="9061200" y="959040"/>
            <a:ext cx="2339640" cy="2135160"/>
          </a:xfrm>
          <a:prstGeom prst="rect">
            <a:avLst/>
          </a:prstGeom>
          <a:ln w="0">
            <a:noFill/>
          </a:ln>
        </p:spPr>
      </p:pic>
      <p:pic>
        <p:nvPicPr>
          <p:cNvPr id="133" name="Obrázek 9" descr="Obsah obrázku text, elektronika, displej, Zobrazovací zařízení&#10;&#10;Obsah generovaný pomocí AI může být nesprávný."/>
          <p:cNvPicPr/>
          <p:nvPr/>
        </p:nvPicPr>
        <p:blipFill>
          <a:blip r:embed="rId3"/>
          <a:stretch/>
        </p:blipFill>
        <p:spPr>
          <a:xfrm>
            <a:off x="6189480" y="3653640"/>
            <a:ext cx="2424240" cy="1897200"/>
          </a:xfrm>
          <a:prstGeom prst="rect">
            <a:avLst/>
          </a:prstGeom>
          <a:ln w="0">
            <a:noFill/>
          </a:ln>
        </p:spPr>
      </p:pic>
      <p:pic>
        <p:nvPicPr>
          <p:cNvPr id="134" name="Obrázek 11" descr="Obsah obrázku elektronika, text, displej, Výstupní zařízení&#10;&#10;Obsah generovaný pomocí AI může být nesprávný."/>
          <p:cNvPicPr/>
          <p:nvPr/>
        </p:nvPicPr>
        <p:blipFill>
          <a:blip r:embed="rId4"/>
          <a:stretch/>
        </p:blipFill>
        <p:spPr>
          <a:xfrm>
            <a:off x="9064800" y="3576240"/>
            <a:ext cx="2159280" cy="197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974840" y="635040"/>
            <a:ext cx="65746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HID – Human Interface Device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7" name="Obrázek 3" descr="How to Format a USB Drive for Mac and PC Use"/>
          <p:cNvPicPr/>
          <p:nvPr/>
        </p:nvPicPr>
        <p:blipFill>
          <a:blip r:embed="rId1"/>
          <a:srcRect l="31219" t="0" r="18579" b="0"/>
          <a:stretch/>
        </p:blipFill>
        <p:spPr>
          <a:xfrm>
            <a:off x="633960" y="640080"/>
            <a:ext cx="4001040" cy="5313960"/>
          </a:xfrm>
          <a:prstGeom prst="rect">
            <a:avLst/>
          </a:prstGeom>
          <a:ln w="0">
            <a:noFill/>
          </a:ln>
        </p:spPr>
      </p:pic>
      <p:cxnSp>
        <p:nvCxnSpPr>
          <p:cNvPr id="138" name="Straight Connector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974480" y="2085840"/>
            <a:ext cx="60901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974840" y="2198880"/>
            <a:ext cx="657468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97438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HID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standardizovaná třída zařízení pro ovládání počítače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OS ho pozná automaticky – bez speciálního ovladače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Funguje přes USB i Bluetooth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Příklady HID: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Klávesnice, myš, gamepad, grafický tablet, joystick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Není HID: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Tiskárna, síťová karta, zvuková karta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i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Co by se stalo, kdyby neexistoval standard HID?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40" name="Rectangl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Rectangle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2" name="Rectangl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974840" y="635040"/>
            <a:ext cx="65746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Klávesnice a myš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4" name="Obrázek 3" descr="Set klávesnice a myši RedThunder K84-B4-DE"/>
          <p:cNvPicPr/>
          <p:nvPr/>
        </p:nvPicPr>
        <p:blipFill>
          <a:blip r:embed="rId1"/>
          <a:srcRect l="18928" t="0" r="5777" b="0"/>
          <a:stretch/>
        </p:blipFill>
        <p:spPr>
          <a:xfrm>
            <a:off x="633960" y="640080"/>
            <a:ext cx="4001040" cy="5313960"/>
          </a:xfrm>
          <a:prstGeom prst="rect">
            <a:avLst/>
          </a:prstGeom>
          <a:ln w="0">
            <a:noFill/>
          </a:ln>
        </p:spPr>
      </p:pic>
      <p:cxnSp>
        <p:nvCxnSpPr>
          <p:cNvPr id="145" name="Straight Connector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974480" y="2085840"/>
            <a:ext cx="60901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974840" y="2198880"/>
            <a:ext cx="657468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97438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Klávesnice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převádí stisk klávesy na digitální signál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Membránová (tichá, levná) vs. mechanická (hmatová zpětná vazba)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Rozložení: QWERTY, QWERTZ, různé národní varianty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Myš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snímá pohyb a přenáší ho jako souřadnice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Optická – laserový paprsek odráží se od podložky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Touchpad – kapacitní snímač, reaguje na vodivost prstu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i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Jak klávesnice pozná, která klávesa je stisknutá?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47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Rectangl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9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974840" y="635040"/>
            <a:ext cx="65746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Dotykové displeje a polohovací zařízení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1" name="Obrázek 3" descr="Touchscreen Desktops: Yay or Nay? - Usability Geek"/>
          <p:cNvPicPr/>
          <p:nvPr/>
        </p:nvPicPr>
        <p:blipFill>
          <a:blip r:embed="rId1"/>
          <a:srcRect l="51295" t="0" r="6531" b="0"/>
          <a:stretch/>
        </p:blipFill>
        <p:spPr>
          <a:xfrm>
            <a:off x="633960" y="640080"/>
            <a:ext cx="4001040" cy="5313960"/>
          </a:xfrm>
          <a:prstGeom prst="rect">
            <a:avLst/>
          </a:prstGeom>
          <a:ln w="0">
            <a:noFill/>
          </a:ln>
        </p:spPr>
      </p:pic>
      <p:cxnSp>
        <p:nvCxnSpPr>
          <p:cNvPr id="152" name="Straight Connecto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974480" y="2085840"/>
            <a:ext cx="60901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4974840" y="2198880"/>
            <a:ext cx="657468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Odporový displej</a:t>
            </a: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reaguje na tlak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Kapacitní displej</a:t>
            </a: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reaguje na elektrický náboj prstu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Dnešní smartphony a tablety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Vícedotyková gesta: pinch, swipe, rotate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Grafický tablet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Absolutní poloha, citlivost na tlak pera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Používají grafici a ilustrátoři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Gamepad / joystick</a:t>
            </a: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herní vstup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i="1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Proč na displeji nefunguje pero nebo tužka?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54" name="Rectangl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Kamera a snímače – vstup obrazu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64548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Snímač obrazu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CMOS – dnešní standard (mobily, webkamery, DSLR)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CCD – starší, kvalitnější obraz, dražší výroba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Objektiv</a:t>
            </a: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soustřeďuje světlo na snímač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Wide vs. tele – různá ohnisková vzdálenost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Mobil má typicky 2–4 objektivy s různými ohniskovými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A/D převod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Snímač zachycuje analogový signál (světlo)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Převede ho na digitální data – matice čísel (pixely)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i="1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Proč má drahý fotoaparát lepší obraz než mobil při stejném rozlišení?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pic>
        <p:nvPicPr>
          <p:cNvPr id="158" name="Obrázek 4" descr="CMOS image sensor: What is it and how does it work? - What Digital Camera"/>
          <p:cNvPicPr/>
          <p:nvPr/>
        </p:nvPicPr>
        <p:blipFill>
          <a:blip r:embed="rId1"/>
          <a:srcRect l="21094" t="0" r="11161" b="0"/>
          <a:stretch/>
        </p:blipFill>
        <p:spPr>
          <a:xfrm>
            <a:off x="8020440" y="1916280"/>
            <a:ext cx="3134880" cy="347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9" name="Rectangl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7859520" y="635040"/>
            <a:ext cx="369000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8767" lnSpcReduction="10000"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4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Mikrofon a A/D převod zvuku</a:t>
            </a:r>
            <a:endParaRPr b="0" lang="cs-CZ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61" name="Obrázek 4" descr=""/>
          <p:cNvPicPr/>
          <p:nvPr/>
        </p:nvPicPr>
        <p:blipFill>
          <a:blip r:embed="rId1"/>
          <a:srcRect l="0" t="0" r="2485" b="0"/>
          <a:stretch/>
        </p:blipFill>
        <p:spPr>
          <a:xfrm>
            <a:off x="633960" y="640080"/>
            <a:ext cx="6909480" cy="5313960"/>
          </a:xfrm>
          <a:prstGeom prst="rect">
            <a:avLst/>
          </a:prstGeom>
          <a:ln w="0">
            <a:noFill/>
          </a:ln>
        </p:spPr>
      </p:pic>
      <p:cxnSp>
        <p:nvCxnSpPr>
          <p:cNvPr id="162" name="Straight Connector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91920" y="2085480"/>
            <a:ext cx="35665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7859520" y="2198880"/>
            <a:ext cx="369000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93441" lnSpcReduction="10000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Mikrofon</a:t>
            </a: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mění zvuk (tlakové vlny) na elektrický signál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Kondenzátorový – citlivý, pro studiový záznam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Dynamický – odolný, živé vystoupení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MEMS – miniaturní, v mobilu a sluchátkách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A/D převod (Analog → Digital)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Zvuk je spojitá vlna – počítač ji musí vzorkovat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Vzorkovací frekvence: 44 100 Hz = CD kvalita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Bitová hloubka: 16 bit = 65 536 úrovní hlasitosti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i="1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Proč se při špatném připojení mikrofonu ozývá šum nebo bzučení?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64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Rectangl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Monitory – od CRT po OLED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64548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CRT (katodová trubice)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do cca 2005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Elektronový paprsek vykresluje obraz řádek po řádku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Velký, těžký – nahrazen plochými displeji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LCD / IPS / VA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dnešní standard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IPS – přesné barvy, wide viewing angle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VA – lepší kontrast, horší odezva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OLED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každý pixel svítí sám, dokonalá černá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Riziko burn-in u statických prvků (taskbar, HUD)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Klíčové parametry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Rozlišení, obnovovací frekvence (Hz), odezva (ms)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pic>
        <p:nvPicPr>
          <p:cNvPr id="168" name="Obrázek 3" descr="What does crt mean? | Lingoland English-English Dictionary"/>
          <p:cNvPicPr/>
          <p:nvPr/>
        </p:nvPicPr>
        <p:blipFill>
          <a:blip r:embed="rId1"/>
          <a:srcRect l="28725" t="0" r="20457" b="0"/>
          <a:stretch/>
        </p:blipFill>
        <p:spPr>
          <a:xfrm>
            <a:off x="8020440" y="1916280"/>
            <a:ext cx="3134880" cy="347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9" name="Rectangle 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974840" y="635040"/>
            <a:ext cx="65746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Barevný gamut a barevné modely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1" name="Obrázek 3" descr="Gamut - Wikipedia"/>
          <p:cNvPicPr/>
          <p:nvPr/>
        </p:nvPicPr>
        <p:blipFill>
          <a:blip r:embed="rId1"/>
          <a:srcRect l="3902" t="0" r="12904" b="0"/>
          <a:stretch/>
        </p:blipFill>
        <p:spPr>
          <a:xfrm>
            <a:off x="633960" y="640080"/>
            <a:ext cx="4001040" cy="5313960"/>
          </a:xfrm>
          <a:prstGeom prst="rect">
            <a:avLst/>
          </a:prstGeom>
          <a:ln w="0">
            <a:noFill/>
          </a:ln>
        </p:spPr>
      </p:pic>
      <p:cxnSp>
        <p:nvCxnSpPr>
          <p:cNvPr id="172" name="Straight Connector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974480" y="2085840"/>
            <a:ext cx="60901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4974840" y="2198880"/>
            <a:ext cx="657468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RGB</a:t>
            </a: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aditivní míchání (světlo)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Červená + Zelená + Modrá → Bílá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Monitor, TV, LED, projektor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CMYK</a:t>
            </a: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subtraktivní míchání (tisk)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Cyan + Magenta + Yellow + Key (černá) → Černá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Tiskárna – barviva pohlcují světlo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Gamut</a:t>
            </a: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rozsah barev, které zařízení zobrazí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sRGB – webový standard (~67 % viditelných barev)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DCI-P3 – kino, profesionální displeje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Adobe RGB – grafický průmysl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i="1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Proč vytištěná fotka vypadá jinak než na monitoru?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74" name="Rectangle 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Rectangle 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Tiskárny a 3D tisk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64548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Inkoustová (inkjet)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Trysky vystřikují kapičky barvy na papír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Levný hardware, drahá náplň, pomalé schnutí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Laserová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Toner (prášek) je přitaven teplem na papír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Rychlá, ekonomická pro kanceláře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3D tiskárna (FDM)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Nanáší roztavené vlákno vrstvu po vrstvě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Výstupní zařízení – vstupem je 3D model (soubor)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i="1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Je 3D tiskárna vstupní nebo výstupní zařízení? Proč?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pic>
        <p:nvPicPr>
          <p:cNvPr id="178" name="Obrázek 5" descr="3D tiskárna EasyThreed K6 pro děti 100x100x100mm"/>
          <p:cNvPicPr/>
          <p:nvPr/>
        </p:nvPicPr>
        <p:blipFill>
          <a:blip r:embed="rId1"/>
          <a:stretch/>
        </p:blipFill>
        <p:spPr>
          <a:xfrm>
            <a:off x="8020440" y="1976040"/>
            <a:ext cx="3134880" cy="3351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9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6411600" y="635040"/>
            <a:ext cx="512676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1893"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Reproduktory a D/A převod zvuku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1" name="Obrázek 4" descr="Obsah obrázku text, diagram, Vykreslený graf, řada/pruh&#10;&#10;Obsah generovaný pomocí AI může být nesprávný."/>
          <p:cNvPicPr/>
          <p:nvPr/>
        </p:nvPicPr>
        <p:blipFill>
          <a:blip r:embed="rId1"/>
          <a:stretch/>
        </p:blipFill>
        <p:spPr>
          <a:xfrm>
            <a:off x="643320" y="1755720"/>
            <a:ext cx="5451120" cy="3025800"/>
          </a:xfrm>
          <a:prstGeom prst="rect">
            <a:avLst/>
          </a:prstGeom>
          <a:ln w="0">
            <a:noFill/>
          </a:ln>
        </p:spPr>
      </p:pic>
      <p:cxnSp>
        <p:nvCxnSpPr>
          <p:cNvPr id="182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411600" y="2085840"/>
            <a:ext cx="47491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6411600" y="2198880"/>
            <a:ext cx="512676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96439" lnSpcReduction="10000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D/A převod (Digital → Analog)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Počítač ukládá zvuk jako čísla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DAC (Digital-to-Analog Converter) převede čísla na elektrický signál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Reproduktor</a:t>
            </a: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mění elektrický signál na zvuk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Elektromagnet rozkmitá membránu → tlakové vlny → zvuk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Sluchátka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Kabelová – přímý analogový nebo digitální signál (USB)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Bluetooth – digitální přenos, DAC uvnitř sluchátek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Latence BT: 40–200 ms (problém při střihu nebo hrách)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i="1" lang="cs-CZ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Proč mají audiofili drahou zvukovou kartu, když má PC integrovaný DAC?</a:t>
            </a:r>
            <a:endParaRPr b="0" lang="cs-CZ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84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USB – generace a zmatek s konektory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64548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97938" lnSpcReduction="10000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Generace USB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USB 2.0 – 480 Mb/s, stále běžný pro myš a klávesnici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USB 3.2 Gen 1 – 5 Gb/s (modrý konektor)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USB 3.2 Gen 2×2 – 20 Gb/s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USB-C ≠ stejný výkon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Konektor USB-C může být USB 2.0, 3.x nebo Thunderbolt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Záleží na kabelech i na portu zařízení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Thunderbolt 4</a:t>
            </a: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40 Gb/s, video, napájení, data v jednom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Stejný konektor jako USB-C – pozná se ikonou blesku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i="1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Proč mi nový kabel USB-C přenáší data pomaleji než starý?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pic>
        <p:nvPicPr>
          <p:cNvPr id="188" name="Obrázek 4" descr="USB: A Journey of Evolution and Versatility"/>
          <p:cNvPicPr/>
          <p:nvPr/>
        </p:nvPicPr>
        <p:blipFill>
          <a:blip r:embed="rId1"/>
          <a:stretch/>
        </p:blipFill>
        <p:spPr>
          <a:xfrm>
            <a:off x="6953760" y="2558880"/>
            <a:ext cx="4882320" cy="2927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Video rozhraní a bezdrátové přenosy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64548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97938" lnSpcReduction="10000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HDMI</a:t>
            </a: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obraz + zvuk, televize a monitory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HDMI 2.1: 4K@120Hz nebo 8K@60Hz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DisplayPort</a:t>
            </a: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monitory, PC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Vyšší šířka pásma, podpora daisy-chain více monitorů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Bezdrátové přenosy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Wi-Fi – síťová komunikace, streaming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Bluetooth – krátký dosah, periferie, audio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NFC – do 10 cm, platby, čipové karty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IR (infračervené) – dálkové ovladače, starší přenos dat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i="1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Proč Bluetooth sluchátka zpožďují zvuk při sledování videa?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pic>
        <p:nvPicPr>
          <p:cNvPr id="191" name="Obrázek 3" descr="Best NFC Mobile Payment Apps: Everything You Need To Know"/>
          <p:cNvPicPr/>
          <p:nvPr/>
        </p:nvPicPr>
        <p:blipFill>
          <a:blip r:embed="rId1"/>
          <a:srcRect l="15114" t="0" r="36783" b="0"/>
          <a:stretch/>
        </p:blipFill>
        <p:spPr>
          <a:xfrm>
            <a:off x="8020440" y="1916280"/>
            <a:ext cx="3134880" cy="347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883DBA-1924-4A0D-AB83-8A60A2885F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CF52871-FF00-4D4A-8396-DA8C6A507140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09a37b55-a4d7-45bd-a73f-33c2b1d41898"/>
    <ds:schemaRef ds:uri="http://purl.org/dc/terms/"/>
    <ds:schemaRef ds:uri="http://purl.org/dc/elements/1.1/"/>
    <ds:schemaRef ds:uri="http://schemas.microsoft.com/office/infopath/2007/PartnerControls"/>
    <ds:schemaRef ds:uri="http://www.w3.org/XML/1998/namespace"/>
    <ds:schemaRef ds:uri="3eb61919-e7f8-4a11-8db4-9145fbd21da9"/>
  </ds:schemaRefs>
</ds:datastoreItem>
</file>

<file path=customXml/itemProps3.xml><?xml version="1.0" encoding="utf-8"?>
<ds:datastoreItem xmlns:ds="http://schemas.openxmlformats.org/officeDocument/2006/customXml" ds:itemID="{3022C7D1-EE9E-4242-B577-CD53C439A6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Application>LibreOffice/24.2.7.2$Linux_X86_64 LibreOffice_project/420$Build-2</Application>
  <AppVersion>15.0000</AppVersion>
  <Words>235</Words>
  <Paragraphs>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2025-10-12T16:48:06Z</dcterms:created>
  <dc:creator>Sládeček David</dc:creator>
  <dc:description/>
  <dc:language>cs-CZ</dc:language>
  <cp:lastModifiedBy>David Sládeček</cp:lastModifiedBy>
  <dcterms:modified xsi:type="dcterms:W3CDTF">2026-10-01T08:32:24Z</dcterms:modified>
  <cp:revision>356</cp:revision>
  <dc:subject/>
  <dc:title>Hardware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  <property fmtid="{D5CDD505-2E9C-101B-9397-08002B2CF9AE}" pid="4" name="Notes">
    <vt:i4>4</vt:i4>
  </property>
  <property fmtid="{D5CDD505-2E9C-101B-9397-08002B2CF9AE}" pid="5" name="PresentationFormat">
    <vt:lpwstr>Širokoúhlá obrazovka</vt:lpwstr>
  </property>
  <property fmtid="{D5CDD505-2E9C-101B-9397-08002B2CF9AE}" pid="6" name="Slides">
    <vt:i4>13</vt:i4>
  </property>
</Properties>
</file>