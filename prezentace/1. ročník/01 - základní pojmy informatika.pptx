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50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677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84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40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376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69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031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953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799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7168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3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71AE7F-4D97-4BA2-A4B9-4577B7C8A835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54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879468-B00A-E4D3-D55F-3B258AC77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Digitální a mediální gramotnost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B606116-439C-4EDD-2C82-2E255EE7F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Informace</a:t>
            </a:r>
          </a:p>
        </p:txBody>
      </p:sp>
    </p:spTree>
    <p:extLst>
      <p:ext uri="{BB962C8B-B14F-4D97-AF65-F5344CB8AC3E}">
        <p14:creationId xmlns:p14="http://schemas.microsoft.com/office/powerpoint/2010/main" val="32867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E5786-93F7-EBC0-2C2D-8F29427B7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/>
              <a:t>Data a informace v digitálním světě</a:t>
            </a: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B8BB803A-7324-9CA9-3165-C8EC42F3A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30342"/>
          <a:stretch>
            <a:fillRect/>
          </a:stretch>
        </p:blipFill>
        <p:spPr>
          <a:xfrm>
            <a:off x="1183017" y="1916318"/>
            <a:ext cx="2376058" cy="1655073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F585EE38-9778-A4D9-92D2-6B509266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07" r="5" b="30991"/>
          <a:stretch>
            <a:fillRect/>
          </a:stretch>
        </p:blipFill>
        <p:spPr>
          <a:xfrm>
            <a:off x="3719942" y="1916318"/>
            <a:ext cx="2376057" cy="1655073"/>
          </a:xfrm>
          <a:prstGeom prst="rect">
            <a:avLst/>
          </a:prstGeom>
        </p:spPr>
      </p:pic>
      <p:pic>
        <p:nvPicPr>
          <p:cNvPr id="12" name="Zástupný obsah 4">
            <a:extLst>
              <a:ext uri="{FF2B5EF4-FFF2-40B4-BE49-F238E27FC236}">
                <a16:creationId xmlns:a16="http://schemas.microsoft.com/office/drawing/2014/main" id="{7CECE511-B5DD-05C4-A43A-69661FBD33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75" r="4" b="6510"/>
          <a:stretch>
            <a:fillRect/>
          </a:stretch>
        </p:blipFill>
        <p:spPr>
          <a:xfrm>
            <a:off x="1183017" y="3750349"/>
            <a:ext cx="2376058" cy="1655073"/>
          </a:xfrm>
          <a:prstGeom prst="rect">
            <a:avLst/>
          </a:prstGeom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68F9389F-84D2-E172-DE50-FE69BC2BA7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655" r="29046"/>
          <a:stretch>
            <a:fillRect/>
          </a:stretch>
        </p:blipFill>
        <p:spPr>
          <a:xfrm>
            <a:off x="3719942" y="3732259"/>
            <a:ext cx="2376057" cy="1655072"/>
          </a:xfrm>
          <a:prstGeom prst="rect">
            <a:avLst/>
          </a:prstGeom>
        </p:spPr>
      </p:pic>
      <p:sp>
        <p:nvSpPr>
          <p:cNvPr id="11" name="Zástupný obsah 10">
            <a:extLst>
              <a:ext uri="{FF2B5EF4-FFF2-40B4-BE49-F238E27FC236}">
                <a16:creationId xmlns:a16="http://schemas.microsoft.com/office/drawing/2014/main" id="{9E74082A-9209-C59D-10CF-108D4BE67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639" y="1845734"/>
            <a:ext cx="4804041" cy="4023360"/>
          </a:xfrm>
        </p:spPr>
        <p:txBody>
          <a:bodyPr>
            <a:normAutofit/>
          </a:bodyPr>
          <a:lstStyle/>
          <a:p>
            <a:r>
              <a:rPr lang="cs-CZ" dirty="0"/>
              <a:t>Proč jsou důležité?</a:t>
            </a:r>
          </a:p>
          <a:p>
            <a:r>
              <a:rPr lang="cs-CZ" dirty="0"/>
              <a:t>Otázka:</a:t>
            </a:r>
            <a:r>
              <a:rPr lang="cs-CZ" i="1" dirty="0">
                <a:solidFill>
                  <a:schemeClr val="accent1"/>
                </a:solidFill>
              </a:rPr>
              <a:t> Co všechno kolem sebe můžeme měřit, zaznamenávat?</a:t>
            </a:r>
          </a:p>
        </p:txBody>
      </p:sp>
    </p:spTree>
    <p:extLst>
      <p:ext uri="{BB962C8B-B14F-4D97-AF65-F5344CB8AC3E}">
        <p14:creationId xmlns:p14="http://schemas.microsoft.com/office/powerpoint/2010/main" val="148880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2B640D-2A22-CD8D-0127-2E0BD248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3EE1F6-67D3-BF44-4209-3C2FAC66D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Fakta nebo hodnoty, které samy o sobě nemají smysl</a:t>
            </a:r>
          </a:p>
          <a:p>
            <a:r>
              <a:rPr lang="cs-CZ" dirty="0"/>
              <a:t>Data nemusí být číselná – mohou být i text, obrázky nebo zvuky</a:t>
            </a:r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02DA6BB5-6704-9830-8709-7EE07F1DDF25}"/>
              </a:ext>
            </a:extLst>
          </p:cNvPr>
          <p:cNvSpPr/>
          <p:nvPr/>
        </p:nvSpPr>
        <p:spPr>
          <a:xfrm>
            <a:off x="3916680" y="3274907"/>
            <a:ext cx="1943947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1602 m</a:t>
            </a:r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9ECE990B-D6E5-23C6-ED86-DCC519CA9680}"/>
              </a:ext>
            </a:extLst>
          </p:cNvPr>
          <p:cNvSpPr/>
          <p:nvPr/>
        </p:nvSpPr>
        <p:spPr>
          <a:xfrm>
            <a:off x="1795780" y="3274907"/>
            <a:ext cx="1943947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13 °C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29960AD3-507A-A39E-EA2C-5F4E2DB5DDB7}"/>
              </a:ext>
            </a:extLst>
          </p:cNvPr>
          <p:cNvSpPr/>
          <p:nvPr/>
        </p:nvSpPr>
        <p:spPr>
          <a:xfrm>
            <a:off x="6094730" y="3274907"/>
            <a:ext cx="1943947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9.58 s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DD0BAEBD-B7CA-C841-23CD-303777BD24EF}"/>
              </a:ext>
            </a:extLst>
          </p:cNvPr>
          <p:cNvSpPr/>
          <p:nvPr/>
        </p:nvSpPr>
        <p:spPr>
          <a:xfrm>
            <a:off x="8215630" y="3274907"/>
            <a:ext cx="2052320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31K lajků</a:t>
            </a:r>
          </a:p>
        </p:txBody>
      </p:sp>
    </p:spTree>
    <p:extLst>
      <p:ext uri="{BB962C8B-B14F-4D97-AF65-F5344CB8AC3E}">
        <p14:creationId xmlns:p14="http://schemas.microsoft.com/office/powerpoint/2010/main" val="346966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406E50-916F-51C7-9175-871B199A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FFCB22-5208-ABB9-0FEE-7C6E3AE91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Informace vznikají tehdy, když data dáme do souvislostí nebo je zpracujeme</a:t>
            </a:r>
          </a:p>
          <a:p>
            <a:r>
              <a:rPr lang="cs-CZ" dirty="0"/>
              <a:t>Kontext, do kterého data vkládáme jim dávají smysl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INFORMACE = DATA + VÝZNAM</a:t>
            </a:r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A94D3169-83AE-157C-E5FD-137F8635B84A}"/>
              </a:ext>
            </a:extLst>
          </p:cNvPr>
          <p:cNvSpPr/>
          <p:nvPr/>
        </p:nvSpPr>
        <p:spPr>
          <a:xfrm>
            <a:off x="1097280" y="2995507"/>
            <a:ext cx="4998720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NEJNIŽŠÍ TEPLOTA DUBNA BYLA 13°C</a:t>
            </a:r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C36E593A-3EE4-BA62-8694-16E877784D0C}"/>
              </a:ext>
            </a:extLst>
          </p:cNvPr>
          <p:cNvSpPr/>
          <p:nvPr/>
        </p:nvSpPr>
        <p:spPr>
          <a:xfrm>
            <a:off x="6272530" y="2995507"/>
            <a:ext cx="4998720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SVĚTOVÝ REKORD NA 100M JE 9.58 s</a:t>
            </a:r>
          </a:p>
        </p:txBody>
      </p:sp>
    </p:spTree>
    <p:extLst>
      <p:ext uri="{BB962C8B-B14F-4D97-AF65-F5344CB8AC3E}">
        <p14:creationId xmlns:p14="http://schemas.microsoft.com/office/powerpoint/2010/main" val="20076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A18284-8B86-256C-94E9-61E4B423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Znalost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C7C8C6-2101-7A15-9BC0-B6EE2A880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Aplikovaná informace</a:t>
            </a:r>
          </a:p>
          <a:p>
            <a:r>
              <a:rPr lang="cs-CZ" dirty="0"/>
              <a:t>Schopnost využít informace k jednání nebo rozhodnutí</a:t>
            </a:r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935521CE-161B-F356-B307-67255447FD37}"/>
              </a:ext>
            </a:extLst>
          </p:cNvPr>
          <p:cNvSpPr/>
          <p:nvPr/>
        </p:nvSpPr>
        <p:spPr>
          <a:xfrm>
            <a:off x="1097280" y="2995507"/>
            <a:ext cx="9678670" cy="13953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/>
              <a:t>TEPLOTA KLESLA POD 25°C A KVĚTINY TAK BUDEME MÉNĚ ZALÉVAT</a:t>
            </a:r>
          </a:p>
        </p:txBody>
      </p:sp>
    </p:spTree>
    <p:extLst>
      <p:ext uri="{BB962C8B-B14F-4D97-AF65-F5344CB8AC3E}">
        <p14:creationId xmlns:p14="http://schemas.microsoft.com/office/powerpoint/2010/main" val="130040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12161D1-C6B6-3512-3DFB-4AD09DE4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 dirty="0"/>
              <a:t>DIKW</a:t>
            </a:r>
          </a:p>
        </p:txBody>
      </p:sp>
      <p:pic>
        <p:nvPicPr>
          <p:cNvPr id="1029" name="Picture 5" descr="undefined">
            <a:extLst>
              <a:ext uri="{FF2B5EF4-FFF2-40B4-BE49-F238E27FC236}">
                <a16:creationId xmlns:a16="http://schemas.microsoft.com/office/drawing/2014/main" id="{835A05AA-A0FF-150D-DB20-E93101ABB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142845"/>
            <a:ext cx="5451627" cy="425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137622-7818-47A9-7764-6A064B33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cs-CZ" dirty="0"/>
              <a:t>Data – surová fakta.</a:t>
            </a:r>
          </a:p>
          <a:p>
            <a:r>
              <a:rPr lang="cs-CZ" dirty="0"/>
              <a:t>Informace – data s významem.</a:t>
            </a:r>
          </a:p>
          <a:p>
            <a:r>
              <a:rPr lang="cs-CZ" dirty="0"/>
              <a:t>Znalosti – schopnost informace využít.</a:t>
            </a:r>
          </a:p>
          <a:p>
            <a:r>
              <a:rPr lang="cs-CZ" dirty="0"/>
              <a:t>Moudrost – schopnost používat znalosti v širších souvislostech.</a:t>
            </a: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385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611EA4-4E47-3C14-5A2E-7385A643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a informace v digitálním světě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2BFFC9-B7BE-FB13-7842-899592432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Sociální sítě</a:t>
            </a:r>
          </a:p>
          <a:p>
            <a:r>
              <a:rPr lang="cs-CZ" dirty="0"/>
              <a:t>Data = počet lajků, čas sledování. Informace = co se uživateli líbí</a:t>
            </a:r>
          </a:p>
          <a:p>
            <a:r>
              <a:rPr lang="cs-CZ" b="1" dirty="0"/>
              <a:t>Fitness aplikace</a:t>
            </a:r>
          </a:p>
          <a:p>
            <a:r>
              <a:rPr lang="cs-CZ" dirty="0"/>
              <a:t>Data = kroky. Informace = plnění denního cíle</a:t>
            </a:r>
          </a:p>
          <a:p>
            <a:r>
              <a:rPr lang="cs-CZ" b="1" dirty="0"/>
              <a:t>E-shopy</a:t>
            </a:r>
          </a:p>
          <a:p>
            <a:r>
              <a:rPr lang="cs-CZ" dirty="0"/>
              <a:t>Data = historie nákupů. Informace = co doporučit zákazníkovi k dalšímu nákupu</a:t>
            </a:r>
          </a:p>
          <a:p>
            <a:endParaRPr lang="cs-CZ" dirty="0"/>
          </a:p>
          <a:p>
            <a:r>
              <a:rPr lang="cs-CZ" dirty="0"/>
              <a:t>Samotná data bez kontextu nestačí.</a:t>
            </a:r>
          </a:p>
          <a:p>
            <a:r>
              <a:rPr lang="cs-CZ" dirty="0"/>
              <a:t>Jak poznat, že data říkají něco užitečného?</a:t>
            </a:r>
          </a:p>
        </p:txBody>
      </p:sp>
    </p:spTree>
    <p:extLst>
      <p:ext uri="{BB962C8B-B14F-4D97-AF65-F5344CB8AC3E}">
        <p14:creationId xmlns:p14="http://schemas.microsoft.com/office/powerpoint/2010/main" val="1204247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BF1809-0EE2-9D18-CFB8-D63B48E49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týdenního prodeje lístků do kina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A029EAC4-3EEB-25AD-00AB-1C57064C5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289834"/>
              </p:ext>
            </p:extLst>
          </p:nvPr>
        </p:nvGraphicFramePr>
        <p:xfrm>
          <a:off x="1096963" y="2316480"/>
          <a:ext cx="1005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381939004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5014598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64797485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20420416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53338158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63641371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44918455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694065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Pondělí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Úterý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Středa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Čtvrtek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Pátek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Sobota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Neděle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10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Dospělí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342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Děti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10137"/>
                  </a:ext>
                </a:extLst>
              </a:tr>
            </a:tbl>
          </a:graphicData>
        </a:graphic>
      </p:graphicFrame>
      <p:sp>
        <p:nvSpPr>
          <p:cNvPr id="5" name="TextovéPole 4">
            <a:extLst>
              <a:ext uri="{FF2B5EF4-FFF2-40B4-BE49-F238E27FC236}">
                <a16:creationId xmlns:a16="http://schemas.microsoft.com/office/drawing/2014/main" id="{C277EF67-ADD8-9A7F-86D8-0AC439D3C6EC}"/>
              </a:ext>
            </a:extLst>
          </p:cNvPr>
          <p:cNvSpPr txBox="1"/>
          <p:nvPr/>
        </p:nvSpPr>
        <p:spPr>
          <a:xfrm>
            <a:off x="1143000" y="4054263"/>
            <a:ext cx="10012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Co z uvedeného jsou data, informace, znalost?</a:t>
            </a:r>
          </a:p>
          <a:p>
            <a:r>
              <a:rPr lang="cs-CZ" dirty="0"/>
              <a:t>Jakou informaci zde můžeme získat?</a:t>
            </a:r>
          </a:p>
          <a:p>
            <a:r>
              <a:rPr lang="cs-CZ" dirty="0"/>
              <a:t>Jaká znalost z toho plyne?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235062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4E30B0-CADE-41FF-9B51-643F3F70E782}"/>
</file>

<file path=customXml/itemProps2.xml><?xml version="1.0" encoding="utf-8"?>
<ds:datastoreItem xmlns:ds="http://schemas.openxmlformats.org/officeDocument/2006/customXml" ds:itemID="{BED45807-61D4-4B51-8EDF-3F3CA8F454A5}"/>
</file>

<file path=customXml/itemProps3.xml><?xml version="1.0" encoding="utf-8"?>
<ds:datastoreItem xmlns:ds="http://schemas.openxmlformats.org/officeDocument/2006/customXml" ds:itemID="{98C587AC-2F67-4D48-A39D-E30D3603C593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</TotalTime>
  <Words>262</Words>
  <Application>Microsoft Office PowerPoint</Application>
  <PresentationFormat>Širokoúhlá obrazovka</PresentationFormat>
  <Paragraphs>69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Retrospektiva</vt:lpstr>
      <vt:lpstr>Digitální a mediální gramotnost</vt:lpstr>
      <vt:lpstr>Data a informace v digitálním světě</vt:lpstr>
      <vt:lpstr>Data</vt:lpstr>
      <vt:lpstr>Informace</vt:lpstr>
      <vt:lpstr>Znalost</vt:lpstr>
      <vt:lpstr>DIKW</vt:lpstr>
      <vt:lpstr>Data a informace v digitálním světě</vt:lpstr>
      <vt:lpstr>Přehled týdenního prodeje lístků do kina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Sládeček David</dc:creator>
  <cp:lastModifiedBy>Sládeček David</cp:lastModifiedBy>
  <cp:revision>4</cp:revision>
  <dcterms:created xsi:type="dcterms:W3CDTF">2025-09-29T05:50:10Z</dcterms:created>
  <dcterms:modified xsi:type="dcterms:W3CDTF">2025-09-29T06:56:44Z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</Properties>
</file>