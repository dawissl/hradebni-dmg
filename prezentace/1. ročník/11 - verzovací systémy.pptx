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8"/>
  </p:notesMasterIdLst>
  <p:sldIdLst>
    <p:sldId id="256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FFBE5-E8A8-43A0-ABEF-81F5848E3597}" v="382" dt="2025-12-16T10:39:08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3723E4FB-8B83-47CC-8875-BF609734F302}"/>
    <pc:docChg chg="modSld">
      <pc:chgData name="Sládeček David" userId="S::sladecek@hradebni.cz::474d93f0-3a32-49cc-b837-47806091b590" providerId="AD" clId="Web-{3723E4FB-8B83-47CC-8875-BF609734F302}" dt="2025-12-12T05:57:36.335" v="9" actId="20577"/>
      <pc:docMkLst>
        <pc:docMk/>
      </pc:docMkLst>
      <pc:sldChg chg="modSp">
        <pc:chgData name="Sládeček David" userId="S::sladecek@hradebni.cz::474d93f0-3a32-49cc-b837-47806091b590" providerId="AD" clId="Web-{3723E4FB-8B83-47CC-8875-BF609734F302}" dt="2025-12-12T05:57:36.335" v="9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3723E4FB-8B83-47CC-8875-BF609734F302}" dt="2025-12-12T05:57:36.335" v="9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03FFFBE5-E8A8-43A0-ABEF-81F5848E3597}"/>
    <pc:docChg chg="addSld modSld">
      <pc:chgData name="Sládeček David" userId="S::sladecek@hradebni.cz::474d93f0-3a32-49cc-b837-47806091b590" providerId="AD" clId="Web-{03FFFBE5-E8A8-43A0-ABEF-81F5848E3597}" dt="2025-12-16T10:39:07.609" v="362" actId="20577"/>
      <pc:docMkLst>
        <pc:docMk/>
      </pc:docMkLst>
      <pc:sldChg chg="modSp new">
        <pc:chgData name="Sládeček David" userId="S::sladecek@hradebni.cz::474d93f0-3a32-49cc-b837-47806091b590" providerId="AD" clId="Web-{03FFFBE5-E8A8-43A0-ABEF-81F5848E3597}" dt="2025-12-16T10:20:43.952" v="15" actId="20577"/>
        <pc:sldMkLst>
          <pc:docMk/>
          <pc:sldMk cId="4267540812" sldId="257"/>
        </pc:sldMkLst>
        <pc:spChg chg="mod">
          <ac:chgData name="Sládeček David" userId="S::sladecek@hradebni.cz::474d93f0-3a32-49cc-b837-47806091b590" providerId="AD" clId="Web-{03FFFBE5-E8A8-43A0-ABEF-81F5848E3597}" dt="2025-12-16T10:20:15.701" v="2" actId="20577"/>
          <ac:spMkLst>
            <pc:docMk/>
            <pc:sldMk cId="4267540812" sldId="257"/>
            <ac:spMk id="2" creationId="{629869F3-CCCA-DF19-C934-B0DB35E344A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0:43.952" v="15" actId="20577"/>
          <ac:spMkLst>
            <pc:docMk/>
            <pc:sldMk cId="4267540812" sldId="257"/>
            <ac:spMk id="3" creationId="{99BCD2B7-6AFE-4D3F-78F9-66613C2D801D}"/>
          </ac:spMkLst>
        </pc:spChg>
      </pc:sldChg>
      <pc:sldChg chg="addSp modSp new mod setBg">
        <pc:chgData name="Sládeček David" userId="S::sladecek@hradebni.cz::474d93f0-3a32-49cc-b837-47806091b590" providerId="AD" clId="Web-{03FFFBE5-E8A8-43A0-ABEF-81F5848E3597}" dt="2025-12-16T10:29:49.058" v="321"/>
        <pc:sldMkLst>
          <pc:docMk/>
          <pc:sldMk cId="1473632039" sldId="258"/>
        </pc:sldMkLst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2" creationId="{04D30C7B-BE63-82B4-99AC-8A42C66AAAB4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3" creationId="{685BE50F-1794-BE74-D069-029388B4BE42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03FFFBE5-E8A8-43A0-ABEF-81F5848E3597}" dt="2025-12-16T10:29:49.058" v="321"/>
          <ac:picMkLst>
            <pc:docMk/>
            <pc:sldMk cId="1473632039" sldId="258"/>
            <ac:picMk id="5" creationId="{654CD7E0-9E69-15C7-0234-39B1EDB68959}"/>
          </ac:picMkLst>
        </pc:picChg>
        <pc:cxnChg chg="add">
          <ac:chgData name="Sládeček David" userId="S::sladecek@hradebni.cz::474d93f0-3a32-49cc-b837-47806091b590" providerId="AD" clId="Web-{03FFFBE5-E8A8-43A0-ABEF-81F5848E3597}" dt="2025-12-16T10:29:49.058" v="321"/>
          <ac:cxnSpMkLst>
            <pc:docMk/>
            <pc:sldMk cId="1473632039" sldId="258"/>
            <ac:cxnSpMk id="13" creationId="{5AB158E9-1B40-4CD6-95F0-95CA11DF7B7A}"/>
          </ac:cxnSpMkLst>
        </pc:cxnChg>
      </pc:sldChg>
      <pc:sldChg chg="addSp modSp new mod modClrScheme chgLayout">
        <pc:chgData name="Sládeček David" userId="S::sladecek@hradebni.cz::474d93f0-3a32-49cc-b837-47806091b590" providerId="AD" clId="Web-{03FFFBE5-E8A8-43A0-ABEF-81F5848E3597}" dt="2025-12-16T10:25:35.954" v="104" actId="20577"/>
        <pc:sldMkLst>
          <pc:docMk/>
          <pc:sldMk cId="728584780" sldId="259"/>
        </pc:sldMkLst>
        <pc:spChg chg="mod ord">
          <ac:chgData name="Sládeček David" userId="S::sladecek@hradebni.cz::474d93f0-3a32-49cc-b837-47806091b590" providerId="AD" clId="Web-{03FFFBE5-E8A8-43A0-ABEF-81F5848E3597}" dt="2025-12-16T10:22:23.359" v="68"/>
          <ac:spMkLst>
            <pc:docMk/>
            <pc:sldMk cId="728584780" sldId="259"/>
            <ac:spMk id="2" creationId="{923D85B0-B154-89CE-FD09-30EEDED15DA2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3:57.030" v="91" actId="20577"/>
          <ac:spMkLst>
            <pc:docMk/>
            <pc:sldMk cId="728584780" sldId="259"/>
            <ac:spMk id="3" creationId="{79437D04-12DF-10D8-0527-3014464A2F81}"/>
          </ac:spMkLst>
        </pc:spChg>
        <pc:spChg chg="add mod ord">
          <ac:chgData name="Sládeček David" userId="S::sladecek@hradebni.cz::474d93f0-3a32-49cc-b837-47806091b590" providerId="AD" clId="Web-{03FFFBE5-E8A8-43A0-ABEF-81F5848E3597}" dt="2025-12-16T10:25:35.954" v="104" actId="20577"/>
          <ac:spMkLst>
            <pc:docMk/>
            <pc:sldMk cId="728584780" sldId="259"/>
            <ac:spMk id="4" creationId="{D04066B9-0574-50C9-451B-23AD7CB3A9E7}"/>
          </ac:spMkLst>
        </pc:spChg>
      </pc:sldChg>
      <pc:sldChg chg="addSp delSp modSp new mod modClrScheme chgLayout">
        <pc:chgData name="Sládeček David" userId="S::sladecek@hradebni.cz::474d93f0-3a32-49cc-b837-47806091b590" providerId="AD" clId="Web-{03FFFBE5-E8A8-43A0-ABEF-81F5848E3597}" dt="2025-12-16T10:29:56.339" v="322" actId="20577"/>
        <pc:sldMkLst>
          <pc:docMk/>
          <pc:sldMk cId="1000496981" sldId="260"/>
        </pc:sldMkLst>
        <pc:spChg chg="mod ord">
          <ac:chgData name="Sládeček David" userId="S::sladecek@hradebni.cz::474d93f0-3a32-49cc-b837-47806091b590" providerId="AD" clId="Web-{03FFFBE5-E8A8-43A0-ABEF-81F5848E3597}" dt="2025-12-16T10:26:03.829" v="123" actId="20577"/>
          <ac:spMkLst>
            <pc:docMk/>
            <pc:sldMk cId="1000496981" sldId="260"/>
            <ac:spMk id="2" creationId="{36C773F7-38CD-93F4-2E57-493B7BCF6E2E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7:41.573" v="225" actId="20577"/>
          <ac:spMkLst>
            <pc:docMk/>
            <pc:sldMk cId="1000496981" sldId="260"/>
            <ac:spMk id="3" creationId="{9CFF80DB-DF5A-D672-2376-1A73A6C80D98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9:56.339" v="322" actId="20577"/>
          <ac:spMkLst>
            <pc:docMk/>
            <pc:sldMk cId="1000496981" sldId="260"/>
            <ac:spMk id="4" creationId="{67A9771B-F349-8DB8-ECCC-5E31B6A552F2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5" creationId="{FFE54B7A-86D2-68CE-5389-176ECF0E2E90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6" creationId="{91738E7B-2A2B-189A-98D2-3ABE1C01DD40}"/>
          </ac:spMkLst>
        </pc:spChg>
      </pc:sldChg>
      <pc:sldChg chg="delSp modSp new mod modClrScheme chgLayout">
        <pc:chgData name="Sládeček David" userId="S::sladecek@hradebni.cz::474d93f0-3a32-49cc-b837-47806091b590" providerId="AD" clId="Web-{03FFFBE5-E8A8-43A0-ABEF-81F5848E3597}" dt="2025-12-16T10:38:59.015" v="360" actId="20577"/>
        <pc:sldMkLst>
          <pc:docMk/>
          <pc:sldMk cId="1830430625" sldId="261"/>
        </pc:sldMkLst>
        <pc:spChg chg="mod ord">
          <ac:chgData name="Sládeček David" userId="S::sladecek@hradebni.cz::474d93f0-3a32-49cc-b837-47806091b590" providerId="AD" clId="Web-{03FFFBE5-E8A8-43A0-ABEF-81F5848E3597}" dt="2025-12-16T10:35:36.233" v="328" actId="20577"/>
          <ac:spMkLst>
            <pc:docMk/>
            <pc:sldMk cId="1830430625" sldId="261"/>
            <ac:spMk id="2" creationId="{C91C4337-31D6-151D-EE09-C6C6B36E8B2F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38:59.015" v="360" actId="20577"/>
          <ac:spMkLst>
            <pc:docMk/>
            <pc:sldMk cId="1830430625" sldId="261"/>
            <ac:spMk id="3" creationId="{A20083D5-7D9C-B29C-700F-E5C566B71D25}"/>
          </ac:spMkLst>
        </pc:spChg>
        <pc:spChg chg="del">
          <ac:chgData name="Sládeček David" userId="S::sladecek@hradebni.cz::474d93f0-3a32-49cc-b837-47806091b590" providerId="AD" clId="Web-{03FFFBE5-E8A8-43A0-ABEF-81F5848E3597}" dt="2025-12-16T10:35:10.982" v="324"/>
          <ac:spMkLst>
            <pc:docMk/>
            <pc:sldMk cId="1830430625" sldId="261"/>
            <ac:spMk id="4" creationId="{C1D4A191-F157-5982-5AC6-EBDBADCDBA6E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8:56.265" v="358" actId="20577"/>
        <pc:sldMkLst>
          <pc:docMk/>
          <pc:sldMk cId="1374568397" sldId="262"/>
        </pc:sldMkLst>
        <pc:spChg chg="mod">
          <ac:chgData name="Sládeček David" userId="S::sladecek@hradebni.cz::474d93f0-3a32-49cc-b837-47806091b590" providerId="AD" clId="Web-{03FFFBE5-E8A8-43A0-ABEF-81F5848E3597}" dt="2025-12-16T10:35:47.998" v="333" actId="20577"/>
          <ac:spMkLst>
            <pc:docMk/>
            <pc:sldMk cId="1374568397" sldId="262"/>
            <ac:spMk id="2" creationId="{6FE9D2DA-B24C-0048-EF2D-ADCE7CB7987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8:56.265" v="358" actId="20577"/>
          <ac:spMkLst>
            <pc:docMk/>
            <pc:sldMk cId="1374568397" sldId="262"/>
            <ac:spMk id="3" creationId="{50E1DD1A-24D0-123C-29C2-47E897111720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9:07.609" v="362" actId="20577"/>
        <pc:sldMkLst>
          <pc:docMk/>
          <pc:sldMk cId="2899846098" sldId="263"/>
        </pc:sldMkLst>
        <pc:spChg chg="mod">
          <ac:chgData name="Sládeček David" userId="S::sladecek@hradebni.cz::474d93f0-3a32-49cc-b837-47806091b590" providerId="AD" clId="Web-{03FFFBE5-E8A8-43A0-ABEF-81F5848E3597}" dt="2025-12-16T10:38:16.687" v="341" actId="20577"/>
          <ac:spMkLst>
            <pc:docMk/>
            <pc:sldMk cId="2899846098" sldId="263"/>
            <ac:spMk id="2" creationId="{BCF90F2C-F361-5C9A-76A5-216F2582D406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9:07.609" v="362" actId="20577"/>
          <ac:spMkLst>
            <pc:docMk/>
            <pc:sldMk cId="2899846098" sldId="263"/>
            <ac:spMk id="3" creationId="{6F3FED28-7CB6-A3AB-D325-4201BDBE36EA}"/>
          </ac:spMkLst>
        </pc:spChg>
      </pc:sldChg>
    </pc:docChg>
  </pc:docChgLst>
  <pc:docChgLst>
    <pc:chgData clId="Web-{3723E4FB-8B83-47CC-8875-BF609734F302}"/>
    <pc:docChg chg="delSld">
      <pc:chgData name="" userId="" providerId="" clId="Web-{3723E4FB-8B83-47CC-8875-BF609734F302}" dt="2025-12-12T05:57:20.429" v="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02.02.2026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 err="1" smtClean="0"/>
              <a:t>Verzovací</a:t>
            </a:r>
            <a:r>
              <a:rPr lang="cs-CZ" dirty="0" smtClean="0"/>
              <a:t> systémy</a:t>
            </a:r>
            <a:endParaRPr lang="cs-CZ" dirty="0">
              <a:ea typeface="Calibri Light"/>
              <a:cs typeface="Calibri Light"/>
            </a:endParaRP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B04D6BB-F5E6-AE61-1C76-9C22AD978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Proč potřebujeme </a:t>
            </a:r>
            <a:r>
              <a:rPr lang="cs-CZ" dirty="0" err="1"/>
              <a:t>verzovat</a:t>
            </a:r>
            <a:r>
              <a:rPr lang="cs-CZ" dirty="0"/>
              <a:t> svou práci?</a:t>
            </a:r>
          </a:p>
        </p:txBody>
      </p:sp>
      <p:pic>
        <p:nvPicPr>
          <p:cNvPr id="5" name="Obrázek 4" descr="CDN media">
            <a:extLst>
              <a:ext uri="{FF2B5EF4-FFF2-40B4-BE49-F238E27FC236}">
                <a16:creationId xmlns:a16="http://schemas.microsoft.com/office/drawing/2014/main" id="{FA92D12A-7EE1-DB49-79D3-DD76E5EA8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2" y="1831444"/>
            <a:ext cx="3998540" cy="4426165"/>
          </a:xfrm>
          <a:prstGeom prst="rect">
            <a:avLst/>
          </a:prstGeom>
          <a:noFill/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E1B1187-C6BD-FE1F-05FF-2FE7F9546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2400" b="1" dirty="0"/>
              <a:t>Problémy bez </a:t>
            </a:r>
            <a:r>
              <a:rPr lang="cs-CZ" sz="2400" b="1" dirty="0" err="1"/>
              <a:t>verzovacího</a:t>
            </a:r>
            <a:r>
              <a:rPr lang="cs-CZ" sz="2400" b="1" dirty="0"/>
              <a:t> systému</a:t>
            </a:r>
            <a:endParaRPr lang="cs-CZ" sz="2400" dirty="0"/>
          </a:p>
          <a:p>
            <a:pPr marL="629920" lvl="1" indent="-305435"/>
            <a:r>
              <a:rPr lang="cs-CZ" sz="2100" dirty="0"/>
              <a:t>Přepisování souborů</a:t>
            </a:r>
          </a:p>
          <a:p>
            <a:pPr marL="629920" lvl="1" indent="-305435">
              <a:lnSpc>
                <a:spcPct val="110000"/>
              </a:lnSpc>
            </a:pPr>
            <a:r>
              <a:rPr lang="cs-CZ" sz="2100" dirty="0"/>
              <a:t>Ztráta funkční verze</a:t>
            </a:r>
          </a:p>
          <a:p>
            <a:pPr marL="629920" lvl="1" indent="-305435">
              <a:lnSpc>
                <a:spcPct val="110000"/>
              </a:lnSpc>
            </a:pPr>
            <a:r>
              <a:rPr lang="cs-CZ" sz="2100" dirty="0"/>
              <a:t>Chaos při týmové práci</a:t>
            </a:r>
          </a:p>
          <a:p>
            <a:pPr marL="305435" indent="-305435"/>
            <a:endParaRPr lang="cs-CZ" sz="2400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3F8A534-0056-C781-6EE5-6144BCB7DE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02.02.2026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42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2A4B2A-384A-68B9-F0D7-A6A91E953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Verzovací</a:t>
            </a:r>
            <a:r>
              <a:rPr lang="cs-CZ" dirty="0"/>
              <a:t> systém 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DA3D5E2-A2FF-198E-540D-FB951A307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>
              <a:spcBef>
                <a:spcPts val="20"/>
              </a:spcBef>
            </a:pPr>
            <a:r>
              <a:rPr lang="cs-CZ" sz="2000" dirty="0">
                <a:ea typeface="+mn-lt"/>
                <a:cs typeface="+mn-lt"/>
              </a:rPr>
              <a:t>Systém zaznamenávající změny v souborech v průběhu času</a:t>
            </a:r>
            <a:endParaRPr lang="cs-CZ" sz="2000"/>
          </a:p>
          <a:p>
            <a:pPr marL="305435" indent="-305435">
              <a:spcBef>
                <a:spcPts val="20"/>
              </a:spcBef>
            </a:pPr>
            <a:r>
              <a:rPr lang="cs-CZ" sz="2000" dirty="0">
                <a:ea typeface="+mn-lt"/>
                <a:cs typeface="+mn-lt"/>
              </a:rPr>
              <a:t>Umožňuje návrat na starší verze souborů</a:t>
            </a:r>
            <a:endParaRPr lang="cs-CZ" sz="2000"/>
          </a:p>
          <a:p>
            <a:pPr marL="305435" indent="-305435">
              <a:spcBef>
                <a:spcPts val="20"/>
              </a:spcBef>
            </a:pPr>
            <a:r>
              <a:rPr lang="cs-CZ" sz="2000" dirty="0">
                <a:ea typeface="+mn-lt"/>
                <a:cs typeface="+mn-lt"/>
              </a:rPr>
              <a:t>Nejčastější použití mezi programátory a vývojáři</a:t>
            </a:r>
            <a:endParaRPr lang="cs-CZ" sz="2000"/>
          </a:p>
          <a:p>
            <a:pPr marL="305435" indent="-305435">
              <a:lnSpc>
                <a:spcPct val="110000"/>
              </a:lnSpc>
              <a:spcBef>
                <a:spcPts val="20"/>
              </a:spcBef>
            </a:pPr>
            <a:r>
              <a:rPr lang="cs-CZ" sz="2000" dirty="0">
                <a:ea typeface="+mn-lt"/>
                <a:cs typeface="+mn-lt"/>
              </a:rPr>
              <a:t>Lze použít na libovolné typy souborů</a:t>
            </a:r>
            <a:endParaRPr lang="cs-CZ" sz="2000"/>
          </a:p>
          <a:p>
            <a:pPr marL="305435" indent="-305435">
              <a:lnSpc>
                <a:spcPct val="110000"/>
              </a:lnSpc>
              <a:spcBef>
                <a:spcPts val="20"/>
              </a:spcBef>
            </a:pPr>
            <a:r>
              <a:rPr lang="cs-CZ" sz="2000" dirty="0">
                <a:ea typeface="+mn-lt"/>
                <a:cs typeface="+mn-lt"/>
              </a:rPr>
              <a:t>Mimo samotné změny uchovává informaci o tom, kdo změnu vytvořil</a:t>
            </a:r>
            <a:endParaRPr lang="cs-CZ" sz="2000"/>
          </a:p>
          <a:p>
            <a:pPr marL="305435" indent="-305435">
              <a:lnSpc>
                <a:spcPct val="110000"/>
              </a:lnSpc>
            </a:pPr>
            <a:r>
              <a:rPr lang="cs-CZ" sz="2000" dirty="0">
                <a:ea typeface="+mn-lt"/>
                <a:cs typeface="+mn-lt"/>
              </a:rPr>
              <a:t>Vhodné pro práci více lidí na stejném projektu</a:t>
            </a:r>
            <a:endParaRPr lang="cs-CZ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4E77BD6-6C56-E12A-9EE2-DC35A8F7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27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B37E72-B602-B69A-97CD-04F0E07C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</a:t>
            </a:r>
            <a:r>
              <a:rPr lang="cs-CZ" dirty="0" err="1"/>
              <a:t>verzovacích</a:t>
            </a:r>
            <a:r>
              <a:rPr lang="cs-CZ" dirty="0"/>
              <a:t> systémů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C8262F-9E17-6F90-61EC-05B644D34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cs-CZ" sz="2000" dirty="0">
                <a:ea typeface="+mn-lt"/>
                <a:cs typeface="+mn-lt"/>
              </a:rPr>
              <a:t>Lokální </a:t>
            </a:r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Uživatel si samostatně vytváří jednotlivé verze</a:t>
            </a:r>
            <a:endParaRPr lang="cs-CZ" sz="1800" dirty="0"/>
          </a:p>
          <a:p>
            <a:pPr marL="305435" indent="-305435"/>
            <a:r>
              <a:rPr lang="cs-CZ" sz="2000" dirty="0">
                <a:ea typeface="+mn-lt"/>
                <a:cs typeface="+mn-lt"/>
              </a:rPr>
              <a:t>Centrální (SVN) </a:t>
            </a:r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Veškeré úpravy od přispěvovatelů jsou uloženy na jednom místě</a:t>
            </a:r>
            <a:endParaRPr lang="cs-CZ" sz="1800"/>
          </a:p>
          <a:p>
            <a:pPr marL="305435" indent="-305435"/>
            <a:r>
              <a:rPr lang="cs-CZ" sz="2000" dirty="0">
                <a:ea typeface="+mn-lt"/>
                <a:cs typeface="+mn-lt"/>
              </a:rPr>
              <a:t>Distribuované (Git)</a:t>
            </a:r>
            <a:endParaRPr lang="cs-CZ" sz="2000" dirty="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Každá kopie u přispěvatele je zároveň zálohou </a:t>
            </a:r>
            <a:endParaRPr lang="cs-CZ"/>
          </a:p>
          <a:p>
            <a:pPr marL="305435" indent="-305435"/>
            <a:endParaRPr lang="cs-CZ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55EA6F8-17B7-F642-1325-892C595ED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149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C74E029-3E36-6703-8987-3F34014B3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Centrální vs distribuované systémy</a:t>
            </a:r>
          </a:p>
        </p:txBody>
      </p:sp>
      <p:pic>
        <p:nvPicPr>
          <p:cNvPr id="5" name="Zástupný obsah 4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6110F5F5-FF2B-59C3-A36A-6B704AF3B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2811" y="2678847"/>
            <a:ext cx="4762444" cy="3308793"/>
          </a:xfrm>
          <a:prstGeom prst="rect">
            <a:avLst/>
          </a:prstGeom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EFBD55D-DD7E-6C8E-76DB-E88B2B64C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  <p:pic>
        <p:nvPicPr>
          <p:cNvPr id="6" name="Obrázek 5" descr="Obsah obrázku text, snímek obrazovky, Písmo, design&#10;&#10;Obsah generovaný pomocí AI může být nesprávný.">
            <a:extLst>
              <a:ext uri="{FF2B5EF4-FFF2-40B4-BE49-F238E27FC236}">
                <a16:creationId xmlns:a16="http://schemas.microsoft.com/office/drawing/2014/main" id="{E77BF747-8B84-9913-7146-285AA16C6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591" y="1582615"/>
            <a:ext cx="3932836" cy="4740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72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E96F0-D439-2BAC-6C10-0A9F7B76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BAB9815-0594-694E-8DD5-81556C6FF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Centrální vs distribuované systémy</a:t>
            </a:r>
          </a:p>
        </p:txBody>
      </p:sp>
      <p:pic>
        <p:nvPicPr>
          <p:cNvPr id="12" name="Zástupný obsah 11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765DE4A9-6E9F-1C70-28FA-00FBF1FC24E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7183" y="2815518"/>
            <a:ext cx="5690370" cy="2186890"/>
          </a:xfrm>
          <a:prstGeom prst="rect">
            <a:avLst/>
          </a:prstGeom>
        </p:spPr>
      </p:pic>
      <p:pic>
        <p:nvPicPr>
          <p:cNvPr id="17" name="Zástupný obsah 16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81B005E3-4A8F-4376-5BAA-CFB1826B8E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14446" y="2824927"/>
            <a:ext cx="5678080" cy="2174216"/>
          </a:xfrm>
          <a:prstGeom prst="rect">
            <a:avLst/>
          </a:prstGeom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B97ACAE-EAE7-470E-4557-A53D2C41F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165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49D212-350C-9E8A-1027-D0A0B3621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Proč </a:t>
            </a:r>
            <a:r>
              <a:rPr lang="cs-CZ" dirty="0" err="1"/>
              <a:t>git</a:t>
            </a:r>
            <a:r>
              <a:rPr lang="cs-CZ" dirty="0"/>
              <a:t>?</a:t>
            </a:r>
          </a:p>
        </p:txBody>
      </p:sp>
      <p:pic>
        <p:nvPicPr>
          <p:cNvPr id="5" name="Obrázek 4" descr="Soubor:Git-logo.svg – Wikipedie">
            <a:extLst>
              <a:ext uri="{FF2B5EF4-FFF2-40B4-BE49-F238E27FC236}">
                <a16:creationId xmlns:a16="http://schemas.microsoft.com/office/drawing/2014/main" id="{8E0A4762-6B86-CBFB-0368-0C0B6AEE8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4" y="2960120"/>
            <a:ext cx="5194767" cy="2168815"/>
          </a:xfrm>
          <a:prstGeom prst="rect">
            <a:avLst/>
          </a:prstGeom>
          <a:noFill/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66B3DAA-EEB7-FFF7-741C-45185D20B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2000" dirty="0"/>
              <a:t>Distribuovaný systém</a:t>
            </a:r>
          </a:p>
          <a:p>
            <a:pPr marL="305435" indent="-305435"/>
            <a:r>
              <a:rPr lang="cs-CZ" sz="2000" dirty="0"/>
              <a:t>Každý má kompletní historii</a:t>
            </a:r>
          </a:p>
          <a:p>
            <a:pPr marL="305435" indent="-305435"/>
            <a:r>
              <a:rPr lang="cs-CZ" sz="2000" dirty="0"/>
              <a:t>Funguje i bez internetu</a:t>
            </a:r>
          </a:p>
          <a:p>
            <a:pPr marL="305435" indent="-305435"/>
            <a:endParaRPr lang="cs-CZ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8CFC749-7522-B749-DE25-93AA243B93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02.02.2026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38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B8AE044-8BAD-A72B-1205-B092D39B7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Jak </a:t>
            </a:r>
            <a:r>
              <a:rPr lang="cs-CZ" dirty="0" err="1"/>
              <a:t>git</a:t>
            </a:r>
            <a:r>
              <a:rPr lang="cs-CZ" dirty="0"/>
              <a:t> uvažuje o datech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28906D9-C730-D240-3427-604F9C98C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cs-CZ" dirty="0">
                <a:ea typeface="+mn-lt"/>
                <a:cs typeface="+mn-lt"/>
              </a:rPr>
              <a:t>Většina ostatních systémů ukládá informace jako seznamy změn souborů</a:t>
            </a:r>
            <a:endParaRPr lang="cs-CZ" dirty="0"/>
          </a:p>
          <a:p>
            <a:pPr marL="305435" indent="-305435"/>
            <a:r>
              <a:rPr lang="cs-CZ">
                <a:ea typeface="+mn-lt"/>
                <a:cs typeface="+mn-lt"/>
              </a:rPr>
              <a:t>Uložené informace chápou jako sadu souborů a změn každého souboru v čase</a:t>
            </a:r>
            <a:endParaRPr lang="cs-CZ"/>
          </a:p>
          <a:p>
            <a:pPr marL="305435" indent="-305435"/>
            <a:endParaRPr lang="cs-CZ"/>
          </a:p>
          <a:p>
            <a:pPr marL="305435" indent="-305435"/>
            <a:r>
              <a:rPr lang="cs-CZ">
                <a:ea typeface="+mn-lt"/>
                <a:cs typeface="+mn-lt"/>
              </a:rPr>
              <a:t>Git o datech uvažuje jako o snímcích systémů souborů (SNAPSHOTS)</a:t>
            </a:r>
            <a:endParaRPr lang="cs-CZ"/>
          </a:p>
          <a:p>
            <a:pPr marL="305435" indent="-305435"/>
            <a:r>
              <a:rPr lang="cs-CZ" dirty="0">
                <a:ea typeface="+mn-lt"/>
                <a:cs typeface="+mn-lt"/>
              </a:rPr>
              <a:t>Pokud u některého souboru nedojde ke změně odkazuje se na soubor v předešlé verzi</a:t>
            </a:r>
            <a:endParaRPr lang="cs-CZ" dirty="0"/>
          </a:p>
          <a:p>
            <a:pPr marL="305435" indent="-305435"/>
            <a:r>
              <a:rPr lang="cs-CZ" dirty="0">
                <a:ea typeface="+mn-lt"/>
                <a:cs typeface="+mn-lt"/>
              </a:rPr>
              <a:t>Pro každý zápis stavu projektu se vytváří nový snímek</a:t>
            </a:r>
            <a:endParaRPr lang="cs-CZ" dirty="0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91624E3B-FB7D-6E33-5134-40A653AE7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D0DC0DA-1C84-4CFB-A589-758D033EC754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693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30A0549-1A06-493A-A826-747D9E7DD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Princip fungování </a:t>
            </a:r>
            <a:r>
              <a:rPr lang="cs-CZ" dirty="0" err="1"/>
              <a:t>git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966ED2C-22BF-9AC1-B951-C07F2C3912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305435" indent="-305435"/>
            <a:r>
              <a:rPr lang="cs-CZ" sz="2000" dirty="0">
                <a:ea typeface="+mn-lt"/>
                <a:cs typeface="+mn-lt"/>
              </a:rPr>
              <a:t>Téměř každá operace je lokální</a:t>
            </a:r>
            <a:endParaRPr lang="cs-CZ" sz="2000" dirty="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Není třeba znát stavy souborů na ostatních strojích</a:t>
            </a:r>
            <a:endParaRPr lang="cs-CZ" sz="180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Historii změn v souborech lze zjistit z lokální verze </a:t>
            </a:r>
            <a:r>
              <a:rPr lang="cs-CZ" sz="1800" dirty="0" err="1">
                <a:ea typeface="+mn-lt"/>
                <a:cs typeface="+mn-lt"/>
              </a:rPr>
              <a:t>repozitáře</a:t>
            </a:r>
            <a:endParaRPr lang="cs-CZ" sz="1800"/>
          </a:p>
          <a:p>
            <a:pPr marL="305435" indent="-305435"/>
            <a:r>
              <a:rPr lang="cs-CZ" sz="2000" dirty="0">
                <a:ea typeface="+mn-lt"/>
                <a:cs typeface="+mn-lt"/>
              </a:rPr>
              <a:t>Udržování integrity</a:t>
            </a:r>
            <a:endParaRPr lang="cs-CZ" sz="2000" dirty="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Před uložením se vytváří kontrolní součet</a:t>
            </a:r>
            <a:endParaRPr lang="cs-CZ" sz="180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800" dirty="0">
                <a:ea typeface="+mn-lt"/>
                <a:cs typeface="+mn-lt"/>
              </a:rPr>
              <a:t>Nelze uložit změnu, aby o tom Git nevěděl</a:t>
            </a:r>
            <a:endParaRPr lang="cs-CZ" sz="1800"/>
          </a:p>
          <a:p>
            <a:pPr marL="305435" indent="-305435"/>
            <a:endParaRPr lang="cs-CZ" sz="2000" dirty="0"/>
          </a:p>
        </p:txBody>
      </p:sp>
      <p:sp>
        <p:nvSpPr>
          <p:cNvPr id="5" name="Zástupný obsah 4">
            <a:extLst>
              <a:ext uri="{FF2B5EF4-FFF2-40B4-BE49-F238E27FC236}">
                <a16:creationId xmlns:a16="http://schemas.microsoft.com/office/drawing/2014/main" id="{6F8D4E42-20CC-E1DD-7E02-CAD518631C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05435" indent="-305435"/>
            <a:r>
              <a:rPr lang="cs-CZ" sz="2000" dirty="0"/>
              <a:t>Tří hlavní stavy souborů:</a:t>
            </a:r>
            <a:endParaRPr lang="cs-CZ" sz="2000">
              <a:solidFill>
                <a:srgbClr val="000000"/>
              </a:solidFill>
            </a:endParaRPr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600" b="1" err="1"/>
              <a:t>Commited</a:t>
            </a:r>
            <a:r>
              <a:rPr lang="cs-CZ" sz="1600" b="1" dirty="0"/>
              <a:t> </a:t>
            </a:r>
            <a:r>
              <a:rPr lang="cs-CZ" sz="1600" dirty="0"/>
              <a:t>– soubory zapsané </a:t>
            </a:r>
            <a:endParaRPr lang="cs-CZ" sz="1600">
              <a:solidFill>
                <a:srgbClr val="000000"/>
              </a:solidFill>
            </a:endParaRPr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600" b="1" err="1"/>
              <a:t>Modified</a:t>
            </a:r>
            <a:r>
              <a:rPr lang="cs-CZ" sz="1600" b="1" dirty="0"/>
              <a:t> </a:t>
            </a:r>
            <a:r>
              <a:rPr lang="cs-CZ" sz="1600" dirty="0"/>
              <a:t>– změněné, ale nezapsané k odeslání</a:t>
            </a:r>
            <a:endParaRPr lang="cs-CZ" sz="1600">
              <a:solidFill>
                <a:srgbClr val="000000"/>
              </a:solidFill>
            </a:endParaRP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cs-CZ" sz="1600" b="1" err="1"/>
              <a:t>Staged</a:t>
            </a:r>
            <a:r>
              <a:rPr lang="cs-CZ" sz="1600" b="1" dirty="0"/>
              <a:t> </a:t>
            </a:r>
            <a:r>
              <a:rPr lang="cs-CZ" sz="1600" dirty="0"/>
              <a:t>– soubory připravené k zapsání</a:t>
            </a:r>
            <a:endParaRPr lang="cs-CZ" sz="1600">
              <a:solidFill>
                <a:srgbClr val="000000"/>
              </a:solidFill>
            </a:endParaRPr>
          </a:p>
          <a:p>
            <a:pPr marL="305435" indent="-305435"/>
            <a:endParaRPr lang="cs-CZ" sz="2000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DDEB62A-62CF-D78C-9FC0-627C70EC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059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128633-FA93-53BD-A357-7BB6EAD48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/>
              <a:t>Základní práce s </a:t>
            </a:r>
            <a:r>
              <a:rPr lang="cs-CZ" err="1"/>
              <a:t>gitem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1DD6677-3A39-0670-936E-73BB16D0B2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2000" dirty="0"/>
              <a:t>Úprava souboru</a:t>
            </a:r>
          </a:p>
          <a:p>
            <a:pPr marL="305435" indent="-305435"/>
            <a:r>
              <a:rPr lang="cs-CZ" sz="2000" dirty="0"/>
              <a:t>Přidání do </a:t>
            </a:r>
            <a:r>
              <a:rPr lang="cs-CZ" sz="2000" dirty="0" err="1"/>
              <a:t>stage</a:t>
            </a:r>
            <a:r>
              <a:rPr lang="cs-CZ" sz="2000" dirty="0"/>
              <a:t> (verze)</a:t>
            </a:r>
          </a:p>
          <a:p>
            <a:pPr marL="305435" indent="-305435"/>
            <a:r>
              <a:rPr lang="cs-CZ" sz="2000" dirty="0" err="1"/>
              <a:t>Commit</a:t>
            </a:r>
            <a:r>
              <a:rPr lang="cs-CZ" sz="2000" dirty="0"/>
              <a:t> (kompletování verze)</a:t>
            </a:r>
          </a:p>
          <a:p>
            <a:pPr marL="305435" indent="-305435"/>
            <a:r>
              <a:rPr lang="cs-CZ" sz="2000" dirty="0"/>
              <a:t>Odeslání na server</a:t>
            </a:r>
          </a:p>
          <a:p>
            <a:pPr marL="305435" indent="-305435"/>
            <a:endParaRPr lang="cs-CZ" sz="2000" dirty="0"/>
          </a:p>
        </p:txBody>
      </p:sp>
      <p:pic>
        <p:nvPicPr>
          <p:cNvPr id="6" name="Obrázek 5" descr="Understanding Basic Git Workflow: Add, Commit, Push – TecAdmin">
            <a:extLst>
              <a:ext uri="{FF2B5EF4-FFF2-40B4-BE49-F238E27FC236}">
                <a16:creationId xmlns:a16="http://schemas.microsoft.com/office/drawing/2014/main" id="{9C2795EE-5FE9-5FD5-6979-6CB7F85A2E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23" r="27064" b="4272"/>
          <a:stretch>
            <a:fillRect/>
          </a:stretch>
        </p:blipFill>
        <p:spPr>
          <a:xfrm>
            <a:off x="7503186" y="101911"/>
            <a:ext cx="3835062" cy="5903891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32441564-DD27-73CD-5D10-80FA219122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02.02.2026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17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4909031-6DED-F315-E722-304116B00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+mj-lt"/>
                <a:cs typeface="+mj-lt"/>
              </a:rPr>
              <a:t>GitHub vs </a:t>
            </a:r>
            <a:r>
              <a:rPr lang="cs-CZ" dirty="0" err="1">
                <a:ea typeface="+mj-lt"/>
                <a:cs typeface="+mj-lt"/>
              </a:rPr>
              <a:t>GitLab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64304C9-A949-A46B-2886-B68093149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pPr marL="305435" indent="-305435"/>
            <a:r>
              <a:rPr lang="cs-CZ" sz="2400" dirty="0">
                <a:ea typeface="+mn-lt"/>
                <a:cs typeface="+mn-lt"/>
              </a:rPr>
              <a:t>Webové aplikace, které umožňují přehledněji spravovat naše repositáře</a:t>
            </a:r>
            <a:endParaRPr lang="cs-CZ" sz="2400" dirty="0"/>
          </a:p>
          <a:p>
            <a:pPr marL="305435" indent="-305435"/>
            <a:r>
              <a:rPr lang="cs-CZ" sz="2400" dirty="0">
                <a:ea typeface="+mn-lt"/>
                <a:cs typeface="+mn-lt"/>
              </a:rPr>
              <a:t>Lze zde soubory přidávat, modifikovat a měnit</a:t>
            </a:r>
            <a:endParaRPr lang="cs-CZ" sz="2400" dirty="0"/>
          </a:p>
          <a:p>
            <a:pPr marL="305435" indent="-305435"/>
            <a:r>
              <a:rPr lang="cs-CZ" sz="2400" b="1" dirty="0">
                <a:ea typeface="+mn-lt"/>
                <a:cs typeface="+mn-lt"/>
              </a:rPr>
              <a:t>GitHub </a:t>
            </a:r>
            <a:r>
              <a:rPr lang="cs-CZ" sz="2400" dirty="0">
                <a:ea typeface="+mn-lt"/>
                <a:cs typeface="+mn-lt"/>
              </a:rPr>
              <a:t>je vhodnější pro školské prostředí – veškeré projekty jsou viditelné všem</a:t>
            </a:r>
            <a:endParaRPr lang="cs-CZ" sz="2400" dirty="0"/>
          </a:p>
          <a:p>
            <a:pPr marL="305435" indent="-305435"/>
            <a:r>
              <a:rPr lang="cs-CZ" sz="2400" b="1" dirty="0" err="1">
                <a:ea typeface="+mn-lt"/>
                <a:cs typeface="+mn-lt"/>
              </a:rPr>
              <a:t>GitLab</a:t>
            </a:r>
            <a:r>
              <a:rPr lang="cs-CZ" sz="2400" b="1" dirty="0">
                <a:ea typeface="+mn-lt"/>
                <a:cs typeface="+mn-lt"/>
              </a:rPr>
              <a:t> </a:t>
            </a:r>
            <a:r>
              <a:rPr lang="cs-CZ" sz="2400" dirty="0">
                <a:ea typeface="+mn-lt"/>
                <a:cs typeface="+mn-lt"/>
              </a:rPr>
              <a:t>– vhodnější pro soukromý sektor</a:t>
            </a:r>
            <a:endParaRPr lang="cs-CZ" sz="2400" dirty="0"/>
          </a:p>
          <a:p>
            <a:pPr marL="305435" indent="-305435"/>
            <a:r>
              <a:rPr lang="cs-CZ" sz="2400" dirty="0">
                <a:ea typeface="+mn-lt"/>
                <a:cs typeface="+mn-lt"/>
              </a:rPr>
              <a:t>Obě platformy umožňují </a:t>
            </a:r>
            <a:r>
              <a:rPr lang="cs-CZ" sz="2400" err="1">
                <a:ea typeface="+mn-lt"/>
                <a:cs typeface="+mn-lt"/>
              </a:rPr>
              <a:t>vytářet</a:t>
            </a:r>
            <a:r>
              <a:rPr lang="cs-CZ" sz="2400" dirty="0">
                <a:ea typeface="+mn-lt"/>
                <a:cs typeface="+mn-lt"/>
              </a:rPr>
              <a:t> automatizované procesy nad vkládanými daty – tzv. </a:t>
            </a:r>
            <a:r>
              <a:rPr lang="cs-CZ" sz="2400" i="1" dirty="0">
                <a:ea typeface="+mn-lt"/>
                <a:cs typeface="+mn-lt"/>
              </a:rPr>
              <a:t>PIPELINES</a:t>
            </a:r>
            <a:endParaRPr lang="cs-CZ" sz="2400" i="1" dirty="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2000" dirty="0">
                <a:ea typeface="+mn-lt"/>
                <a:cs typeface="+mn-lt"/>
              </a:rPr>
              <a:t>Spuštění kontrolních testů</a:t>
            </a:r>
            <a:endParaRPr lang="cs-CZ" sz="2000" dirty="0"/>
          </a:p>
          <a:p>
            <a:pPr marL="629920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2000" dirty="0">
                <a:ea typeface="+mn-lt"/>
                <a:cs typeface="+mn-lt"/>
              </a:rPr>
              <a:t>Nasazení funkční verze pro zákazníky</a:t>
            </a:r>
            <a:endParaRPr lang="cs-CZ" sz="2000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E3BB15C-11E9-7F52-EB33-7090B606E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D0DC0DA-1C84-4CFB-A589-758D033EC754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667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A9F68CD-0D30-8791-C372-E746DDCA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Branching</a:t>
            </a:r>
            <a:r>
              <a:rPr lang="cs-CZ" dirty="0"/>
              <a:t> a problém jedné větve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34DCDC2-47AB-7961-0447-126DA46725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305435" indent="-305435"/>
            <a:r>
              <a:rPr lang="cs-CZ" b="1" dirty="0">
                <a:ea typeface="+mn-lt"/>
                <a:cs typeface="+mn-lt"/>
              </a:rPr>
              <a:t>Větve (</a:t>
            </a:r>
            <a:r>
              <a:rPr lang="cs-CZ" b="1" dirty="0" err="1">
                <a:ea typeface="+mn-lt"/>
                <a:cs typeface="+mn-lt"/>
              </a:rPr>
              <a:t>branches</a:t>
            </a:r>
            <a:r>
              <a:rPr lang="cs-CZ" b="1" dirty="0">
                <a:ea typeface="+mn-lt"/>
                <a:cs typeface="+mn-lt"/>
              </a:rPr>
              <a:t>)</a:t>
            </a:r>
            <a:endParaRPr lang="cs-CZ" dirty="0"/>
          </a:p>
          <a:p>
            <a:pPr marL="305435" indent="-305435"/>
            <a:r>
              <a:rPr lang="cs-CZ" dirty="0">
                <a:ea typeface="+mn-lt"/>
                <a:cs typeface="+mn-lt"/>
              </a:rPr>
              <a:t>Paralelní vývoj</a:t>
            </a:r>
            <a:endParaRPr lang="cs-CZ" dirty="0"/>
          </a:p>
          <a:p>
            <a:pPr marL="305435" indent="-305435"/>
            <a:r>
              <a:rPr lang="cs-CZ" dirty="0">
                <a:ea typeface="+mn-lt"/>
                <a:cs typeface="+mn-lt"/>
              </a:rPr>
              <a:t>Oddělení experimentů</a:t>
            </a:r>
            <a:endParaRPr lang="cs-CZ" dirty="0"/>
          </a:p>
          <a:p>
            <a:pPr marL="305435" indent="-305435"/>
            <a:r>
              <a:rPr lang="cs-CZ" dirty="0">
                <a:ea typeface="+mn-lt"/>
                <a:cs typeface="+mn-lt"/>
              </a:rPr>
              <a:t>Bezpečí hlavní verze</a:t>
            </a:r>
            <a:endParaRPr lang="cs-CZ" dirty="0"/>
          </a:p>
          <a:p>
            <a:pPr marL="305435" indent="-305435"/>
            <a:r>
              <a:rPr lang="cs-CZ" dirty="0"/>
              <a:t>V hlavní větvi je vždy funkční verze</a:t>
            </a:r>
          </a:p>
        </p:txBody>
      </p:sp>
      <p:sp>
        <p:nvSpPr>
          <p:cNvPr id="5" name="Zástupný obsah 4">
            <a:extLst>
              <a:ext uri="{FF2B5EF4-FFF2-40B4-BE49-F238E27FC236}">
                <a16:creationId xmlns:a16="http://schemas.microsoft.com/office/drawing/2014/main" id="{4B0D7292-437D-B2B9-6286-09AD8114CAC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05435" indent="-305435"/>
            <a:r>
              <a:rPr lang="cs-CZ" b="1" dirty="0">
                <a:ea typeface="+mn-lt"/>
                <a:cs typeface="+mn-lt"/>
              </a:rPr>
              <a:t>Práce jen v </a:t>
            </a:r>
            <a:r>
              <a:rPr lang="cs-CZ" b="1" err="1">
                <a:ea typeface="+mn-lt"/>
                <a:cs typeface="+mn-lt"/>
              </a:rPr>
              <a:t>main</a:t>
            </a:r>
            <a:r>
              <a:rPr lang="cs-CZ" b="1" dirty="0">
                <a:ea typeface="+mn-lt"/>
                <a:cs typeface="+mn-lt"/>
              </a:rPr>
              <a:t> větvi </a:t>
            </a:r>
            <a:r>
              <a:rPr lang="cs-CZ" dirty="0">
                <a:ea typeface="+mn-lt"/>
                <a:cs typeface="+mn-lt"/>
              </a:rPr>
              <a:t>(hlavní)</a:t>
            </a:r>
            <a:endParaRPr lang="cs-CZ" dirty="0"/>
          </a:p>
          <a:p>
            <a:pPr marL="305435" indent="-305435"/>
            <a:r>
              <a:rPr lang="cs-CZ">
                <a:ea typeface="+mn-lt"/>
                <a:cs typeface="+mn-lt"/>
              </a:rPr>
              <a:t>Riziko rozbití projektu</a:t>
            </a:r>
            <a:endParaRPr lang="cs-CZ"/>
          </a:p>
          <a:p>
            <a:pPr marL="305435" indent="-305435"/>
            <a:r>
              <a:rPr lang="cs-CZ" dirty="0">
                <a:ea typeface="+mn-lt"/>
                <a:cs typeface="+mn-lt"/>
              </a:rPr>
              <a:t>Kolize změn</a:t>
            </a:r>
            <a:endParaRPr lang="cs-CZ" dirty="0"/>
          </a:p>
          <a:p>
            <a:pPr marL="305435" indent="-305435"/>
            <a:r>
              <a:rPr lang="cs-CZ" dirty="0"/>
              <a:t>Vhodné pouze pokud na projektu pracuje jeden člověk</a:t>
            </a:r>
          </a:p>
          <a:p>
            <a:pPr marL="305435" indent="-305435"/>
            <a:endParaRPr lang="cs-CZ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6A72D4C-2615-B76D-21E5-1D308FCAB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02.02.2026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184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B973A0-CE77-A8E1-7E05-FC96FEE32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Práce s větvemi - </a:t>
            </a:r>
            <a:r>
              <a:rPr lang="cs-CZ" dirty="0" err="1"/>
              <a:t>workflow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21CBAA2-C877-FABD-8928-6393B3E38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1800" dirty="0"/>
              <a:t>Z hlavní větve se vytvoří pracovní větev (</a:t>
            </a:r>
            <a:r>
              <a:rPr lang="cs-CZ" sz="1800" err="1"/>
              <a:t>feature</a:t>
            </a:r>
            <a:r>
              <a:rPr lang="cs-CZ" sz="1800" dirty="0"/>
              <a:t> </a:t>
            </a:r>
            <a:r>
              <a:rPr lang="cs-CZ" sz="1800" err="1"/>
              <a:t>branch</a:t>
            </a:r>
            <a:r>
              <a:rPr lang="cs-CZ" sz="1800" dirty="0"/>
              <a:t>)</a:t>
            </a:r>
          </a:p>
          <a:p>
            <a:pPr marL="305435" indent="-305435"/>
            <a:r>
              <a:rPr lang="cs-CZ" sz="1800" dirty="0"/>
              <a:t>Jakmile je práce na větvi dokončená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cs-CZ" sz="1800" dirty="0"/>
              <a:t>vzniká požadavek (</a:t>
            </a:r>
            <a:r>
              <a:rPr lang="cs-CZ" sz="1800" err="1"/>
              <a:t>pull</a:t>
            </a:r>
            <a:r>
              <a:rPr lang="cs-CZ" sz="1800" dirty="0"/>
              <a:t> </a:t>
            </a:r>
            <a:r>
              <a:rPr lang="cs-CZ" sz="1800" err="1"/>
              <a:t>request</a:t>
            </a:r>
            <a:r>
              <a:rPr lang="cs-CZ" sz="1800" dirty="0"/>
              <a:t>) na zapracování (</a:t>
            </a:r>
            <a:r>
              <a:rPr lang="cs-CZ" sz="1800" err="1"/>
              <a:t>merge</a:t>
            </a:r>
            <a:r>
              <a:rPr lang="cs-CZ" sz="1800" dirty="0"/>
              <a:t>) do hlavní větvě 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cs-CZ" sz="1800" dirty="0"/>
              <a:t>Při zapracování mohou vzniknout konflikty, které je třeba řešit</a:t>
            </a:r>
          </a:p>
        </p:txBody>
      </p:sp>
      <p:pic>
        <p:nvPicPr>
          <p:cNvPr id="7" name="Obrázek 6" descr="Git Branches - The Turing Way">
            <a:extLst>
              <a:ext uri="{FF2B5EF4-FFF2-40B4-BE49-F238E27FC236}">
                <a16:creationId xmlns:a16="http://schemas.microsoft.com/office/drawing/2014/main" id="{EF759DDB-E381-79C3-5A5D-CF697E88F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250" y="2930979"/>
            <a:ext cx="6030694" cy="2056501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17937A09-6C1F-DBC3-AAEB-7C7EAE43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02.02.2026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94948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360afebd84136be89cf7ed5911c04be8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520b6e59c8e59b4daf6c7654b04c196b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F41FF83-82FF-4DBC-83E0-E7855E7067E0}"/>
</file>

<file path=customXml/itemProps2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F52871-FF00-4D4A-8396-DA8C6A507140}">
  <ds:schemaRefs>
    <ds:schemaRef ds:uri="3eb61919-e7f8-4a11-8db4-9145fbd21da9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09a37b55-a4d7-45bd-a73f-33c2b1d41898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436</Words>
  <Application>Microsoft Office PowerPoint</Application>
  <PresentationFormat>Širokoúhlá obrazovka</PresentationFormat>
  <Paragraphs>86</Paragraphs>
  <Slides>13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Courier New</vt:lpstr>
      <vt:lpstr>Retrospect</vt:lpstr>
      <vt:lpstr>Verzovací systémy</vt:lpstr>
      <vt:lpstr>Proč potřebujeme verzovat svou práci?</vt:lpstr>
      <vt:lpstr>Verzovací systém </vt:lpstr>
      <vt:lpstr>Typy verzovacích systémů</vt:lpstr>
      <vt:lpstr>Centrální vs distribuované systémy</vt:lpstr>
      <vt:lpstr>Centrální vs distribuované systémy</vt:lpstr>
      <vt:lpstr>Proč git?</vt:lpstr>
      <vt:lpstr>Jak git uvažuje o datech</vt:lpstr>
      <vt:lpstr>Princip fungování git</vt:lpstr>
      <vt:lpstr>Základní práce s gitem</vt:lpstr>
      <vt:lpstr>GitHub vs GitLab</vt:lpstr>
      <vt:lpstr>Branching a problém jedné větve</vt:lpstr>
      <vt:lpstr>Práce s větvemi - workflow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586</cp:revision>
  <dcterms:created xsi:type="dcterms:W3CDTF">2025-10-12T16:48:06Z</dcterms:created>
  <dcterms:modified xsi:type="dcterms:W3CDTF">2026-02-02T06:51:10Z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  <property fmtid="{D5CDD505-2E9C-101B-9397-08002B2CF9AE}" pid="4" name="Order">
    <vt:r8>3700</vt:r8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</Properties>
</file>