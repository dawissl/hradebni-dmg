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7.png" ContentType="image/png"/>
  <Override PartName="/ppt/media/image8.png" ContentType="image/png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cs-CZ" sz="1800" spc="-1" strike="noStrike">
                <a:solidFill>
                  <a:schemeClr val="dk1"/>
                </a:solidFill>
                <a:latin typeface="Calibri"/>
              </a:rPr>
              <a:t>Klikněte pro přesun snímku</a:t>
            </a: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Klikněte pro úpravu formátu komentářů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&lt;záhlaví&gt;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949C997-A800-47BC-9FC5-024ED0D8E0AF}" type="slidenum"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306C3C-14CD-4747-AE46-C09F903C7ABF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7332F9-2A15-4AB2-AAFD-35C248A793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844428-2D6B-44B0-94AE-278372671D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3DBEDF8-5DC2-4F53-BAD7-B02F922B05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54FC22-5DE4-4DD8-B16F-4F5CD2D50A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5E5D1AA-5F7D-4488-8D6F-A9F90F31E0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240912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3627360" y="1845720"/>
            <a:ext cx="240912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1834E78-9B09-4E3F-B23E-8BB0B2A951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2FDD13E-89F3-43E1-9864-A0F0FE2569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17EC927-7664-4F1D-8103-0AEE9B29E4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43597BB-7ABC-4235-BF05-85DCDCE586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F30AC1C-2CCB-4653-BDF3-E0BC807611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CD7543A-D2FE-424A-A715-148193F106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2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22EE51-EDAE-42BA-9314-4F8889A7B4D6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Klikněte pro úpravu formátu textu osnovy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Druhá úroveň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Třetí úroveň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Čtvrtá úroveň osnovy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Pátá úroveň osnovy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Šestá úroveň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Sedmá úroveň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5BB60B-7F6B-4EEE-B0B4-95AE04776D0E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2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724960" y="414720"/>
            <a:ext cx="2628720" cy="57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414720"/>
            <a:ext cx="7733880" cy="5757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7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8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17607E-1845-4653-85C2-DB81704CEF2B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0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1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2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D865AC-2500-427F-8FDF-97770C21D9B7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4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Click to edit Master text styles</a:t>
            </a:r>
            <a:endParaRPr b="0" lang="cs-CZ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13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14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15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C51F19-EA7D-4FF0-922F-269245FAA2EB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1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16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17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18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03C2B9-0A44-4B9C-90CC-1E6EC329785D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66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09728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109728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1792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21792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dt" idx="19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7"/>
          <p:cNvSpPr>
            <a:spLocks noGrp="1"/>
          </p:cNvSpPr>
          <p:nvPr>
            <p:ph type="ftr" idx="20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8"/>
          <p:cNvSpPr>
            <a:spLocks noGrp="1"/>
          </p:cNvSpPr>
          <p:nvPr>
            <p:ph type="sldNum" idx="21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773050-F963-4C0C-9021-3495228B823D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7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22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23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4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59C3EA-6794-4B73-94F8-97FCDE188194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8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86" name="Rectangl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ectangl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dt" idx="25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26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27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8A464B-3E89-4F58-A55D-CA93560583BA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9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94" name="Rectangle 7"/>
          <p:cNvSpPr/>
          <p:nvPr/>
        </p:nvSpPr>
        <p:spPr>
          <a:xfrm>
            <a:off x="0" y="0"/>
            <a:ext cx="405036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ectangle 8"/>
          <p:cNvSpPr/>
          <p:nvPr/>
        </p:nvSpPr>
        <p:spPr>
          <a:xfrm>
            <a:off x="4039920" y="0"/>
            <a:ext cx="6372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cs-CZ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dt" idx="28"/>
          </p:nvPr>
        </p:nvSpPr>
        <p:spPr>
          <a:xfrm>
            <a:off x="465480" y="6459840"/>
            <a:ext cx="261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ftr" idx="29"/>
          </p:nvPr>
        </p:nvSpPr>
        <p:spPr>
          <a:xfrm>
            <a:off x="4800600" y="645984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sldNum" idx="30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E2AE6F-7F6E-4140-825D-D804A5EACE80}" type="slidenum">
              <a:rPr b="0" lang="en-US" sz="1050" spc="-1" strike="noStrike">
                <a:solidFill>
                  <a:schemeClr val="dk2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5" name="Rectangle 7"/>
          <p:cNvSpPr/>
          <p:nvPr/>
        </p:nvSpPr>
        <p:spPr>
          <a:xfrm>
            <a:off x="0" y="4952880"/>
            <a:ext cx="12188520" cy="1904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ectangle 8"/>
          <p:cNvSpPr/>
          <p:nvPr/>
        </p:nvSpPr>
        <p:spPr>
          <a:xfrm>
            <a:off x="0" y="491508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276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cs-CZ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91472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457200" rIns="90000" tIns="4572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Klikněte pro úpravu formátu textu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Druhá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Třetí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Čtvrtá úroveň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Pátá úroveň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Šestá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Sedmá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1097280" y="5906880"/>
            <a:ext cx="1011276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3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ftr" idx="3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sldNum" idx="3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BE943D-8B37-4550-9D38-3537A43E5D2D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Verzovací systémy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1100160" y="445572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cs-CZ" sz="2400" spc="199" strike="noStrike" cap="all">
                <a:solidFill>
                  <a:schemeClr val="dk2"/>
                </a:solidFill>
                <a:latin typeface="Calibri Light"/>
              </a:rPr>
              <a:t>Digitální a mediální gramotnost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81040" y="729720"/>
            <a:ext cx="11029320" cy="98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1893"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Proč potřebujeme verzovat svou práci?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2" name="Obrázek 4" descr="CDN media"/>
          <p:cNvPicPr/>
          <p:nvPr/>
        </p:nvPicPr>
        <p:blipFill>
          <a:blip r:embed="rId1"/>
          <a:stretch/>
        </p:blipFill>
        <p:spPr>
          <a:xfrm>
            <a:off x="221040" y="1831320"/>
            <a:ext cx="3998160" cy="4425840"/>
          </a:xfrm>
          <a:prstGeom prst="rect">
            <a:avLst/>
          </a:prstGeom>
          <a:ln w="0">
            <a:noFill/>
          </a:ln>
        </p:spPr>
      </p:pic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415920" y="2228040"/>
            <a:ext cx="5194440" cy="36327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rmAutofit/>
          </a:bodyPr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Problémy bez verzovacího systému</a:t>
            </a:r>
            <a:endParaRPr b="0" lang="cs-CZ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21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Přepisování souborů</a:t>
            </a:r>
            <a:endParaRPr b="0" lang="cs-CZ" sz="21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11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21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Ztráta funkční verze</a:t>
            </a:r>
            <a:endParaRPr b="0" lang="cs-CZ" sz="21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11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21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Chaos při týmové práci</a:t>
            </a:r>
            <a:endParaRPr b="0" lang="cs-CZ" sz="21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dt" idx="37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914400">
              <a:lnSpc>
                <a:spcPct val="100000"/>
              </a:lnSpc>
              <a:spcAft>
                <a:spcPts val="601"/>
              </a:spcAft>
              <a:buNone/>
              <a:defRPr b="0" lang="cs-CZ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</a:pPr>
            <a:fld id="{9D5EB5AC-3E2B-41C2-9406-9B30BCF51D46}" type="datetime1">
              <a:rPr b="0" lang="cs-CZ" sz="900" spc="-1" strike="noStrike">
                <a:solidFill>
                  <a:srgbClr val="ffffff"/>
                </a:solidFill>
                <a:latin typeface="Calibri"/>
              </a:rPr>
              <a:t>01.10.2026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Verzovací systém 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305280" indent="-305280" defTabSz="914400">
              <a:lnSpc>
                <a:spcPct val="90000"/>
              </a:lnSpc>
              <a:spcBef>
                <a:spcPts val="20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Systém zaznamenávající změny v souborech v průběhu času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20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Umožňuje návrat na starší verze souborů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20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Nejčastější použití mezi programátory a vývojáři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110000"/>
              </a:lnSpc>
              <a:spcBef>
                <a:spcPts val="20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Lze použít na libovolné typy souborů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110000"/>
              </a:lnSpc>
              <a:spcBef>
                <a:spcPts val="20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Mimo samotné změny uchovává informaci o tom, kdo změnu vytvořil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11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Vhodné pro práci více lidí na stejném projektu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38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cs-CZ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46EE330-F2E9-4804-95E4-B4D4FBD9E182}" type="datetime1">
              <a:rPr b="0" lang="cs-CZ" sz="900" spc="-1" strike="noStrike">
                <a:solidFill>
                  <a:srgbClr val="ffffff"/>
                </a:solidFill>
                <a:latin typeface="Calibri"/>
              </a:rPr>
              <a:t>01.10.2026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Typy verzovacích systémů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Lokální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11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 charset="2"/>
              <a:buChar char="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Uživatel si samostatně vytváří jednotlivé verze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Centrální (SVN)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11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 charset="2"/>
              <a:buChar char="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Veškeré úpravy od přispěvovatelů jsou uloženy na jednom místě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Distribuované (Git)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11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 charset="2"/>
              <a:buChar char="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Každá kopie u přispěvatele je zároveň zálohou 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dt" idx="39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cs-CZ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AA4743F-4F02-47F0-8831-28AF8EE0C930}" type="datetime1">
              <a:rPr b="0" lang="cs-CZ" sz="900" spc="-1" strike="noStrike">
                <a:solidFill>
                  <a:srgbClr val="ffffff"/>
                </a:solidFill>
                <a:latin typeface="Calibri"/>
              </a:rPr>
              <a:t>01.10.2026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Centrální vs distribuované systémy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2" name="Zástupný obsah 4" descr="Obsah obrázku text, snímek obrazovky, Písmo, číslo&#10;&#10;Obsah generovaný pomocí AI může být nesprávný."/>
          <p:cNvPicPr/>
          <p:nvPr/>
        </p:nvPicPr>
        <p:blipFill>
          <a:blip r:embed="rId1"/>
          <a:stretch/>
        </p:blipFill>
        <p:spPr>
          <a:xfrm>
            <a:off x="752760" y="2678760"/>
            <a:ext cx="4762080" cy="3308400"/>
          </a:xfrm>
          <a:prstGeom prst="rect">
            <a:avLst/>
          </a:prstGeom>
          <a:ln w="0">
            <a:noFill/>
          </a:ln>
        </p:spPr>
      </p:pic>
      <p:sp>
        <p:nvSpPr>
          <p:cNvPr id="133" name="PlaceHolder 2"/>
          <p:cNvSpPr>
            <a:spLocks noGrp="1"/>
          </p:cNvSpPr>
          <p:nvPr>
            <p:ph type="dt" idx="40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cs-CZ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8C5F51D-504A-4DEB-BB49-25AE42A78FB4}" type="datetime1">
              <a:rPr b="0" lang="cs-CZ" sz="900" spc="-1" strike="noStrike">
                <a:solidFill>
                  <a:srgbClr val="ffffff"/>
                </a:solidFill>
                <a:latin typeface="Calibri"/>
              </a:rPr>
              <a:t>01.10.2026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4" name="Obrázek 5" descr="Obsah obrázku text, snímek obrazovky, Písmo, design&#10;&#10;Obsah generovaný pomocí AI může být nesprávný."/>
          <p:cNvPicPr/>
          <p:nvPr/>
        </p:nvPicPr>
        <p:blipFill>
          <a:blip r:embed="rId2"/>
          <a:stretch/>
        </p:blipFill>
        <p:spPr>
          <a:xfrm>
            <a:off x="6907680" y="1582560"/>
            <a:ext cx="3932640" cy="474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Centrální vs distribuované systémy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6" name="Zástupný obsah 11" descr="Obsah obrázku text, snímek obrazovky, Písmo, číslo&#10;&#10;Obsah generovaný pomocí AI může být nesprávný."/>
          <p:cNvPicPr/>
          <p:nvPr/>
        </p:nvPicPr>
        <p:blipFill>
          <a:blip r:embed="rId1"/>
          <a:stretch/>
        </p:blipFill>
        <p:spPr>
          <a:xfrm>
            <a:off x="87120" y="2815560"/>
            <a:ext cx="5690160" cy="2186640"/>
          </a:xfrm>
          <a:prstGeom prst="rect">
            <a:avLst/>
          </a:prstGeom>
          <a:ln w="0">
            <a:noFill/>
          </a:ln>
        </p:spPr>
      </p:pic>
      <p:pic>
        <p:nvPicPr>
          <p:cNvPr id="137" name="Zástupný obsah 16" descr="Obsah obrázku text, snímek obrazovky, Písmo, číslo&#10;&#10;Obsah generovaný pomocí AI může být nesprávný."/>
          <p:cNvPicPr/>
          <p:nvPr/>
        </p:nvPicPr>
        <p:blipFill>
          <a:blip r:embed="rId2"/>
          <a:stretch/>
        </p:blipFill>
        <p:spPr>
          <a:xfrm>
            <a:off x="6414480" y="2824920"/>
            <a:ext cx="5677560" cy="2173680"/>
          </a:xfrm>
          <a:prstGeom prst="rect">
            <a:avLst/>
          </a:prstGeom>
          <a:ln w="0">
            <a:noFill/>
          </a:ln>
        </p:spPr>
      </p:pic>
      <p:sp>
        <p:nvSpPr>
          <p:cNvPr id="138" name="PlaceHolder 2"/>
          <p:cNvSpPr>
            <a:spLocks noGrp="1"/>
          </p:cNvSpPr>
          <p:nvPr>
            <p:ph type="dt" idx="4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cs-CZ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0601512-C2D4-4E5F-81FA-3DA85AC02721}" type="datetime1">
              <a:rPr b="0" lang="cs-CZ" sz="900" spc="-1" strike="noStrike">
                <a:solidFill>
                  <a:srgbClr val="ffffff"/>
                </a:solidFill>
                <a:latin typeface="Calibri"/>
              </a:rPr>
              <a:t>01.10.2026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81040" y="729720"/>
            <a:ext cx="11029320" cy="98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Proč git?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0" name="Obrázek 4" descr="Soubor:Git-logo.svg – Wikipedie"/>
          <p:cNvPicPr/>
          <p:nvPr/>
        </p:nvPicPr>
        <p:blipFill>
          <a:blip r:embed="rId1"/>
          <a:stretch/>
        </p:blipFill>
        <p:spPr>
          <a:xfrm>
            <a:off x="581040" y="2960280"/>
            <a:ext cx="5194440" cy="2168280"/>
          </a:xfrm>
          <a:prstGeom prst="rect">
            <a:avLst/>
          </a:prstGeom>
          <a:ln w="0">
            <a:noFill/>
          </a:ln>
        </p:spPr>
      </p:pic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6415920" y="2228040"/>
            <a:ext cx="5194440" cy="36327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rmAutofit/>
          </a:bodyPr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Distribuovaný systém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Každý má kompletní historii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Funguje i bez internetu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dt" idx="42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914400">
              <a:lnSpc>
                <a:spcPct val="100000"/>
              </a:lnSpc>
              <a:spcAft>
                <a:spcPts val="601"/>
              </a:spcAft>
              <a:buNone/>
              <a:defRPr b="0" lang="cs-CZ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</a:pPr>
            <a:fld id="{74AFF3CC-9C61-4137-B9E5-689A80FD6F94}" type="datetime1">
              <a:rPr b="0" lang="cs-CZ" sz="900" spc="-1" strike="noStrike">
                <a:solidFill>
                  <a:srgbClr val="ffffff"/>
                </a:solidFill>
                <a:latin typeface="Calibri"/>
              </a:rPr>
              <a:t>01.10.2026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Jak git uvažuje o datech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Většina ostatních systémů ukládá informace jako seznamy změn souborů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Uložené informace chápou jako sadu souborů a změn každého souboru v čase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Git o datech uvažuje jako o snímcích systémů souborů (SNAPSHOTS)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Pokud u některého souboru nedojde ke změně odkazuje se na soubor v předešlé verzi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Pro každý zápis stavu projektu se vytváří nový snímek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dt" idx="43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cs-CZ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0553F01-B736-41CB-B251-08D83792DA21}" type="datetime1">
              <a:rPr b="0" lang="cs-CZ" sz="900" spc="-1" strike="noStrike">
                <a:solidFill>
                  <a:srgbClr val="ffffff"/>
                </a:solidFill>
                <a:latin typeface="Calibri"/>
              </a:rPr>
              <a:t>01.10.2026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Princip fungování git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Téměř každá operace je lokální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11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 charset="2"/>
              <a:buChar char="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Není třeba znát stavy souborů na ostatních strojích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11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 charset="2"/>
              <a:buChar char="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Historii změn v souborech lze zjistit z lokální verze repozitáře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Udržování integrity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11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 charset="2"/>
              <a:buChar char="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Před uložením se vytváří kontrolní součet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11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 charset="2"/>
              <a:buChar char="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Nelze uložit změnu, aby o tom Git nevěděl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Tří hlavní stavy souborů: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11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 charset="2"/>
              <a:buChar char=""/>
            </a:pPr>
            <a:r>
              <a:rPr b="1" lang="cs-CZ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Commited </a:t>
            </a:r>
            <a:r>
              <a:rPr b="0" lang="cs-CZ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– soubory zapsané </a:t>
            </a:r>
            <a:endParaRPr b="0" lang="cs-CZ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11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 charset="2"/>
              <a:buChar char=""/>
            </a:pPr>
            <a:r>
              <a:rPr b="1" lang="cs-CZ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Modified </a:t>
            </a:r>
            <a:r>
              <a:rPr b="0" lang="cs-CZ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– změněné, ale nezapsané k odeslání</a:t>
            </a:r>
            <a:endParaRPr b="0" lang="cs-CZ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 charset="2"/>
              <a:buChar char=""/>
            </a:pPr>
            <a:r>
              <a:rPr b="1" lang="cs-CZ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Staged </a:t>
            </a:r>
            <a:r>
              <a:rPr b="0" lang="cs-CZ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– soubory připravené k zapsání</a:t>
            </a:r>
            <a:endParaRPr b="0" lang="cs-CZ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dt" idx="44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cs-CZ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7A5153E-40E9-4E8D-8859-EF45A4862735}" type="datetime1">
              <a:rPr b="0" lang="cs-CZ" sz="900" spc="-1" strike="noStrike">
                <a:solidFill>
                  <a:srgbClr val="ffffff"/>
                </a:solidFill>
                <a:latin typeface="Calibri"/>
              </a:rPr>
              <a:t>01.10.2026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581040" y="729720"/>
            <a:ext cx="11029320" cy="98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Základní práce s gitem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581040" y="2228040"/>
            <a:ext cx="5194440" cy="36327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rmAutofit/>
          </a:bodyPr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Úprava souboru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Přidání do stage (verze)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Commit (kompletování verze)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Odeslání na server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pic>
        <p:nvPicPr>
          <p:cNvPr id="152" name="Obrázek 5" descr="Understanding Basic Git Workflow: Add, Commit, Push – TecAdmin"/>
          <p:cNvPicPr/>
          <p:nvPr/>
        </p:nvPicPr>
        <p:blipFill>
          <a:blip r:embed="rId1"/>
          <a:srcRect l="19121" t="0" r="27061" b="4273"/>
          <a:stretch/>
        </p:blipFill>
        <p:spPr>
          <a:xfrm>
            <a:off x="7503120" y="101880"/>
            <a:ext cx="3834720" cy="5903640"/>
          </a:xfrm>
          <a:prstGeom prst="rect">
            <a:avLst/>
          </a:prstGeom>
          <a:ln w="0">
            <a:noFill/>
          </a:ln>
        </p:spPr>
      </p:pic>
      <p:sp>
        <p:nvSpPr>
          <p:cNvPr id="153" name="PlaceHolder 3"/>
          <p:cNvSpPr>
            <a:spLocks noGrp="1"/>
          </p:cNvSpPr>
          <p:nvPr>
            <p:ph type="dt" idx="45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914400">
              <a:lnSpc>
                <a:spcPct val="100000"/>
              </a:lnSpc>
              <a:spcAft>
                <a:spcPts val="601"/>
              </a:spcAft>
              <a:buNone/>
              <a:defRPr b="0" lang="cs-CZ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</a:pPr>
            <a:fld id="{DEB27FED-714F-4511-B484-649C1378CB3C}" type="datetime1">
              <a:rPr b="0" lang="cs-CZ" sz="900" spc="-1" strike="noStrike">
                <a:solidFill>
                  <a:srgbClr val="ffffff"/>
                </a:solidFill>
                <a:latin typeface="Calibri"/>
              </a:rPr>
              <a:t>01.10.2026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GitHub vs GitLab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Webové aplikace, které umožňují přehledněji spravovat naše repositáře</a:t>
            </a:r>
            <a:endParaRPr b="0" lang="cs-CZ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Lze zde soubory přidávat, modifikovat a měnit</a:t>
            </a:r>
            <a:endParaRPr b="0" lang="cs-CZ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GitHub </a:t>
            </a:r>
            <a:r>
              <a:rPr b="0" lang="cs-CZ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je vhodnější pro školské prostředí – veškeré projekty jsou viditelné všem (umožněny i soukromé)</a:t>
            </a:r>
            <a:endParaRPr b="0" lang="cs-CZ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GitLab </a:t>
            </a:r>
            <a:r>
              <a:rPr b="0" lang="cs-CZ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– vhodnější pro soukromý sektor</a:t>
            </a:r>
            <a:endParaRPr b="0" lang="cs-CZ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Obě platformy umožňují vytářet automatizované procesy nad vkládanými daty – tzv. </a:t>
            </a:r>
            <a:r>
              <a:rPr b="0" i="1" lang="cs-CZ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PIPELINES</a:t>
            </a:r>
            <a:endParaRPr b="0" lang="cs-CZ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11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 charset="2"/>
              <a:buChar char="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Spuštění kontrolních testů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11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 charset="2"/>
              <a:buChar char="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Nasazení funkční verze pro zákazníky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dt" idx="46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cs-CZ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4F60A97-8268-442B-A461-59D58A009041}" type="datetime1">
              <a:rPr b="0" lang="cs-CZ" sz="900" spc="-1" strike="noStrike">
                <a:solidFill>
                  <a:srgbClr val="ffffff"/>
                </a:solidFill>
                <a:latin typeface="Calibri"/>
              </a:rPr>
              <a:t>01.10.2026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Branching a problém jedné větve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Větve (branches)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Paralelní vývoj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Oddělení experimentů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Bezpečí hlavní verze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 hlavní větvi je vždy funkční verze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Práce jen v main větvi 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(hlavní)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Riziko rozbití projektu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Kolize změn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Vhodné pouze pokud na projektu pracuje jeden člověk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dt" idx="47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cs-CZ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DECAC2F-E11A-4C3C-B142-D33A7AAF3F74}" type="datetime1">
              <a:rPr b="0" lang="cs-CZ" sz="900" spc="-1" strike="noStrike">
                <a:solidFill>
                  <a:srgbClr val="ffffff"/>
                </a:solidFill>
                <a:latin typeface="Calibri"/>
              </a:rPr>
              <a:t>01.10.2026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81040" y="729720"/>
            <a:ext cx="11029320" cy="98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Práce s větvemi - workflow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581040" y="2228040"/>
            <a:ext cx="5194440" cy="36327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rmAutofit/>
          </a:bodyPr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Z hlavní větve se vytvoří pracovní větev (feature branch)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305280" indent="-3052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Jakmile je práce na větvi dokončená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 charset="2"/>
              <a:buChar char="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vzniká požadavek (pull request) na zapracování (merge) do hlavní větvě 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630000" indent="-3052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 charset="2"/>
              <a:buChar char="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Při zapracování mohou vzniknout konflikty, které je třeba řešit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pic>
        <p:nvPicPr>
          <p:cNvPr id="163" name="Obrázek 6" descr="Git Branches - The Turing Way"/>
          <p:cNvPicPr/>
          <p:nvPr/>
        </p:nvPicPr>
        <p:blipFill>
          <a:blip r:embed="rId1"/>
          <a:stretch/>
        </p:blipFill>
        <p:spPr>
          <a:xfrm>
            <a:off x="5904360" y="2931120"/>
            <a:ext cx="6030360" cy="2056320"/>
          </a:xfrm>
          <a:prstGeom prst="rect">
            <a:avLst/>
          </a:prstGeom>
          <a:ln w="0">
            <a:noFill/>
          </a:ln>
        </p:spPr>
      </p:pic>
      <p:sp>
        <p:nvSpPr>
          <p:cNvPr id="164" name="PlaceHolder 3"/>
          <p:cNvSpPr>
            <a:spLocks noGrp="1"/>
          </p:cNvSpPr>
          <p:nvPr>
            <p:ph type="dt" idx="48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914400">
              <a:lnSpc>
                <a:spcPct val="100000"/>
              </a:lnSpc>
              <a:spcAft>
                <a:spcPts val="601"/>
              </a:spcAft>
              <a:buNone/>
              <a:defRPr b="0" lang="cs-CZ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</a:pPr>
            <a:fld id="{7313981D-229A-4C0A-84DB-63F0BB06A4AB}" type="datetime1">
              <a:rPr b="0" lang="cs-CZ" sz="900" spc="-1" strike="noStrike">
                <a:solidFill>
                  <a:srgbClr val="ffffff"/>
                </a:solidFill>
                <a:latin typeface="Calibri"/>
              </a:rPr>
              <a:t>01.10.2026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F41FF83-82FF-4DBC-83E0-E7855E7067E0}"/>
</file>

<file path=customXml/itemProps2.xml><?xml version="1.0" encoding="utf-8"?>
<ds:datastoreItem xmlns:ds="http://schemas.openxmlformats.org/officeDocument/2006/customXml" ds:itemID="{3022C7D1-EE9E-4242-B577-CD53C439A6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F52871-FF00-4D4A-8396-DA8C6A507140}">
  <ds:schemaRefs>
    <ds:schemaRef ds:uri="3eb61919-e7f8-4a11-8db4-9145fbd21da9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09a37b55-a4d7-45bd-a73f-33c2b1d41898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LibreOffice/24.2.7.2$Linux_X86_64 LibreOffice_project/420$Build-2</Application>
  <AppVersion>15.0000</AppVersion>
  <Words>436</Words>
  <Paragraphs>86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2025-10-12T16:48:06Z</dcterms:created>
  <dc:creator>Sládeček David</dc:creator>
  <dc:description/>
  <dc:language>cs-CZ</dc:language>
  <cp:lastModifiedBy>David Sládeček</cp:lastModifiedBy>
  <dcterms:modified xsi:type="dcterms:W3CDTF">2026-10-01T08:35:42Z</dcterms:modified>
  <cp:revision>588</cp:revision>
  <dc:subject/>
  <dc:title>Hardware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0x01010052F7ECDF1E614946A5A39D5552BFC522</vt:lpwstr>
  </property>
  <property fmtid="{D5CDD505-2E9C-101B-9397-08002B2CF9AE}" pid="4" name="MediaServiceImageTags">
    <vt:lpwstr/>
  </property>
  <property fmtid="{D5CDD505-2E9C-101B-9397-08002B2CF9AE}" pid="5" name="Notes">
    <vt:i4>1</vt:i4>
  </property>
  <property fmtid="{D5CDD505-2E9C-101B-9397-08002B2CF9AE}" pid="6" name="Order">
    <vt:r8>3700</vt:r8>
  </property>
  <property fmtid="{D5CDD505-2E9C-101B-9397-08002B2CF9AE}" pid="7" name="PresentationFormat">
    <vt:lpwstr>Širokoúhlá obrazovka</vt:lpwstr>
  </property>
  <property fmtid="{D5CDD505-2E9C-101B-9397-08002B2CF9AE}" pid="8" name="Slides">
    <vt:i4>13</vt:i4>
  </property>
  <property fmtid="{D5CDD505-2E9C-101B-9397-08002B2CF9AE}" pid="9" name="TemplateUrl">
    <vt:lpwstr/>
  </property>
  <property fmtid="{D5CDD505-2E9C-101B-9397-08002B2CF9AE}" pid="10" name="TriggerFlowInfo">
    <vt:lpwstr/>
  </property>
  <property fmtid="{D5CDD505-2E9C-101B-9397-08002B2CF9AE}" pid="11" name="_ExtendedDescription">
    <vt:lpwstr/>
  </property>
  <property fmtid="{D5CDD505-2E9C-101B-9397-08002B2CF9AE}" pid="12" name="_SharedFileIndex">
    <vt:lpwstr/>
  </property>
  <property fmtid="{D5CDD505-2E9C-101B-9397-08002B2CF9AE}" pid="13" name="_SourceUrl">
    <vt:lpwstr/>
  </property>
  <property fmtid="{D5CDD505-2E9C-101B-9397-08002B2CF9AE}" pid="14" name="xd_ProgID">
    <vt:lpwstr/>
  </property>
  <property fmtid="{D5CDD505-2E9C-101B-9397-08002B2CF9AE}" pid="15" name="xd_Signature">
    <vt:bool>0</vt:bool>
  </property>
</Properties>
</file>