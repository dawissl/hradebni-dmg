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gif" ContentType="image/gif"/>
  <Override PartName="/ppt/media/image3.jpeg" ContentType="image/jpeg"/>
  <Override PartName="/ppt/media/image4.jpeg" ContentType="image/jpeg"/>
  <Override PartName="/ppt/media/image5.png" ContentType="image/png"/>
  <Override PartName="/ppt/media/image6.jpeg" ContentType="image/jpeg"/>
  <Override PartName="/ppt/media/image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E793B7-6B4B-4074-9D14-1529C845E696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Svět bez inernetu. Jaký by byl?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62D856-DD74-42E1-8DB4-2638E53063F8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5CA8C1-417A-4F6B-B81E-BC09CFECAD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40A584-DFB2-489F-B262-04AC55CF97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4FCC265-984B-4714-99F6-770ED3C317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2965518-6626-4678-8F5B-57F4871DB5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31B0C9A-8475-426A-9A2B-EC6033A9CF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12E271-7D2B-496B-BE53-78F677348E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6A5E886-FCA8-49F8-98D3-3FEF248958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BAEA013-5E91-40FE-8EF8-B7AA78C61F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0F3C668-C48C-4F08-99C4-1157702F28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87B414C-2183-4757-B312-2CAB9E63E6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C767C26-0B20-4030-99A6-C6C47E507E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D4605F-B8AE-4A71-A76F-E6DB7421A95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5CFB8-AEA6-4161-865E-D6F0CCCDB2E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2F80C0-3942-4123-9282-5419260C4A4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86FF9-F113-42BD-9166-608A05F9F8E7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21613E-4FDA-4DE0-85A9-88CBBF34D1BE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654335-7E70-4F46-9F92-3797F38F07D3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643BC-3E37-4454-AB92-D0FE9F224B6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62E5DA-5E49-4E7C-AEA0-CACC9D5E86E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E51800-6DE5-41B8-9394-55F9E3D719A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8FAEB-39C1-4CA7-9D9F-251303147EE1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9F4EA-B89C-4AC7-BFAE-476A7EA04FF3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hyperlink" Target="http://www.seznam.cz" TargetMode="External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://www.seznam.cz" TargetMode="External"/><Relationship Id="rId2" Type="http://schemas.openxmlformats.org/officeDocument/2006/relationships/image" Target="../media/image2.gif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Síťové protokoly a komunikace v síti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974840" y="635040"/>
            <a:ext cx="6574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První klik v prohlížeči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3" name="Zástupný obsah 3" descr="Dog Sniffing Sticker by Seznam.cz"/>
          <p:cNvPicPr/>
          <p:nvPr/>
        </p:nvPicPr>
        <p:blipFill>
          <a:blip r:embed="rId1"/>
          <a:stretch/>
        </p:blipFill>
        <p:spPr>
          <a:xfrm>
            <a:off x="-903240" y="126720"/>
            <a:ext cx="6073200" cy="6079680"/>
          </a:xfrm>
          <a:prstGeom prst="rect">
            <a:avLst/>
          </a:prstGeom>
          <a:ln w="0">
            <a:noFill/>
          </a:ln>
        </p:spPr>
      </p:pic>
      <p:cxnSp>
        <p:nvCxnSpPr>
          <p:cNvPr id="12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974480" y="2085840"/>
            <a:ext cx="6090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974840" y="2198880"/>
            <a:ext cx="6574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Co se stane, když v prohlížeči zadáte </a:t>
            </a:r>
            <a:r>
              <a:rPr b="1" lang="cs-CZ" sz="20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libri"/>
                <a:ea typeface="Calibri"/>
                <a:hlinkClick r:id="rId2"/>
              </a:rPr>
              <a:t>www.seznam.cz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 počítač zjistí adresu serveru?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 rozdělí data?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 je odešle?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Jak je druhá strana znovu složí?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2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Protokol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9" name="Picture 4" descr="Mobilní zařízení s aplikacemi"/>
          <p:cNvPicPr/>
          <p:nvPr/>
        </p:nvPicPr>
        <p:blipFill>
          <a:blip r:embed="rId1"/>
          <a:srcRect l="24810" t="0" r="25034" b="3"/>
          <a:stretch/>
        </p:blipFill>
        <p:spPr>
          <a:xfrm>
            <a:off x="1076400" y="1916280"/>
            <a:ext cx="3094560" cy="3470760"/>
          </a:xfrm>
          <a:prstGeom prst="rect">
            <a:avLst/>
          </a:prstGeom>
          <a:ln w="0">
            <a:noFill/>
          </a:ln>
        </p:spPr>
      </p:pic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639680" y="1845720"/>
            <a:ext cx="6515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3441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Protokol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= pravidla komunikace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Stejně jako lidé potřebují společný jazyk a pravidla, i počítače musí komunikovat podle přesně definovaných pravidel.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libri"/>
                <a:ea typeface="Calibri"/>
              </a:rPr>
              <a:t>Příklady síťových protokolů: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HTTP / HTTPS – přenos webových stránek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DNS – překlad názvu webu na IP adresu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TCP – spolehlivý přenos dat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UDP – rychlý přenos dat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IP – adresování zařízení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Proč jsou sítě rozdělené do vrstev?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Při komunikaci je potřeba vyřešit několik různých úkolů: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vytvořit zprávu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rozdělit ji na menší části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přidat adresu příjemce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přenést data kabelem nebo Wi-Fi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zkontrolovat správnost doručení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Řešit vše najednou by bylo velmi složité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Proto je komunikace rozdělena do vrstev, kde každá vrstva má svůj konkrétní úkol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Lze si to představit jako zaslání dopisu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33" name="Picture 4" descr=""/>
          <p:cNvPicPr/>
          <p:nvPr/>
        </p:nvPicPr>
        <p:blipFill>
          <a:blip r:embed="rId1"/>
          <a:srcRect l="17548" t="0" r="31646" b="3"/>
          <a:stretch/>
        </p:blipFill>
        <p:spPr>
          <a:xfrm>
            <a:off x="8020440" y="1916280"/>
            <a:ext cx="3134880" cy="34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ISO/OSI model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6" name="Obrázek 3" descr="undefined"/>
          <p:cNvPicPr/>
          <p:nvPr/>
        </p:nvPicPr>
        <p:blipFill>
          <a:blip r:embed="rId1"/>
          <a:stretch/>
        </p:blipFill>
        <p:spPr>
          <a:xfrm>
            <a:off x="1138680" y="645120"/>
            <a:ext cx="4460400" cy="5247360"/>
          </a:xfrm>
          <a:prstGeom prst="rect">
            <a:avLst/>
          </a:prstGeom>
          <a:ln w="0">
            <a:noFill/>
          </a:ln>
        </p:spPr>
      </p:pic>
      <p:cxnSp>
        <p:nvCxnSpPr>
          <p:cNvPr id="137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3441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Zjednodušený pohled na nejdůležitější vrstvy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Aplikační vrstva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komunikace programů (např. prohlížeč)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Transportní vrstva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– rozdělení dat a kontrola doručení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Síťová vrstva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práce s IP adresami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Linková vrstva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– komunikace v lokální síti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Fyzická vrstva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přenos signálu kabelem nebo vzduchem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39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TCP/IP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64548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Zjednodušený model používaný v praxi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Internet ve skutečnosti využívá jednodušší model než ISO/OSI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4 vrstvy TCP/IP modelu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Application (Aplikační vrstva)</a:t>
            </a:r>
            <a:br>
              <a:rPr sz="2000"/>
            </a:b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Programy a služby, které používáme (HTTP, HTTPS, DNS)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Transport (Transportní vrstva)</a:t>
            </a:r>
            <a:br>
              <a:rPr sz="2000"/>
            </a:b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Přenos dat mezi aplikacemi (TCP, UDP)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Internet (Internetová vrstva)</a:t>
            </a:r>
            <a:br>
              <a:rPr sz="2000"/>
            </a:b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Adresování a směrování dat (IP)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Network Access (Přístup k síti)</a:t>
            </a:r>
            <a:br>
              <a:rPr sz="2000"/>
            </a:b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Přenos dat po kabelu nebo Wi-Fi (Ethernet, Wi-Fi)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17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43" name="Picture 4" descr="Ethernetové kabely připojené k síťovým rozhraním"/>
          <p:cNvPicPr/>
          <p:nvPr/>
        </p:nvPicPr>
        <p:blipFill>
          <a:blip r:embed="rId1"/>
          <a:srcRect l="384" t="0" r="9297" b="6"/>
          <a:stretch/>
        </p:blipFill>
        <p:spPr>
          <a:xfrm>
            <a:off x="8020440" y="1916280"/>
            <a:ext cx="3134880" cy="347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TCP vs UDP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64040" cy="2010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TCP</a:t>
            </a: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– spolehlivý přenos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potvrzuje doručení dat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hlídá správné pořadí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znovu posílá ztracené části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400" cy="20044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UDP</a:t>
            </a: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– rychlý přenos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nepotvrzuje doručení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neřeší pořadí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klade důraz na rychlost</a:t>
            </a:r>
            <a:endParaRPr b="0" lang="cs-CZ" sz="2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7" name="TextovéPole 5"/>
          <p:cNvSpPr/>
          <p:nvPr/>
        </p:nvSpPr>
        <p:spPr>
          <a:xfrm>
            <a:off x="1209960" y="4852800"/>
            <a:ext cx="983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cs-CZ" sz="2400" spc="-1" strike="noStrike">
                <a:solidFill>
                  <a:srgbClr val="000000"/>
                </a:solidFill>
                <a:latin typeface="Calibri"/>
                <a:ea typeface="Calibri"/>
              </a:rPr>
              <a:t>Kdy by nevadilo, kdyby se ztratilo několik dat a kdy by to bylo nepřijatelné?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859520" y="635040"/>
            <a:ext cx="369000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Zapouzdření dat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Obrázek 4" descr="undefined"/>
          <p:cNvPicPr/>
          <p:nvPr/>
        </p:nvPicPr>
        <p:blipFill>
          <a:blip r:embed="rId1"/>
          <a:stretch/>
        </p:blipFill>
        <p:spPr>
          <a:xfrm>
            <a:off x="633960" y="1345320"/>
            <a:ext cx="6909480" cy="3903840"/>
          </a:xfrm>
          <a:prstGeom prst="rect">
            <a:avLst/>
          </a:prstGeom>
          <a:ln w="0">
            <a:noFill/>
          </a:ln>
        </p:spPr>
      </p:pic>
      <p:cxnSp>
        <p:nvCxnSpPr>
          <p:cNvPr id="151" name="Straight Connector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91920" y="2085480"/>
            <a:ext cx="35665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7859520" y="2198880"/>
            <a:ext cx="369000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Data se postupně zabalují, jak prochází jednotlivými vrstvami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Každá vrstva přidává informace potřebné pro přenost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Data -&gt; Segment -&gt; Paket -&gt; Rámec -&gt; Bity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Na stráně příjemce probíhá obrácený proces "rozbalování"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3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Příklady protokolů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56" name="Zástupný obsah 4"/>
          <p:cNvGraphicFramePr/>
          <p:nvPr/>
        </p:nvGraphicFramePr>
        <p:xfrm>
          <a:off x="1042560" y="1845000"/>
          <a:ext cx="10108800" cy="3395520"/>
        </p:xfrm>
        <a:graphic>
          <a:graphicData uri="http://schemas.openxmlformats.org/drawingml/2006/table">
            <a:tbl>
              <a:tblPr/>
              <a:tblGrid>
                <a:gridCol w="4984920"/>
                <a:gridCol w="51238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Situace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e48312"/>
                      </a:solidFill>
                      <a:prstDash val="solid"/>
                    </a:lnT>
                    <a:lnB w="12240">
                      <a:solidFill>
                        <a:srgbClr val="e4831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Protokol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e48312"/>
                      </a:solidFill>
                      <a:prstDash val="solid"/>
                    </a:lnT>
                    <a:lnB w="12240">
                      <a:solidFill>
                        <a:srgbClr val="e48312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Webové stránky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HTTP / HTTPS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Překlad názvu na IP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DNS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E-mail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SMTP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Videohovor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UDP</a:t>
                      </a:r>
                      <a:endParaRPr b="0" lang="cs-CZ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Přenos souborů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e48312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cs-CZ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FTP / SFTP</a:t>
                      </a:r>
                      <a:endParaRPr b="0" lang="cs-CZ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e48312"/>
                      </a:solidFill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Druhý klik v prohlížeči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718272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7444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Co se stane, když v prohlížeči zadáte </a:t>
            </a:r>
            <a:r>
              <a:rPr b="1" lang="cs-CZ" sz="20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libri"/>
                <a:ea typeface="Calibri"/>
                <a:hlinkClick r:id="rId1"/>
              </a:rPr>
              <a:t>www.seznam.cz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?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DNS zjistí IP adresu serveru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TCP spojení (handshake)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Prohlížeč vytvoří HTTP požadavek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TCP rozdělí data a zajistí spolehlivý přenos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IP přidá adresu cílového serveru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Ethernet nebo Wi-Fi vytvoří rámec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Data jsou odeslána jako bity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Server požadavek zpracuje a odešle odpověď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Prohlížeč zobrazí webovou stránku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59" name="Zástupný obsah 3" descr="Dog Sniffing Sticker by Seznam.cz"/>
          <p:cNvPicPr/>
          <p:nvPr/>
        </p:nvPicPr>
        <p:blipFill>
          <a:blip r:embed="rId2"/>
          <a:stretch/>
        </p:blipFill>
        <p:spPr>
          <a:xfrm>
            <a:off x="8020440" y="2084400"/>
            <a:ext cx="3134880" cy="313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3eb61919-e7f8-4a11-8db4-9145fbd21da9"/>
  </ds:schemaRefs>
</ds:datastoreItem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A62961-BBE3-4503-9633-1B961F9182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LibreOffice/24.2.7.2$Linux_X86_64 LibreOffice_project/420$Build-2</Application>
  <AppVersion>15.0000</AppVersion>
  <Words>235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2026-10-01T08:38:40Z</dcterms:modified>
  <cp:revision>629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Širokoúhlá obrazovka</vt:lpwstr>
  </property>
  <property fmtid="{D5CDD505-2E9C-101B-9397-08002B2CF9AE}" pid="6" name="Slides">
    <vt:i4>10</vt:i4>
  </property>
</Properties>
</file>