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8.png" ContentType="image/png"/>
  <Override PartName="/ppt/media/image14.jpeg" ContentType="image/jpeg"/>
  <Override PartName="/ppt/media/image3.png" ContentType="image/png"/>
  <Override PartName="/ppt/media/image1.jpeg" ContentType="image/jpeg"/>
  <Override PartName="/ppt/media/image5.png" ContentType="image/png"/>
  <Override PartName="/ppt/media/image13.jpeg" ContentType="image/jpeg"/>
  <Override PartName="/ppt/media/image4.png" ContentType="image/png"/>
  <Override PartName="/ppt/media/image10.png" ContentType="image/png"/>
  <Override PartName="/ppt/media/image6.jpeg" ContentType="image/jpeg"/>
  <Override PartName="/ppt/media/image7.png" ContentType="image/png"/>
  <Override PartName="/ppt/media/image9.jpeg" ContentType="image/jpeg"/>
  <Override PartName="/ppt/media/image12.jpeg" ContentType="image/jpeg"/>
  <Override PartName="/ppt/media/image11.png" ContentType="image/png"/>
  <Override PartName="/ppt/media/image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chemeClr val="dk1"/>
                </a:solidFill>
                <a:latin typeface="Calibri"/>
              </a:rPr>
              <a:t>Klikněte pro přesun snímku</a:t>
            </a: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CC737D-BA16-48B2-9E6E-647DF18D1DD4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Zařízení by nebylo spustitelné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8C104A-BDBA-4FF3-9B75-D7E1B133B453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256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63529F-D723-4598-AD92-9352655017D3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1 073 741 824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6B25BF-58C7-4C5B-A8D7-06BAAFBACDFB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Telefony potřebují úspornost (RISC), PC výkon a kompatibilitu (CISC).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3E2B04-9A57-4BC8-A0DF-A3955F39A0F0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Ukázat převody mezi jednotkami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C99592-E5FB-4A3C-99CE-7CFB35C1AF21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0A682B-81AA-453C-96B3-9B5D12C706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2C82EA-5562-4688-9B7C-5923CF76DF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C50ED37-0C89-4D2C-8DB5-7505D15130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5B80EA8-A9BE-49C8-B384-29251A89B9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67C1C33-7AB9-44B3-9101-38E4CBE159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89070B2-4B5B-47E6-BACF-791033D168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B4E2504-00EC-41D3-8C09-1A4C389D94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A7E914C-E7E4-4A74-A9F5-798A150B1E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BA1377D-7172-4ABF-9491-F0305F4CE8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A50670D-C3AF-4CA3-AFE5-38776F459A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AABEB9D-C6F4-4E8F-9585-6F22BAD366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ic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k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to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e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di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M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a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st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e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r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ti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tl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e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st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yl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C759D5-A129-42B0-A22B-C0CAAE29B19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ck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to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edi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Ma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ste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r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titl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sty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CAF908-89D3-4B4D-8AA9-D30B928A8AD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219E4-5FB3-4CD0-BDA5-3461AF620E3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628313-D67C-47D6-B239-1FE5432F3BC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0CB87A-7233-417A-883C-A54D0000297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F476B5-16F4-444C-9E8E-072A3607942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41599B-126C-4355-AFF5-85CDCFA4069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3CB03F-132A-4EA2-87FA-EBDFB9599F1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53CFC8-9EC0-4236-8498-F7AEA5F24B6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EAB7AE-290A-4D0E-9B87-530EF18F1498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C12EF-CEF3-45EE-BE6F-7E1F8DD32DB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Hardware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cs-CZ" sz="2400" spc="199" strike="noStrike" cap="all">
                <a:solidFill>
                  <a:schemeClr val="dk2"/>
                </a:solidFill>
                <a:latin typeface="Calibri Light"/>
              </a:rPr>
              <a:t>Digitální a mediální gramotnost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348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28720" y="635040"/>
            <a:ext cx="4820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Co všechno je počítač?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23" name="Straight Connector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24840" y="2085480"/>
            <a:ext cx="411516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28720" y="2198880"/>
            <a:ext cx="4820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Počítač není jen stolní PC nebo notebook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Mobil, tablet, chytré hodinky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Auto, televize, router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Pračka nebo lednička má procesor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</a:pP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</a:pP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i="1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Který hardware by nefungoval bez software?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25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4360" y="691560"/>
            <a:ext cx="2635560" cy="24508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6" name="Obrázek 4" descr=""/>
          <p:cNvPicPr/>
          <p:nvPr/>
        </p:nvPicPr>
        <p:blipFill>
          <a:blip r:embed="rId1"/>
          <a:stretch/>
        </p:blipFill>
        <p:spPr>
          <a:xfrm>
            <a:off x="6280560" y="1067400"/>
            <a:ext cx="2304720" cy="1728360"/>
          </a:xfrm>
          <a:prstGeom prst="rect">
            <a:avLst/>
          </a:prstGeom>
          <a:ln w="0">
            <a:noFill/>
          </a:ln>
        </p:spPr>
      </p:pic>
      <p:sp>
        <p:nvSpPr>
          <p:cNvPr id="127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8200" y="691560"/>
            <a:ext cx="2644200" cy="24508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8" name="Obrázek 8" descr=""/>
          <p:cNvPicPr/>
          <p:nvPr/>
        </p:nvPicPr>
        <p:blipFill>
          <a:blip r:embed="rId2"/>
          <a:stretch/>
        </p:blipFill>
        <p:spPr>
          <a:xfrm>
            <a:off x="9155520" y="872640"/>
            <a:ext cx="2149200" cy="215460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4360" y="3345480"/>
            <a:ext cx="2630520" cy="24814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0" name="Obrázek 6" descr=""/>
          <p:cNvPicPr/>
          <p:nvPr/>
        </p:nvPicPr>
        <p:blipFill>
          <a:blip r:embed="rId3"/>
          <a:stretch/>
        </p:blipFill>
        <p:spPr>
          <a:xfrm>
            <a:off x="6280560" y="3610800"/>
            <a:ext cx="2309040" cy="1963080"/>
          </a:xfrm>
          <a:prstGeom prst="rect">
            <a:avLst/>
          </a:prstGeom>
          <a:ln w="0">
            <a:noFill/>
          </a:ln>
        </p:spPr>
      </p:pic>
      <p:sp>
        <p:nvSpPr>
          <p:cNvPr id="131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8200" y="3336840"/>
            <a:ext cx="2644200" cy="2490480"/>
          </a:xfrm>
          <a:prstGeom prst="rect">
            <a:avLst/>
          </a:prstGeom>
          <a:solidFill>
            <a:srgbClr val="ffffff"/>
          </a:solidFill>
          <a:ln w="63500">
            <a:solidFill>
              <a:srgbClr val="e48312"/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2" name="Obrázek 10" descr=""/>
          <p:cNvPicPr/>
          <p:nvPr/>
        </p:nvPicPr>
        <p:blipFill>
          <a:blip r:embed="rId4"/>
          <a:stretch/>
        </p:blipFill>
        <p:spPr>
          <a:xfrm>
            <a:off x="9060480" y="3987000"/>
            <a:ext cx="2331000" cy="1229400"/>
          </a:xfrm>
          <a:prstGeom prst="rect">
            <a:avLst/>
          </a:prstGeom>
          <a:ln w="0">
            <a:noFill/>
          </a:ln>
        </p:spPr>
      </p:pic>
      <p:sp>
        <p:nvSpPr>
          <p:cNvPr id="133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Hardware, software, firmware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7" name="Picture 4" descr="Počítačové součásti"/>
          <p:cNvPicPr/>
          <p:nvPr/>
        </p:nvPicPr>
        <p:blipFill>
          <a:blip r:embed="rId1"/>
          <a:srcRect l="30625" t="0" r="19115" b="0"/>
          <a:stretch/>
        </p:blipFill>
        <p:spPr>
          <a:xfrm>
            <a:off x="633960" y="640080"/>
            <a:ext cx="4001040" cy="5313960"/>
          </a:xfrm>
          <a:prstGeom prst="rect">
            <a:avLst/>
          </a:prstGeom>
          <a:ln w="0">
            <a:noFill/>
          </a:ln>
        </p:spPr>
      </p:pic>
      <p:cxnSp>
        <p:nvCxnSpPr>
          <p:cNvPr id="138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Hardware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fyzická část zařízení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Procesor, paměti, základní deska, spoje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Software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programy, řídící hardware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Operační sytém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Firmware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software zanesený přímo na zařízení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BIOS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Co by se stalo, pokud by se poškodil firmware?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0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2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411600" y="635040"/>
            <a:ext cx="5126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Bit, bajt, slovo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4" name="Obrázek 4" descr=""/>
          <p:cNvPicPr/>
          <p:nvPr/>
        </p:nvPicPr>
        <p:blipFill>
          <a:blip r:embed="rId1"/>
          <a:stretch/>
        </p:blipFill>
        <p:spPr>
          <a:xfrm>
            <a:off x="643320" y="693000"/>
            <a:ext cx="5451120" cy="5151600"/>
          </a:xfrm>
          <a:prstGeom prst="rect">
            <a:avLst/>
          </a:prstGeom>
          <a:ln w="0">
            <a:noFill/>
          </a:ln>
        </p:spPr>
      </p:pic>
      <p:cxnSp>
        <p:nvCxnSpPr>
          <p:cNvPr id="145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411600" y="2085840"/>
            <a:ext cx="4749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411600" y="2198880"/>
            <a:ext cx="5126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9943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Bit – nejmenší jednotka v informatice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Bajt – 8 bitů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Slovo / Word – několik (2, 4, 6, 8, …) bajtů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 reprezentaci znaku typicky využíváme 1B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 reprezentaci všech písmen a symbolu – cca 100 různých hodnot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ASCII tabulka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Kolik různých znaků lze vyjádřit pomocí jednoho bajtu?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7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9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411600" y="635040"/>
            <a:ext cx="5126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Jednotky kapacity paměti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1" name="Obrázek 5" descr=""/>
          <p:cNvPicPr/>
          <p:nvPr/>
        </p:nvPicPr>
        <p:blipFill>
          <a:blip r:embed="rId1"/>
          <a:stretch/>
        </p:blipFill>
        <p:spPr>
          <a:xfrm>
            <a:off x="643320" y="1418760"/>
            <a:ext cx="5451120" cy="3699720"/>
          </a:xfrm>
          <a:prstGeom prst="rect">
            <a:avLst/>
          </a:prstGeom>
          <a:ln w="0">
            <a:noFill/>
          </a:ln>
        </p:spPr>
      </p:pic>
      <p:cxnSp>
        <p:nvCxnSpPr>
          <p:cNvPr id="152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411600" y="2085840"/>
            <a:ext cx="4749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411600" y="2198880"/>
            <a:ext cx="5126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3441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1 kB = 1000 B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1 KiB = 1024 B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1 MB = 1000² B 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1 MiB = 1024² B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 počítačích se častěji používá binární přístup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RAM × ROM × SSD = různé účely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Kolik bajtů má 1GiB?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4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cs-CZ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Vývoj a miniaturizace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Od místnosti plné elektronky → k čipu v mobilu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Menší, výkonnější, úspornější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Dříve byly jednotlivé komponenty zvlášť - procesor, paměti, grafická karta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Dnes jsme schopni vše umístit na samotný čip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SoC - System on Chip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58" name="Obrázek 3" descr="Obsah obrázku elektronika, Počítačová komponenta, Elektronické zařízení, Elektronické inženýrství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8020440" y="2608560"/>
            <a:ext cx="3134880" cy="20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560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37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Von Neumannova architektura</a:t>
            </a:r>
            <a:endParaRPr b="0" lang="cs-CZ" sz="37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1" name="Obrázek 4" descr=""/>
          <p:cNvPicPr/>
          <p:nvPr/>
        </p:nvPicPr>
        <p:blipFill>
          <a:blip r:embed="rId1"/>
          <a:srcRect l="0" t="0" r="1004" b="5146"/>
          <a:stretch/>
        </p:blipFill>
        <p:spPr>
          <a:xfrm>
            <a:off x="633960" y="1443600"/>
            <a:ext cx="6909480" cy="3707280"/>
          </a:xfrm>
          <a:prstGeom prst="rect">
            <a:avLst/>
          </a:prstGeom>
          <a:ln w="0">
            <a:noFill/>
          </a:ln>
        </p:spPr>
      </p:pic>
      <p:cxnSp>
        <p:nvCxnSpPr>
          <p:cNvPr id="16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91920" y="2085480"/>
            <a:ext cx="35665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7859520" y="2198880"/>
            <a:ext cx="369000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Navržena r. 1945 Johnem von Neumannem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Jedna paměť pro data i instrukce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CPU čte instrukce → provádí → ukládá výsledky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Obdélník 5"/>
          <p:cNvSpPr/>
          <p:nvPr/>
        </p:nvSpPr>
        <p:spPr>
          <a:xfrm>
            <a:off x="3711600" y="2986560"/>
            <a:ext cx="1228680" cy="49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cs-CZ" sz="1800" spc="-1" strike="noStrike">
                <a:solidFill>
                  <a:srgbClr val="0800ff"/>
                </a:solidFill>
                <a:latin typeface="Arial"/>
                <a:ea typeface="Calibri"/>
              </a:rPr>
              <a:t>ALU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411600" y="635040"/>
            <a:ext cx="5126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Harvardská architektura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9" name="Obrázek 18" descr="Obsah obrázku text, snímek obrazovky, Písmo, diagram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643320" y="1524600"/>
            <a:ext cx="5451120" cy="3488760"/>
          </a:xfrm>
          <a:prstGeom prst="rect">
            <a:avLst/>
          </a:prstGeom>
          <a:ln w="0">
            <a:noFill/>
          </a:ln>
        </p:spPr>
      </p:pic>
      <p:cxnSp>
        <p:nvCxnSpPr>
          <p:cNvPr id="170" name="Straight Connector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411600" y="2085840"/>
            <a:ext cx="4749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411600" y="2198880"/>
            <a:ext cx="5126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Oddělená paměť pro data a instrukce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Rychlejší přístup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Využití například pro Arduino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72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 useBgFill="1">
        <p:nvSpPr>
          <p:cNvPr id="175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181480" y="635040"/>
            <a:ext cx="6367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1893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Současná architektura procesorů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7" name="Picture 4" descr="Deska s elektronickými obvody"/>
          <p:cNvPicPr/>
          <p:nvPr/>
        </p:nvPicPr>
        <p:blipFill>
          <a:blip r:embed="rId1"/>
          <a:srcRect l="45808" t="0" r="9037" b="0"/>
          <a:stretch/>
        </p:blipFill>
        <p:spPr>
          <a:xfrm>
            <a:off x="0" y="-12240"/>
            <a:ext cx="4654080" cy="6869880"/>
          </a:xfrm>
          <a:prstGeom prst="rect">
            <a:avLst/>
          </a:prstGeom>
          <a:ln w="0">
            <a:noFill/>
          </a:ln>
        </p:spPr>
      </p:pic>
      <p:cxnSp>
        <p:nvCxnSpPr>
          <p:cNvPr id="178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287320" y="2085480"/>
            <a:ext cx="6171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181480" y="2198880"/>
            <a:ext cx="6367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7938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Architektura stojí na sadě instrukcí, které procesor obsahuje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CISC 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- komplexní sada instrukcí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RISC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- redukovaná sada instrukcí (často specializovaná na příslušné zařízení)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X86 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počítače a notebooky (Intel, AMD) - CISC</a:t>
            </a:r>
            <a:br>
              <a:rPr sz="1700"/>
            </a:b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ARM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mobily, tablety, IoT, Apple M1/M2 - RISC</a:t>
            </a:r>
            <a:br>
              <a:rPr sz="1700"/>
            </a:b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 </a:t>
            </a:r>
            <a:r>
              <a:rPr b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RISC-V</a:t>
            </a:r>
            <a:r>
              <a:rPr b="0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otevřená architektura budoucnosti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17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Proč má telefon jinou architekturu procesoru než PC? </a:t>
            </a: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0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Číselné soustavy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82" name="Straight Connecto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i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 procesor chápe čísla?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Počítače pracují ve dvojkové (binární) soustavě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Základem jsou hodnoty 1 a 0 (pravda, nepravda)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Každá pozice odpovídá mocnině základu (2</a:t>
            </a:r>
            <a:r>
              <a:rPr b="0" lang="cs-CZ" sz="2000" spc="-1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0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, 2</a:t>
            </a:r>
            <a:r>
              <a:rPr b="0" lang="cs-CZ" sz="2000" spc="-1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1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, 2</a:t>
            </a:r>
            <a:r>
              <a:rPr b="0" lang="cs-CZ" sz="2000" spc="-1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2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, 2</a:t>
            </a:r>
            <a:r>
              <a:rPr b="0" lang="cs-CZ" sz="2000" spc="-1" strike="noStrike" baseline="30000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3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, …)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 matematice a běžném životě používáme desítkovou soustavu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Další častou používanou soustavou je 16 (hexadecimální)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4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86" name="Tabulka 3"/>
          <p:cNvGraphicFramePr/>
          <p:nvPr/>
        </p:nvGraphicFramePr>
        <p:xfrm>
          <a:off x="633960" y="2545200"/>
          <a:ext cx="4001040" cy="1714680"/>
        </p:xfrm>
        <a:graphic>
          <a:graphicData uri="http://schemas.openxmlformats.org/drawingml/2006/table">
            <a:tbl>
              <a:tblPr/>
              <a:tblGrid>
                <a:gridCol w="1173960"/>
                <a:gridCol w="1246320"/>
                <a:gridCol w="1580760"/>
              </a:tblGrid>
              <a:tr h="375840">
                <a:tc>
                  <a:txBody>
                    <a:bodyPr lIns="83520" rIns="83520" tIns="41760" bIns="41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cs-CZ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Dvojková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cs-CZ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Desítková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cs-CZ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Šestnáctková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5840"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1101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5840"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11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5840"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10011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19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83520" rIns="83520" tIns="41760" bIns="4176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cs-CZ" sz="17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83520" marR="835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Paměti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8" name="Obrázek 3" descr="Operační paměti \ DDR3 - OBCHUDECEK.cz"/>
          <p:cNvPicPr/>
          <p:nvPr/>
        </p:nvPicPr>
        <p:blipFill>
          <a:blip r:embed="rId1"/>
          <a:stretch/>
        </p:blipFill>
        <p:spPr>
          <a:xfrm>
            <a:off x="1076400" y="2684520"/>
            <a:ext cx="3094560" cy="193392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639680" y="1845720"/>
            <a:ext cx="6515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Každý typ paměti v počítači má svou specifickou úlohu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Liší se kapacitou, rychlostí, stabilitou uložení a tím pádem i cenou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Čím blíže procesoru, tím je paměť menší, rychlejší a často se mění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RAM 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- dočasná, rychlá, volativní (závislá na elektrickém napětí)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Random Access Memory - operační paměť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ROM/FLASH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- permanentí, nevolativní (nezávislá na napájení)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BIOS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Flash paměti - datové klíčenky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SSD/HDD </a:t>
            </a: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- velká kapacita, trvalé uložení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HDD - magnetický záznam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5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SSD - stejný typ pamětí jako FLASH, jen lepší řadič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7308" lnSpcReduction="10000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4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Připojovací rozhraní - porty</a:t>
            </a:r>
            <a:endParaRPr b="0" lang="cs-CZ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2" name="Obrázek 3" descr="Tip: Port sem port tam, k čemu je všechny mám? - 1. díl - Computertrends"/>
          <p:cNvPicPr/>
          <p:nvPr/>
        </p:nvPicPr>
        <p:blipFill>
          <a:blip r:embed="rId1"/>
          <a:stretch/>
        </p:blipFill>
        <p:spPr>
          <a:xfrm>
            <a:off x="633960" y="1353960"/>
            <a:ext cx="6909480" cy="3886560"/>
          </a:xfrm>
          <a:prstGeom prst="rect">
            <a:avLst/>
          </a:prstGeom>
          <a:ln w="0">
            <a:noFill/>
          </a:ln>
        </p:spPr>
      </p:pic>
      <p:cxnSp>
        <p:nvCxnSpPr>
          <p:cNvPr id="193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91920" y="2085480"/>
            <a:ext cx="35665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859520" y="2198880"/>
            <a:ext cx="369000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Historie: PS/2, VGA, paralelní port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Současnost: USB-C, HDMI, Thunderbolt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Bezdrátově: Wi-Fi, Bluetooth, NFC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95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Hardware kam se podíváš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AutoNum type="arabicPeriod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Zvolte si libovolné HW zařízení, se kterým běžně potkáváte v domácnosti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Počítač, konzole, mobil, router, auto, lednice, TV, …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AutoNum type="arabicPeriod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Odpovězte na následující otázky </a:t>
            </a:r>
            <a:r>
              <a:rPr b="0" lang="cs-CZ" sz="2000" spc="-1" strike="noStrike">
                <a:solidFill>
                  <a:srgbClr val="ff0000"/>
                </a:solidFill>
                <a:latin typeface="Calibri"/>
                <a:ea typeface="Calibri"/>
              </a:rPr>
              <a:t>(10 minut)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Jaké klíčové hardware komponenty zařízení obsahuje?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Jaký typ procesorové architektury by pravděpodobně využívalo a proč?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Co v zařízení představuje firmware?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Co by se stalo, kdyby selhal firmware nebo paměť?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AutoNum type="arabicPeriod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Diskutujte ve dvojicích své výstupy</a:t>
            </a:r>
            <a:r>
              <a:rPr b="0" lang="cs-CZ" sz="2000" spc="-1" strike="noStrike">
                <a:solidFill>
                  <a:srgbClr val="ff0000"/>
                </a:solidFill>
                <a:latin typeface="Calibri"/>
                <a:ea typeface="Calibri"/>
              </a:rPr>
              <a:t> (5 minut)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AutoNum type="arabicPeriod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Prezentujte nabyté informace zbytku třídy </a:t>
            </a:r>
            <a:r>
              <a:rPr b="0" lang="cs-CZ" sz="2000" spc="-1" strike="noStrike">
                <a:solidFill>
                  <a:srgbClr val="ff0000"/>
                </a:solidFill>
                <a:latin typeface="Calibri"/>
                <a:ea typeface="Calibri"/>
              </a:rPr>
              <a:t>(10 minut)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E883DBA-1924-4A0D-AB83-8A60A2885F9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LibreOffice/24.2.7.2$Linux_X86_64 LibreOffice_project/420$Build-2</Application>
  <AppVersion>15.0000</AppVersion>
  <Words>235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2025-10-12T16:48:06Z</dcterms:created>
  <dc:creator>Sládeček David</dc:creator>
  <dc:description/>
  <dc:language>cs-CZ</dc:language>
  <cp:lastModifiedBy>David Sládeček</cp:lastModifiedBy>
  <dcterms:modified xsi:type="dcterms:W3CDTF">2026-10-01T08:35:43Z</dcterms:modified>
  <cp:revision>310</cp:revision>
  <dc:subject/>
  <dc:title>Hardware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Notes">
    <vt:i4>5</vt:i4>
  </property>
  <property fmtid="{D5CDD505-2E9C-101B-9397-08002B2CF9AE}" pid="4" name="PresentationFormat">
    <vt:lpwstr>Širokoúhlá obrazovka</vt:lpwstr>
  </property>
  <property fmtid="{D5CDD505-2E9C-101B-9397-08002B2CF9AE}" pid="5" name="Slides">
    <vt:i4>13</vt:i4>
  </property>
</Properties>
</file>